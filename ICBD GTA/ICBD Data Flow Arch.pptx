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147481006" r:id="rId2"/>
    <p:sldId id="2147481902" r:id="rId3"/>
    <p:sldId id="2147481905" r:id="rId4"/>
    <p:sldId id="2147481906" r:id="rId5"/>
    <p:sldId id="2147481903"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2A51F5-D405-DDC3-09DD-D1FBF2C50A65}" v="759" dt="2026-01-09T15:12:53.1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47" d="100"/>
          <a:sy n="147" d="100"/>
        </p:scale>
        <p:origin x="74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C814A2-A221-4AF5-8C18-80C82C4398BB}" type="datetimeFigureOut">
              <a:rPr lang="en-IN" smtClean="0"/>
              <a:t>09-01-2026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68224F-66D9-429B-BE8E-1DC467341B5D}" type="slidenum">
              <a:rPr lang="en-IN" smtClean="0"/>
              <a:t>‹#›</a:t>
            </a:fld>
            <a:endParaRPr lang="en-IN"/>
          </a:p>
        </p:txBody>
      </p:sp>
    </p:spTree>
    <p:extLst>
      <p:ext uri="{BB962C8B-B14F-4D97-AF65-F5344CB8AC3E}">
        <p14:creationId xmlns:p14="http://schemas.microsoft.com/office/powerpoint/2010/main" val="2115625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"Good [morning/afternoon], everyone.</a:t>
            </a:r>
          </a:p>
          <a:p>
            <a:pPr algn="l"/>
            <a:endParaRPr lang="en-US"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US"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It’s a pleasure to be here today to present the proposal from Sigmasoft to Brenntag. </a:t>
            </a:r>
          </a:p>
          <a:p>
            <a:pPr marL="171450" indent="-171450" algn="l">
              <a:buFont typeface="Arial" panose="020B0604020202020204" pitchFamily="34" charset="0"/>
              <a:buChar char="•"/>
            </a:pPr>
            <a:r>
              <a:rPr lang="en-US"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Before we dive into the details, let’s take a moment to reflect on the diversity and innovation that make Brenntag such a leader in its industry.</a:t>
            </a:r>
          </a:p>
          <a:p>
            <a:pPr marL="171450" indent="-171450" algn="l">
              <a:buFont typeface="Arial" panose="020B0604020202020204" pitchFamily="34" charset="0"/>
              <a:buChar char="•"/>
            </a:pPr>
            <a:endParaRPr lang="en-US"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US"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On the left side of this slide, we’ve showcased some of Brenntag’s key business areas—from sustainable energy solutions and automotive advancements to the food industry, industrial chemicals, personal care, and beyond. These images reflect not just the products and services, but the values and vision that drive Brenntag forward every day.</a:t>
            </a:r>
          </a:p>
          <a:p>
            <a:pPr marL="171450" indent="-171450" algn="l">
              <a:buFont typeface="Arial" panose="020B0604020202020204" pitchFamily="34" charset="0"/>
              <a:buChar char="•"/>
            </a:pPr>
            <a:endParaRPr lang="en-US"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US"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As a trusted partner, Sigmasoft is excited to collaborate with Brenntag to build on this legacy of excellence. Together, we aim to deliver solutions that empower your team, streamline operations, and drive innovation.</a:t>
            </a:r>
          </a:p>
          <a:p>
            <a:pPr marL="171450" indent="-171450" algn="l">
              <a:buFont typeface="Arial" panose="020B0604020202020204" pitchFamily="34" charset="0"/>
              <a:buChar char="•"/>
            </a:pPr>
            <a:endParaRPr lang="en-US"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US"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This presentation will outline the tailored solutions we propose, designed to align perfectly with Brenntag’s strategic objectives and commitment to quality.</a:t>
            </a:r>
          </a:p>
          <a:p>
            <a:pPr algn="l"/>
            <a:endParaRPr lang="en-US"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US"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So, Let’s begin!“ &lt;&lt;slide change&gt;&gt;</a:t>
            </a:r>
          </a:p>
          <a:p>
            <a:endParaRPr lang="en-US"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1</a:t>
            </a:fld>
            <a:endParaRPr lang="pt-BR"/>
          </a:p>
        </p:txBody>
      </p:sp>
    </p:spTree>
    <p:extLst>
      <p:ext uri="{BB962C8B-B14F-4D97-AF65-F5344CB8AC3E}">
        <p14:creationId xmlns:p14="http://schemas.microsoft.com/office/powerpoint/2010/main" val="664125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9B3D6-82F5-0790-9DB7-65D43BE6E9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35D9C43-29CC-F6A0-5DE2-3CCE1C5200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25CDF9-762E-CE3C-FB56-A85C28C5551F}"/>
              </a:ext>
            </a:extLst>
          </p:cNvPr>
          <p:cNvSpPr>
            <a:spLocks noGrp="1"/>
          </p:cNvSpPr>
          <p:nvPr>
            <p:ph type="dt" sz="half" idx="10"/>
          </p:nvPr>
        </p:nvSpPr>
        <p:spPr/>
        <p:txBody>
          <a:bodyPr/>
          <a:lstStyle/>
          <a:p>
            <a:fld id="{616F4DB0-F2EE-45B6-962F-91A29B945903}" type="datetimeFigureOut">
              <a:rPr lang="en-IN" smtClean="0"/>
              <a:t>09-01-2026</a:t>
            </a:fld>
            <a:endParaRPr lang="en-IN"/>
          </a:p>
        </p:txBody>
      </p:sp>
      <p:sp>
        <p:nvSpPr>
          <p:cNvPr id="5" name="Footer Placeholder 4">
            <a:extLst>
              <a:ext uri="{FF2B5EF4-FFF2-40B4-BE49-F238E27FC236}">
                <a16:creationId xmlns:a16="http://schemas.microsoft.com/office/drawing/2014/main" id="{8F7EC179-AE53-B8B6-EDD8-EF2E60CA69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AAAF00-3B96-9621-6202-2E6C5EA13529}"/>
              </a:ext>
            </a:extLst>
          </p:cNvPr>
          <p:cNvSpPr>
            <a:spLocks noGrp="1"/>
          </p:cNvSpPr>
          <p:nvPr>
            <p:ph type="sldNum" sz="quarter" idx="12"/>
          </p:nvPr>
        </p:nvSpPr>
        <p:spPr/>
        <p:txBody>
          <a:bodyPr/>
          <a:lstStyle/>
          <a:p>
            <a:fld id="{6B2C97D5-EC05-41BB-8307-CDAAC1D24E37}" type="slidenum">
              <a:rPr lang="en-IN" smtClean="0"/>
              <a:t>‹#›</a:t>
            </a:fld>
            <a:endParaRPr lang="en-IN"/>
          </a:p>
        </p:txBody>
      </p:sp>
    </p:spTree>
    <p:extLst>
      <p:ext uri="{BB962C8B-B14F-4D97-AF65-F5344CB8AC3E}">
        <p14:creationId xmlns:p14="http://schemas.microsoft.com/office/powerpoint/2010/main" val="3207554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5A3A2-01F6-1379-AAB3-EFE668CB02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44BA55-8E4A-2217-7FBF-D263280144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3A378B-7EFB-AD0E-CE76-E88A9830C5DC}"/>
              </a:ext>
            </a:extLst>
          </p:cNvPr>
          <p:cNvSpPr>
            <a:spLocks noGrp="1"/>
          </p:cNvSpPr>
          <p:nvPr>
            <p:ph type="dt" sz="half" idx="10"/>
          </p:nvPr>
        </p:nvSpPr>
        <p:spPr/>
        <p:txBody>
          <a:bodyPr/>
          <a:lstStyle/>
          <a:p>
            <a:fld id="{616F4DB0-F2EE-45B6-962F-91A29B945903}" type="datetimeFigureOut">
              <a:rPr lang="en-IN" smtClean="0"/>
              <a:t>09-01-2026</a:t>
            </a:fld>
            <a:endParaRPr lang="en-IN"/>
          </a:p>
        </p:txBody>
      </p:sp>
      <p:sp>
        <p:nvSpPr>
          <p:cNvPr id="5" name="Footer Placeholder 4">
            <a:extLst>
              <a:ext uri="{FF2B5EF4-FFF2-40B4-BE49-F238E27FC236}">
                <a16:creationId xmlns:a16="http://schemas.microsoft.com/office/drawing/2014/main" id="{3591656B-155A-A27B-12A2-2D944307EC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EF02B5-69D5-3CBC-583E-F73DA328BB37}"/>
              </a:ext>
            </a:extLst>
          </p:cNvPr>
          <p:cNvSpPr>
            <a:spLocks noGrp="1"/>
          </p:cNvSpPr>
          <p:nvPr>
            <p:ph type="sldNum" sz="quarter" idx="12"/>
          </p:nvPr>
        </p:nvSpPr>
        <p:spPr/>
        <p:txBody>
          <a:bodyPr/>
          <a:lstStyle/>
          <a:p>
            <a:fld id="{6B2C97D5-EC05-41BB-8307-CDAAC1D24E37}" type="slidenum">
              <a:rPr lang="en-IN" smtClean="0"/>
              <a:t>‹#›</a:t>
            </a:fld>
            <a:endParaRPr lang="en-IN"/>
          </a:p>
        </p:txBody>
      </p:sp>
    </p:spTree>
    <p:extLst>
      <p:ext uri="{BB962C8B-B14F-4D97-AF65-F5344CB8AC3E}">
        <p14:creationId xmlns:p14="http://schemas.microsoft.com/office/powerpoint/2010/main" val="484091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0DFC3-1046-41A4-61C5-4BA693FE4C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9EF8D8-228E-8F67-2967-57531737ED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A55F4D-6050-9011-6BA0-D8E586B9E46D}"/>
              </a:ext>
            </a:extLst>
          </p:cNvPr>
          <p:cNvSpPr>
            <a:spLocks noGrp="1"/>
          </p:cNvSpPr>
          <p:nvPr>
            <p:ph type="dt" sz="half" idx="10"/>
          </p:nvPr>
        </p:nvSpPr>
        <p:spPr/>
        <p:txBody>
          <a:bodyPr/>
          <a:lstStyle/>
          <a:p>
            <a:fld id="{616F4DB0-F2EE-45B6-962F-91A29B945903}" type="datetimeFigureOut">
              <a:rPr lang="en-IN" smtClean="0"/>
              <a:t>09-01-2026</a:t>
            </a:fld>
            <a:endParaRPr lang="en-IN"/>
          </a:p>
        </p:txBody>
      </p:sp>
      <p:sp>
        <p:nvSpPr>
          <p:cNvPr id="5" name="Footer Placeholder 4">
            <a:extLst>
              <a:ext uri="{FF2B5EF4-FFF2-40B4-BE49-F238E27FC236}">
                <a16:creationId xmlns:a16="http://schemas.microsoft.com/office/drawing/2014/main" id="{926B584D-96BE-EDB4-C877-34F8ED2D84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1B197F-26BF-882C-9517-FE0919CD035A}"/>
              </a:ext>
            </a:extLst>
          </p:cNvPr>
          <p:cNvSpPr>
            <a:spLocks noGrp="1"/>
          </p:cNvSpPr>
          <p:nvPr>
            <p:ph type="sldNum" sz="quarter" idx="12"/>
          </p:nvPr>
        </p:nvSpPr>
        <p:spPr/>
        <p:txBody>
          <a:bodyPr/>
          <a:lstStyle/>
          <a:p>
            <a:fld id="{6B2C97D5-EC05-41BB-8307-CDAAC1D24E37}" type="slidenum">
              <a:rPr lang="en-IN" smtClean="0"/>
              <a:t>‹#›</a:t>
            </a:fld>
            <a:endParaRPr lang="en-IN"/>
          </a:p>
        </p:txBody>
      </p:sp>
    </p:spTree>
    <p:extLst>
      <p:ext uri="{BB962C8B-B14F-4D97-AF65-F5344CB8AC3E}">
        <p14:creationId xmlns:p14="http://schemas.microsoft.com/office/powerpoint/2010/main" val="2051902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9BE58-9FCE-CA75-4AB0-D9570E7C71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00973F-EC35-54FB-3F15-21E3F67623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ED3A0DB-66E7-D328-4FA9-DF5AA66453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C25F840-2122-FBDB-8D43-8520FEDDC13A}"/>
              </a:ext>
            </a:extLst>
          </p:cNvPr>
          <p:cNvSpPr>
            <a:spLocks noGrp="1"/>
          </p:cNvSpPr>
          <p:nvPr>
            <p:ph type="dt" sz="half" idx="10"/>
          </p:nvPr>
        </p:nvSpPr>
        <p:spPr/>
        <p:txBody>
          <a:bodyPr/>
          <a:lstStyle/>
          <a:p>
            <a:fld id="{616F4DB0-F2EE-45B6-962F-91A29B945903}" type="datetimeFigureOut">
              <a:rPr lang="en-IN" smtClean="0"/>
              <a:t>09-01-2026</a:t>
            </a:fld>
            <a:endParaRPr lang="en-IN"/>
          </a:p>
        </p:txBody>
      </p:sp>
      <p:sp>
        <p:nvSpPr>
          <p:cNvPr id="6" name="Footer Placeholder 5">
            <a:extLst>
              <a:ext uri="{FF2B5EF4-FFF2-40B4-BE49-F238E27FC236}">
                <a16:creationId xmlns:a16="http://schemas.microsoft.com/office/drawing/2014/main" id="{59FF1C46-7B16-DF83-A561-459518DC41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5BB70A-3599-DB70-5AD8-2D1B1368EB57}"/>
              </a:ext>
            </a:extLst>
          </p:cNvPr>
          <p:cNvSpPr>
            <a:spLocks noGrp="1"/>
          </p:cNvSpPr>
          <p:nvPr>
            <p:ph type="sldNum" sz="quarter" idx="12"/>
          </p:nvPr>
        </p:nvSpPr>
        <p:spPr/>
        <p:txBody>
          <a:bodyPr/>
          <a:lstStyle/>
          <a:p>
            <a:fld id="{6B2C97D5-EC05-41BB-8307-CDAAC1D24E37}" type="slidenum">
              <a:rPr lang="en-IN" smtClean="0"/>
              <a:t>‹#›</a:t>
            </a:fld>
            <a:endParaRPr lang="en-IN"/>
          </a:p>
        </p:txBody>
      </p:sp>
    </p:spTree>
    <p:extLst>
      <p:ext uri="{BB962C8B-B14F-4D97-AF65-F5344CB8AC3E}">
        <p14:creationId xmlns:p14="http://schemas.microsoft.com/office/powerpoint/2010/main" val="1445822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19D46-B7EE-73E1-1F0B-98FECA18F8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EB575D-9CEA-E487-14CF-F0580E8659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DFBBCB-7EEE-ED8E-22A6-C0C380C628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90DAF0-607F-CD61-A798-2D48B0D731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608E7E-0A9E-D278-A2E0-4E7EA7E50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615A108-5775-1CAF-CA15-C58686DE55AE}"/>
              </a:ext>
            </a:extLst>
          </p:cNvPr>
          <p:cNvSpPr>
            <a:spLocks noGrp="1"/>
          </p:cNvSpPr>
          <p:nvPr>
            <p:ph type="dt" sz="half" idx="10"/>
          </p:nvPr>
        </p:nvSpPr>
        <p:spPr/>
        <p:txBody>
          <a:bodyPr/>
          <a:lstStyle/>
          <a:p>
            <a:fld id="{616F4DB0-F2EE-45B6-962F-91A29B945903}" type="datetimeFigureOut">
              <a:rPr lang="en-IN" smtClean="0"/>
              <a:t>09-01-2026</a:t>
            </a:fld>
            <a:endParaRPr lang="en-IN"/>
          </a:p>
        </p:txBody>
      </p:sp>
      <p:sp>
        <p:nvSpPr>
          <p:cNvPr id="8" name="Footer Placeholder 7">
            <a:extLst>
              <a:ext uri="{FF2B5EF4-FFF2-40B4-BE49-F238E27FC236}">
                <a16:creationId xmlns:a16="http://schemas.microsoft.com/office/drawing/2014/main" id="{8396FCDD-B85E-4981-5F1D-718A4D619D9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5C3C29C-6AE7-0CDE-009F-DC6B6D516A20}"/>
              </a:ext>
            </a:extLst>
          </p:cNvPr>
          <p:cNvSpPr>
            <a:spLocks noGrp="1"/>
          </p:cNvSpPr>
          <p:nvPr>
            <p:ph type="sldNum" sz="quarter" idx="12"/>
          </p:nvPr>
        </p:nvSpPr>
        <p:spPr/>
        <p:txBody>
          <a:bodyPr/>
          <a:lstStyle/>
          <a:p>
            <a:fld id="{6B2C97D5-EC05-41BB-8307-CDAAC1D24E37}" type="slidenum">
              <a:rPr lang="en-IN" smtClean="0"/>
              <a:t>‹#›</a:t>
            </a:fld>
            <a:endParaRPr lang="en-IN"/>
          </a:p>
        </p:txBody>
      </p:sp>
    </p:spTree>
    <p:extLst>
      <p:ext uri="{BB962C8B-B14F-4D97-AF65-F5344CB8AC3E}">
        <p14:creationId xmlns:p14="http://schemas.microsoft.com/office/powerpoint/2010/main" val="204766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8BCC8-2089-EF7C-C7D1-C897EE9AA54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0A84C98-57E7-6F47-7553-B1B8074CEC76}"/>
              </a:ext>
            </a:extLst>
          </p:cNvPr>
          <p:cNvSpPr>
            <a:spLocks noGrp="1"/>
          </p:cNvSpPr>
          <p:nvPr>
            <p:ph type="dt" sz="half" idx="10"/>
          </p:nvPr>
        </p:nvSpPr>
        <p:spPr/>
        <p:txBody>
          <a:bodyPr/>
          <a:lstStyle/>
          <a:p>
            <a:fld id="{616F4DB0-F2EE-45B6-962F-91A29B945903}" type="datetimeFigureOut">
              <a:rPr lang="en-IN" smtClean="0"/>
              <a:t>09-01-2026</a:t>
            </a:fld>
            <a:endParaRPr lang="en-IN"/>
          </a:p>
        </p:txBody>
      </p:sp>
      <p:sp>
        <p:nvSpPr>
          <p:cNvPr id="4" name="Footer Placeholder 3">
            <a:extLst>
              <a:ext uri="{FF2B5EF4-FFF2-40B4-BE49-F238E27FC236}">
                <a16:creationId xmlns:a16="http://schemas.microsoft.com/office/drawing/2014/main" id="{DA3C4167-4DA6-0904-8652-319236E79A8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4ACC5FD-2451-9691-C4AB-597A7A6B5C2B}"/>
              </a:ext>
            </a:extLst>
          </p:cNvPr>
          <p:cNvSpPr>
            <a:spLocks noGrp="1"/>
          </p:cNvSpPr>
          <p:nvPr>
            <p:ph type="sldNum" sz="quarter" idx="12"/>
          </p:nvPr>
        </p:nvSpPr>
        <p:spPr/>
        <p:txBody>
          <a:bodyPr/>
          <a:lstStyle/>
          <a:p>
            <a:fld id="{6B2C97D5-EC05-41BB-8307-CDAAC1D24E37}" type="slidenum">
              <a:rPr lang="en-IN" smtClean="0"/>
              <a:t>‹#›</a:t>
            </a:fld>
            <a:endParaRPr lang="en-IN"/>
          </a:p>
        </p:txBody>
      </p:sp>
    </p:spTree>
    <p:extLst>
      <p:ext uri="{BB962C8B-B14F-4D97-AF65-F5344CB8AC3E}">
        <p14:creationId xmlns:p14="http://schemas.microsoft.com/office/powerpoint/2010/main" val="4271108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F90825-6BA2-1F4B-5473-F5434E6BE576}"/>
              </a:ext>
            </a:extLst>
          </p:cNvPr>
          <p:cNvSpPr>
            <a:spLocks noGrp="1"/>
          </p:cNvSpPr>
          <p:nvPr>
            <p:ph type="dt" sz="half" idx="10"/>
          </p:nvPr>
        </p:nvSpPr>
        <p:spPr/>
        <p:txBody>
          <a:bodyPr/>
          <a:lstStyle/>
          <a:p>
            <a:fld id="{616F4DB0-F2EE-45B6-962F-91A29B945903}" type="datetimeFigureOut">
              <a:rPr lang="en-IN" smtClean="0"/>
              <a:t>09-01-2026</a:t>
            </a:fld>
            <a:endParaRPr lang="en-IN"/>
          </a:p>
        </p:txBody>
      </p:sp>
      <p:sp>
        <p:nvSpPr>
          <p:cNvPr id="3" name="Footer Placeholder 2">
            <a:extLst>
              <a:ext uri="{FF2B5EF4-FFF2-40B4-BE49-F238E27FC236}">
                <a16:creationId xmlns:a16="http://schemas.microsoft.com/office/drawing/2014/main" id="{E1209A0D-54C4-92A6-200C-502FC387D2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757035F-3FBD-71A1-FA3C-F3B1B2B25B02}"/>
              </a:ext>
            </a:extLst>
          </p:cNvPr>
          <p:cNvSpPr>
            <a:spLocks noGrp="1"/>
          </p:cNvSpPr>
          <p:nvPr>
            <p:ph type="sldNum" sz="quarter" idx="12"/>
          </p:nvPr>
        </p:nvSpPr>
        <p:spPr/>
        <p:txBody>
          <a:bodyPr/>
          <a:lstStyle/>
          <a:p>
            <a:fld id="{6B2C97D5-EC05-41BB-8307-CDAAC1D24E37}" type="slidenum">
              <a:rPr lang="en-IN" smtClean="0"/>
              <a:t>‹#›</a:t>
            </a:fld>
            <a:endParaRPr lang="en-IN"/>
          </a:p>
        </p:txBody>
      </p:sp>
    </p:spTree>
    <p:extLst>
      <p:ext uri="{BB962C8B-B14F-4D97-AF65-F5344CB8AC3E}">
        <p14:creationId xmlns:p14="http://schemas.microsoft.com/office/powerpoint/2010/main" val="171021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94690-81DB-EAD2-EBF7-9A72D07B7B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CD21FB2-02A4-5869-0322-C0EF28D62E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89D01F1-E89A-3718-49CA-D2F2520357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A1758A-ADAE-9856-3A24-D245A33AD81C}"/>
              </a:ext>
            </a:extLst>
          </p:cNvPr>
          <p:cNvSpPr>
            <a:spLocks noGrp="1"/>
          </p:cNvSpPr>
          <p:nvPr>
            <p:ph type="dt" sz="half" idx="10"/>
          </p:nvPr>
        </p:nvSpPr>
        <p:spPr/>
        <p:txBody>
          <a:bodyPr/>
          <a:lstStyle/>
          <a:p>
            <a:fld id="{616F4DB0-F2EE-45B6-962F-91A29B945903}" type="datetimeFigureOut">
              <a:rPr lang="en-IN" smtClean="0"/>
              <a:t>09-01-2026</a:t>
            </a:fld>
            <a:endParaRPr lang="en-IN"/>
          </a:p>
        </p:txBody>
      </p:sp>
      <p:sp>
        <p:nvSpPr>
          <p:cNvPr id="6" name="Footer Placeholder 5">
            <a:extLst>
              <a:ext uri="{FF2B5EF4-FFF2-40B4-BE49-F238E27FC236}">
                <a16:creationId xmlns:a16="http://schemas.microsoft.com/office/drawing/2014/main" id="{DB47856D-D518-018F-FFF8-370B16F1AB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E97A01-10F1-F948-1F63-13C8AC37C5CD}"/>
              </a:ext>
            </a:extLst>
          </p:cNvPr>
          <p:cNvSpPr>
            <a:spLocks noGrp="1"/>
          </p:cNvSpPr>
          <p:nvPr>
            <p:ph type="sldNum" sz="quarter" idx="12"/>
          </p:nvPr>
        </p:nvSpPr>
        <p:spPr/>
        <p:txBody>
          <a:bodyPr/>
          <a:lstStyle/>
          <a:p>
            <a:fld id="{6B2C97D5-EC05-41BB-8307-CDAAC1D24E37}" type="slidenum">
              <a:rPr lang="en-IN" smtClean="0"/>
              <a:t>‹#›</a:t>
            </a:fld>
            <a:endParaRPr lang="en-IN"/>
          </a:p>
        </p:txBody>
      </p:sp>
    </p:spTree>
    <p:extLst>
      <p:ext uri="{BB962C8B-B14F-4D97-AF65-F5344CB8AC3E}">
        <p14:creationId xmlns:p14="http://schemas.microsoft.com/office/powerpoint/2010/main" val="342368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82A62-1C4E-7861-7803-7E05855B39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FAE130-A88D-562B-E936-CD64D5C10E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4F88BF8-161A-BF6E-F008-BB252E03A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001288-3249-7832-FEAA-FF7636ED55EC}"/>
              </a:ext>
            </a:extLst>
          </p:cNvPr>
          <p:cNvSpPr>
            <a:spLocks noGrp="1"/>
          </p:cNvSpPr>
          <p:nvPr>
            <p:ph type="dt" sz="half" idx="10"/>
          </p:nvPr>
        </p:nvSpPr>
        <p:spPr/>
        <p:txBody>
          <a:bodyPr/>
          <a:lstStyle/>
          <a:p>
            <a:fld id="{616F4DB0-F2EE-45B6-962F-91A29B945903}" type="datetimeFigureOut">
              <a:rPr lang="en-IN" smtClean="0"/>
              <a:t>09-01-2026</a:t>
            </a:fld>
            <a:endParaRPr lang="en-IN"/>
          </a:p>
        </p:txBody>
      </p:sp>
      <p:sp>
        <p:nvSpPr>
          <p:cNvPr id="6" name="Footer Placeholder 5">
            <a:extLst>
              <a:ext uri="{FF2B5EF4-FFF2-40B4-BE49-F238E27FC236}">
                <a16:creationId xmlns:a16="http://schemas.microsoft.com/office/drawing/2014/main" id="{5B8F4822-69A7-8F02-3833-754A76E06E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1B2C8B-64E4-3577-46CE-565E2615171E}"/>
              </a:ext>
            </a:extLst>
          </p:cNvPr>
          <p:cNvSpPr>
            <a:spLocks noGrp="1"/>
          </p:cNvSpPr>
          <p:nvPr>
            <p:ph type="sldNum" sz="quarter" idx="12"/>
          </p:nvPr>
        </p:nvSpPr>
        <p:spPr/>
        <p:txBody>
          <a:bodyPr/>
          <a:lstStyle/>
          <a:p>
            <a:fld id="{6B2C97D5-EC05-41BB-8307-CDAAC1D24E37}" type="slidenum">
              <a:rPr lang="en-IN" smtClean="0"/>
              <a:t>‹#›</a:t>
            </a:fld>
            <a:endParaRPr lang="en-IN"/>
          </a:p>
        </p:txBody>
      </p:sp>
    </p:spTree>
    <p:extLst>
      <p:ext uri="{BB962C8B-B14F-4D97-AF65-F5344CB8AC3E}">
        <p14:creationId xmlns:p14="http://schemas.microsoft.com/office/powerpoint/2010/main" val="3315244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33B5C-3603-C155-963E-63BEA0D497D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D619DE-6453-FC35-547B-39C54C51BB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DB6049-EE3A-B480-B434-BBAE33D9151D}"/>
              </a:ext>
            </a:extLst>
          </p:cNvPr>
          <p:cNvSpPr>
            <a:spLocks noGrp="1"/>
          </p:cNvSpPr>
          <p:nvPr>
            <p:ph type="dt" sz="half" idx="10"/>
          </p:nvPr>
        </p:nvSpPr>
        <p:spPr/>
        <p:txBody>
          <a:bodyPr/>
          <a:lstStyle/>
          <a:p>
            <a:fld id="{616F4DB0-F2EE-45B6-962F-91A29B945903}" type="datetimeFigureOut">
              <a:rPr lang="en-IN" smtClean="0"/>
              <a:t>09-01-2026</a:t>
            </a:fld>
            <a:endParaRPr lang="en-IN"/>
          </a:p>
        </p:txBody>
      </p:sp>
      <p:sp>
        <p:nvSpPr>
          <p:cNvPr id="5" name="Footer Placeholder 4">
            <a:extLst>
              <a:ext uri="{FF2B5EF4-FFF2-40B4-BE49-F238E27FC236}">
                <a16:creationId xmlns:a16="http://schemas.microsoft.com/office/drawing/2014/main" id="{BEC4AEC7-20D1-7275-AE98-B2A3B743FB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4FFB62-1BF6-069E-C56B-C097E938C932}"/>
              </a:ext>
            </a:extLst>
          </p:cNvPr>
          <p:cNvSpPr>
            <a:spLocks noGrp="1"/>
          </p:cNvSpPr>
          <p:nvPr>
            <p:ph type="sldNum" sz="quarter" idx="12"/>
          </p:nvPr>
        </p:nvSpPr>
        <p:spPr/>
        <p:txBody>
          <a:bodyPr/>
          <a:lstStyle/>
          <a:p>
            <a:fld id="{6B2C97D5-EC05-41BB-8307-CDAAC1D24E37}" type="slidenum">
              <a:rPr lang="en-IN" smtClean="0"/>
              <a:t>‹#›</a:t>
            </a:fld>
            <a:endParaRPr lang="en-IN"/>
          </a:p>
        </p:txBody>
      </p:sp>
    </p:spTree>
    <p:extLst>
      <p:ext uri="{BB962C8B-B14F-4D97-AF65-F5344CB8AC3E}">
        <p14:creationId xmlns:p14="http://schemas.microsoft.com/office/powerpoint/2010/main" val="4062724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057B38-5E4C-259E-0856-C414782DAA8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8A2972-EEEC-DA83-FB58-BE150A432A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437A4E-528F-29BB-E5EB-FF9C98631363}"/>
              </a:ext>
            </a:extLst>
          </p:cNvPr>
          <p:cNvSpPr>
            <a:spLocks noGrp="1"/>
          </p:cNvSpPr>
          <p:nvPr>
            <p:ph type="dt" sz="half" idx="10"/>
          </p:nvPr>
        </p:nvSpPr>
        <p:spPr/>
        <p:txBody>
          <a:bodyPr/>
          <a:lstStyle/>
          <a:p>
            <a:fld id="{616F4DB0-F2EE-45B6-962F-91A29B945903}" type="datetimeFigureOut">
              <a:rPr lang="en-IN" smtClean="0"/>
              <a:t>09-01-2026</a:t>
            </a:fld>
            <a:endParaRPr lang="en-IN"/>
          </a:p>
        </p:txBody>
      </p:sp>
      <p:sp>
        <p:nvSpPr>
          <p:cNvPr id="5" name="Footer Placeholder 4">
            <a:extLst>
              <a:ext uri="{FF2B5EF4-FFF2-40B4-BE49-F238E27FC236}">
                <a16:creationId xmlns:a16="http://schemas.microsoft.com/office/drawing/2014/main" id="{C3F33F52-3D61-D12C-3E2B-F3856B024D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0B5669-BFD8-3E2E-3847-C2B6AF308969}"/>
              </a:ext>
            </a:extLst>
          </p:cNvPr>
          <p:cNvSpPr>
            <a:spLocks noGrp="1"/>
          </p:cNvSpPr>
          <p:nvPr>
            <p:ph type="sldNum" sz="quarter" idx="12"/>
          </p:nvPr>
        </p:nvSpPr>
        <p:spPr/>
        <p:txBody>
          <a:bodyPr/>
          <a:lstStyle/>
          <a:p>
            <a:fld id="{6B2C97D5-EC05-41BB-8307-CDAAC1D24E37}" type="slidenum">
              <a:rPr lang="en-IN" smtClean="0"/>
              <a:t>‹#›</a:t>
            </a:fld>
            <a:endParaRPr lang="en-IN"/>
          </a:p>
        </p:txBody>
      </p:sp>
    </p:spTree>
    <p:extLst>
      <p:ext uri="{BB962C8B-B14F-4D97-AF65-F5344CB8AC3E}">
        <p14:creationId xmlns:p14="http://schemas.microsoft.com/office/powerpoint/2010/main" val="9706440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ontents slide layout">
    <p:bg>
      <p:bgPr>
        <a:solidFill>
          <a:schemeClr val="bg1"/>
        </a:solid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3" name="Rectangle 2">
            <a:extLst>
              <a:ext uri="{FF2B5EF4-FFF2-40B4-BE49-F238E27FC236}">
                <a16:creationId xmlns:a16="http://schemas.microsoft.com/office/drawing/2014/main" id="{CA396A33-F5DC-687B-6B06-B50E7455074B}"/>
              </a:ext>
            </a:extLst>
          </p:cNvPr>
          <p:cNvSpPr/>
          <p:nvPr/>
        </p:nvSpPr>
        <p:spPr>
          <a:xfrm>
            <a:off x="0" y="6489700"/>
            <a:ext cx="12192000" cy="368300"/>
          </a:xfrm>
          <a:prstGeom prst="rect">
            <a:avLst/>
          </a:prstGeom>
          <a:gradFill flip="none" rotWithShape="1">
            <a:gsLst>
              <a:gs pos="100000">
                <a:srgbClr val="F75441"/>
              </a:gs>
              <a:gs pos="81000">
                <a:srgbClr val="ED7952"/>
              </a:gs>
              <a:gs pos="6000">
                <a:srgbClr val="5410BF"/>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a16="http://schemas.microsoft.com/office/drawing/2014/main" id="{AA1ED26C-FDA3-D1DA-1068-1C47294CC0EF}"/>
              </a:ext>
            </a:extLst>
          </p:cNvPr>
          <p:cNvCxnSpPr/>
          <p:nvPr/>
        </p:nvCxnSpPr>
        <p:spPr>
          <a:xfrm>
            <a:off x="0" y="6489700"/>
            <a:ext cx="12192000" cy="0"/>
          </a:xfrm>
          <a:prstGeom prst="line">
            <a:avLst/>
          </a:prstGeom>
          <a:ln w="25400">
            <a:solidFill>
              <a:srgbClr val="5410BF"/>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32BA5740-BCBB-308C-6A30-2C779FACF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Tree>
    <p:extLst>
      <p:ext uri="{BB962C8B-B14F-4D97-AF65-F5344CB8AC3E}">
        <p14:creationId xmlns:p14="http://schemas.microsoft.com/office/powerpoint/2010/main" val="1282663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MAGE AND CONTENTS LAYOUT_02">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507953-9EC6-499C-FC4E-E166E8C9FC0F}"/>
              </a:ext>
            </a:extLst>
          </p:cNvPr>
          <p:cNvSpPr/>
          <p:nvPr userDrawn="1"/>
        </p:nvSpPr>
        <p:spPr>
          <a:xfrm>
            <a:off x="0" y="6489700"/>
            <a:ext cx="12192000" cy="368300"/>
          </a:xfrm>
          <a:prstGeom prst="rect">
            <a:avLst/>
          </a:prstGeom>
          <a:gradFill flip="none" rotWithShape="1">
            <a:gsLst>
              <a:gs pos="100000">
                <a:srgbClr val="F75441"/>
              </a:gs>
              <a:gs pos="81000">
                <a:srgbClr val="ED7952"/>
              </a:gs>
              <a:gs pos="6000">
                <a:srgbClr val="5410BF"/>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62FF81B9-56FB-6F65-2022-9307430E850D}"/>
              </a:ext>
            </a:extLst>
          </p:cNvPr>
          <p:cNvCxnSpPr/>
          <p:nvPr userDrawn="1"/>
        </p:nvCxnSpPr>
        <p:spPr>
          <a:xfrm>
            <a:off x="0" y="6489700"/>
            <a:ext cx="12192000" cy="0"/>
          </a:xfrm>
          <a:prstGeom prst="line">
            <a:avLst/>
          </a:prstGeom>
          <a:ln w="25400">
            <a:solidFill>
              <a:srgbClr val="5410BF"/>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6719419C-A108-EB46-1DA8-4A96C5CF0A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
        <p:nvSpPr>
          <p:cNvPr id="8" name="TextBox 7">
            <a:extLst>
              <a:ext uri="{FF2B5EF4-FFF2-40B4-BE49-F238E27FC236}">
                <a16:creationId xmlns:a16="http://schemas.microsoft.com/office/drawing/2014/main" id="{8D33BDF6-E95B-A824-2CE8-05503F8910BA}"/>
              </a:ext>
            </a:extLst>
          </p:cNvPr>
          <p:cNvSpPr txBox="1"/>
          <p:nvPr userDrawn="1"/>
        </p:nvSpPr>
        <p:spPr>
          <a:xfrm>
            <a:off x="4908431" y="6554989"/>
            <a:ext cx="1805302" cy="246221"/>
          </a:xfrm>
          <a:prstGeom prst="rect">
            <a:avLst/>
          </a:prstGeom>
          <a:noFill/>
        </p:spPr>
        <p:txBody>
          <a:bodyPr wrap="none" rtlCol="0">
            <a:spAutoFit/>
          </a:bodyPr>
          <a:lstStyle/>
          <a:p>
            <a:r>
              <a:rPr lang="en-US" sz="1000" dirty="0" err="1">
                <a:solidFill>
                  <a:schemeClr val="bg1"/>
                </a:solidFill>
                <a:latin typeface="Calibri" panose="020F0502020204030204" pitchFamily="34" charset="0"/>
                <a:ea typeface="Calibri" panose="020F0502020204030204" pitchFamily="34" charset="0"/>
                <a:cs typeface="Calibri" panose="020F0502020204030204" pitchFamily="34" charset="0"/>
              </a:rPr>
              <a:t>Sigmasoft</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 Nvidia Confidential</a:t>
            </a:r>
          </a:p>
        </p:txBody>
      </p:sp>
    </p:spTree>
    <p:extLst>
      <p:ext uri="{BB962C8B-B14F-4D97-AF65-F5344CB8AC3E}">
        <p14:creationId xmlns:p14="http://schemas.microsoft.com/office/powerpoint/2010/main" val="1178346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929AE0-CF70-A157-BA30-4B0BD3A970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353092-314D-3069-7278-7AF7A6A68F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1A7AC8-D5C4-BDA1-0BE8-DBC11441E8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6F4DB0-F2EE-45B6-962F-91A29B945903}" type="datetimeFigureOut">
              <a:rPr lang="en-IN" smtClean="0"/>
              <a:t>09-01-2026</a:t>
            </a:fld>
            <a:endParaRPr lang="en-IN"/>
          </a:p>
        </p:txBody>
      </p:sp>
      <p:sp>
        <p:nvSpPr>
          <p:cNvPr id="5" name="Footer Placeholder 4">
            <a:extLst>
              <a:ext uri="{FF2B5EF4-FFF2-40B4-BE49-F238E27FC236}">
                <a16:creationId xmlns:a16="http://schemas.microsoft.com/office/drawing/2014/main" id="{FA9C3F08-7ADA-0F72-8A70-99F1EB2CE2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9A6A1E7-E9D9-53BF-A0C4-DA40181BD2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2C97D5-EC05-41BB-8307-CDAAC1D24E37}" type="slidenum">
              <a:rPr lang="en-IN" smtClean="0"/>
              <a:t>‹#›</a:t>
            </a:fld>
            <a:endParaRPr lang="en-IN"/>
          </a:p>
        </p:txBody>
      </p:sp>
    </p:spTree>
    <p:extLst>
      <p:ext uri="{BB962C8B-B14F-4D97-AF65-F5344CB8AC3E}">
        <p14:creationId xmlns:p14="http://schemas.microsoft.com/office/powerpoint/2010/main" val="1424048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svg"/><Relationship Id="rId12" Type="http://schemas.openxmlformats.org/officeDocument/2006/relationships/image" Target="../media/image14.svg"/><Relationship Id="rId17" Type="http://schemas.openxmlformats.org/officeDocument/2006/relationships/image" Target="../media/image19.svg"/><Relationship Id="rId25" Type="http://schemas.openxmlformats.org/officeDocument/2006/relationships/image" Target="../media/image27.jpeg"/><Relationship Id="rId2" Type="http://schemas.openxmlformats.org/officeDocument/2006/relationships/image" Target="../media/image4.jpe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png"/><Relationship Id="rId1" Type="http://schemas.openxmlformats.org/officeDocument/2006/relationships/slideLayout" Target="../slideLayouts/slideLayout12.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32" Type="http://schemas.openxmlformats.org/officeDocument/2006/relationships/image" Target="../media/image34.jpe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28" Type="http://schemas.openxmlformats.org/officeDocument/2006/relationships/image" Target="../media/image30.png"/><Relationship Id="rId10" Type="http://schemas.openxmlformats.org/officeDocument/2006/relationships/image" Target="../media/image12.png"/><Relationship Id="rId19" Type="http://schemas.openxmlformats.org/officeDocument/2006/relationships/image" Target="../media/image21.svg"/><Relationship Id="rId31" Type="http://schemas.openxmlformats.org/officeDocument/2006/relationships/image" Target="../media/image33.jpe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svg"/><Relationship Id="rId22" Type="http://schemas.openxmlformats.org/officeDocument/2006/relationships/image" Target="../media/image24.png"/><Relationship Id="rId27" Type="http://schemas.openxmlformats.org/officeDocument/2006/relationships/image" Target="../media/image29.png"/><Relationship Id="rId30" Type="http://schemas.openxmlformats.org/officeDocument/2006/relationships/image" Target="../media/image3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6AF7A-7CD9-5F27-9980-39CC88DF815A}"/>
            </a:ext>
          </a:extLst>
        </p:cNvPr>
        <p:cNvGrpSpPr/>
        <p:nvPr/>
      </p:nvGrpSpPr>
      <p:grpSpPr>
        <a:xfrm>
          <a:off x="0" y="0"/>
          <a:ext cx="0" cy="0"/>
          <a:chOff x="0" y="0"/>
          <a:chExt cx="0" cy="0"/>
        </a:xfrm>
      </p:grpSpPr>
      <p:sp>
        <p:nvSpPr>
          <p:cNvPr id="31" name="TextBox 30">
            <a:extLst>
              <a:ext uri="{FF2B5EF4-FFF2-40B4-BE49-F238E27FC236}">
                <a16:creationId xmlns:a16="http://schemas.microsoft.com/office/drawing/2014/main" id="{93B55FA3-F3D1-9EF4-6C41-36DE2CAE69AF}"/>
              </a:ext>
            </a:extLst>
          </p:cNvPr>
          <p:cNvSpPr txBox="1"/>
          <p:nvPr/>
        </p:nvSpPr>
        <p:spPr>
          <a:xfrm>
            <a:off x="4281232" y="2067431"/>
            <a:ext cx="7269472" cy="1077218"/>
          </a:xfrm>
          <a:prstGeom prst="rect">
            <a:avLst/>
          </a:prstGeom>
          <a:noFill/>
        </p:spPr>
        <p:txBody>
          <a:bodyPr wrap="square" lIns="91440" tIns="45720" rIns="91440" bIns="45720" rtlCol="0" anchor="t">
            <a:spAutoFit/>
          </a:bodyPr>
          <a:lstStyle/>
          <a:p>
            <a:r>
              <a:rPr lang="en-US" sz="3200" b="1" dirty="0">
                <a:latin typeface="Calibri"/>
                <a:ea typeface="Calibri"/>
                <a:cs typeface="Calibri"/>
              </a:rPr>
              <a:t>ICBD: </a:t>
            </a:r>
          </a:p>
          <a:p>
            <a:r>
              <a:rPr lang="en-US" sz="3200" b="1" dirty="0">
                <a:latin typeface="Calibri"/>
                <a:ea typeface="Calibri"/>
                <a:cs typeface="Calibri"/>
              </a:rPr>
              <a:t>Solution Approach Discussion</a:t>
            </a:r>
            <a:endParaRPr lang="en-US" sz="3200" b="1" dirty="0">
              <a:latin typeface="Calibri" panose="020F0502020204030204" pitchFamily="34" charset="0"/>
              <a:ea typeface="Calibri" panose="020F0502020204030204" pitchFamily="34" charset="0"/>
              <a:cs typeface="Calibri" panose="020F0502020204030204" pitchFamily="34" charset="0"/>
            </a:endParaRPr>
          </a:p>
        </p:txBody>
      </p:sp>
      <p:pic>
        <p:nvPicPr>
          <p:cNvPr id="43" name="Picture 42">
            <a:extLst>
              <a:ext uri="{FF2B5EF4-FFF2-40B4-BE49-F238E27FC236}">
                <a16:creationId xmlns:a16="http://schemas.microsoft.com/office/drawing/2014/main" id="{20C3DB9A-465F-1511-3428-5C06BEA7E2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7978" y="5925426"/>
            <a:ext cx="2269957" cy="431292"/>
          </a:xfrm>
          <a:prstGeom prst="rect">
            <a:avLst/>
          </a:prstGeom>
        </p:spPr>
      </p:pic>
      <p:sp>
        <p:nvSpPr>
          <p:cNvPr id="45" name="TextBox 44">
            <a:extLst>
              <a:ext uri="{FF2B5EF4-FFF2-40B4-BE49-F238E27FC236}">
                <a16:creationId xmlns:a16="http://schemas.microsoft.com/office/drawing/2014/main" id="{725DF8D6-08D3-11CA-0118-7E07AFC2C21C}"/>
              </a:ext>
            </a:extLst>
          </p:cNvPr>
          <p:cNvSpPr txBox="1"/>
          <p:nvPr/>
        </p:nvSpPr>
        <p:spPr>
          <a:xfrm>
            <a:off x="4281232" y="3059668"/>
            <a:ext cx="1737360" cy="369332"/>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9</a:t>
            </a:r>
            <a:r>
              <a:rPr lang="en-US" sz="1800" b="1" baseline="30000" dirty="0">
                <a:latin typeface="Calibri" panose="020F0502020204030204" pitchFamily="34" charset="0"/>
                <a:ea typeface="Calibri" panose="020F0502020204030204" pitchFamily="34" charset="0"/>
                <a:cs typeface="Calibri" panose="020F0502020204030204" pitchFamily="34" charset="0"/>
              </a:rPr>
              <a:t>th</a:t>
            </a:r>
            <a:r>
              <a:rPr lang="en-US" sz="1800" b="1" dirty="0">
                <a:latin typeface="Calibri" panose="020F0502020204030204" pitchFamily="34" charset="0"/>
                <a:ea typeface="Calibri" panose="020F0502020204030204" pitchFamily="34" charset="0"/>
                <a:cs typeface="Calibri" panose="020F0502020204030204" pitchFamily="34" charset="0"/>
              </a:rPr>
              <a:t> Jan 2026 </a:t>
            </a:r>
          </a:p>
        </p:txBody>
      </p:sp>
      <p:pic>
        <p:nvPicPr>
          <p:cNvPr id="3074" name="Picture 2" descr="ICBD Holdings - Crunchbase Company Profile &amp; Funding">
            <a:extLst>
              <a:ext uri="{FF2B5EF4-FFF2-40B4-BE49-F238E27FC236}">
                <a16:creationId xmlns:a16="http://schemas.microsoft.com/office/drawing/2014/main" id="{987D8650-4D53-EE4D-BB1C-37812D34A3B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5915" b="24792"/>
          <a:stretch>
            <a:fillRect/>
          </a:stretch>
        </p:blipFill>
        <p:spPr bwMode="auto">
          <a:xfrm>
            <a:off x="10844231" y="107932"/>
            <a:ext cx="1263704" cy="622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6289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31C31-740E-420E-299D-CECF4646005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98D9C38-552F-EE37-4990-6E8A4FE37372}"/>
              </a:ext>
            </a:extLst>
          </p:cNvPr>
          <p:cNvSpPr>
            <a:spLocks noGrp="1"/>
          </p:cNvSpPr>
          <p:nvPr>
            <p:ph type="body" sz="quarter" idx="10"/>
          </p:nvPr>
        </p:nvSpPr>
        <p:spPr>
          <a:xfrm>
            <a:off x="-1" y="57314"/>
            <a:ext cx="5706891" cy="724247"/>
          </a:xfrm>
        </p:spPr>
        <p:txBody>
          <a:bodyPr>
            <a:normAutofit/>
          </a:bodyPr>
          <a:lstStyle/>
          <a:p>
            <a:pPr algn="l"/>
            <a:r>
              <a:rPr lang="en-IN" sz="4000" b="1" dirty="0">
                <a:solidFill>
                  <a:srgbClr val="5410BF"/>
                </a:solidFill>
                <a:latin typeface="Plus Jakarta Sans"/>
                <a:cs typeface="Arial"/>
              </a:rPr>
              <a:t>Current Information</a:t>
            </a:r>
            <a:endParaRPr lang="en-US" sz="4000"/>
          </a:p>
        </p:txBody>
      </p:sp>
      <p:cxnSp>
        <p:nvCxnSpPr>
          <p:cNvPr id="18" name="Straight Connector 17">
            <a:extLst>
              <a:ext uri="{FF2B5EF4-FFF2-40B4-BE49-F238E27FC236}">
                <a16:creationId xmlns:a16="http://schemas.microsoft.com/office/drawing/2014/main" id="{BCEA9BFA-53FB-82E0-F0A1-E3DF5BCBD5F2}"/>
              </a:ext>
            </a:extLst>
          </p:cNvPr>
          <p:cNvCxnSpPr/>
          <p:nvPr/>
        </p:nvCxnSpPr>
        <p:spPr>
          <a:xfrm>
            <a:off x="-12000" y="788677"/>
            <a:ext cx="122040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25" name="Table 24">
            <a:extLst>
              <a:ext uri="{FF2B5EF4-FFF2-40B4-BE49-F238E27FC236}">
                <a16:creationId xmlns:a16="http://schemas.microsoft.com/office/drawing/2014/main" id="{CD4A1EDF-258E-3769-2455-97FF23A83512}"/>
              </a:ext>
            </a:extLst>
          </p:cNvPr>
          <p:cNvGraphicFramePr>
            <a:graphicFrameLocks noGrp="1"/>
          </p:cNvGraphicFramePr>
          <p:nvPr>
            <p:extLst>
              <p:ext uri="{D42A27DB-BD31-4B8C-83A1-F6EECF244321}">
                <p14:modId xmlns:p14="http://schemas.microsoft.com/office/powerpoint/2010/main" val="3928418113"/>
              </p:ext>
            </p:extLst>
          </p:nvPr>
        </p:nvGraphicFramePr>
        <p:xfrm>
          <a:off x="0" y="1413163"/>
          <a:ext cx="12192000" cy="4338320"/>
        </p:xfrm>
        <a:graphic>
          <a:graphicData uri="http://schemas.openxmlformats.org/drawingml/2006/table">
            <a:tbl>
              <a:tblPr firstRow="1" firstCol="1" bandRow="1">
                <a:tableStyleId>{5C22544A-7EE6-4342-B048-85BDC9FD1C3A}</a:tableStyleId>
              </a:tblPr>
              <a:tblGrid>
                <a:gridCol w="2438400">
                  <a:extLst>
                    <a:ext uri="{9D8B030D-6E8A-4147-A177-3AD203B41FA5}">
                      <a16:colId xmlns:a16="http://schemas.microsoft.com/office/drawing/2014/main" val="1543801821"/>
                    </a:ext>
                  </a:extLst>
                </a:gridCol>
                <a:gridCol w="2438400">
                  <a:extLst>
                    <a:ext uri="{9D8B030D-6E8A-4147-A177-3AD203B41FA5}">
                      <a16:colId xmlns:a16="http://schemas.microsoft.com/office/drawing/2014/main" val="4190805177"/>
                    </a:ext>
                  </a:extLst>
                </a:gridCol>
                <a:gridCol w="2438400">
                  <a:extLst>
                    <a:ext uri="{9D8B030D-6E8A-4147-A177-3AD203B41FA5}">
                      <a16:colId xmlns:a16="http://schemas.microsoft.com/office/drawing/2014/main" val="3800876790"/>
                    </a:ext>
                  </a:extLst>
                </a:gridCol>
                <a:gridCol w="2438400">
                  <a:extLst>
                    <a:ext uri="{9D8B030D-6E8A-4147-A177-3AD203B41FA5}">
                      <a16:colId xmlns:a16="http://schemas.microsoft.com/office/drawing/2014/main" val="3849193189"/>
                    </a:ext>
                  </a:extLst>
                </a:gridCol>
                <a:gridCol w="2438400">
                  <a:extLst>
                    <a:ext uri="{9D8B030D-6E8A-4147-A177-3AD203B41FA5}">
                      <a16:colId xmlns:a16="http://schemas.microsoft.com/office/drawing/2014/main" val="698476392"/>
                    </a:ext>
                  </a:extLst>
                </a:gridCol>
              </a:tblGrid>
              <a:tr h="0">
                <a:tc>
                  <a:txBody>
                    <a:bodyPr/>
                    <a:lstStyle/>
                    <a:p>
                      <a:pPr lvl="0">
                        <a:buNone/>
                      </a:pPr>
                      <a:r>
                        <a:rPr lang="en-US" b="1">
                          <a:solidFill>
                            <a:schemeClr val="tx1"/>
                          </a:solidFill>
                          <a:effectLst/>
                        </a:rPr>
                        <a:t>Data Source</a:t>
                      </a:r>
                      <a:endParaRPr lang="en-US" dirty="0">
                        <a:solidFill>
                          <a:schemeClr val="tx1"/>
                        </a:solidFill>
                        <a:effectLst/>
                      </a:endParaRP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b="1">
                          <a:solidFill>
                            <a:schemeClr val="tx1"/>
                          </a:solidFill>
                          <a:effectLst/>
                        </a:rPr>
                        <a:t>Domain</a:t>
                      </a:r>
                      <a:endParaRPr lang="en-US" b="1" dirty="0">
                        <a:solidFill>
                          <a:schemeClr val="tx1"/>
                        </a:solidFill>
                        <a:effectLst/>
                      </a:endParaRP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b="1" dirty="0">
                          <a:solidFill>
                            <a:schemeClr val="tx1"/>
                          </a:solidFill>
                          <a:effectLst/>
                        </a:rPr>
                        <a:t>Auth Method</a:t>
                      </a:r>
                      <a:endParaRPr lang="en-US" dirty="0">
                        <a:solidFill>
                          <a:schemeClr val="tx1"/>
                        </a:solidFill>
                        <a:effectLst/>
                      </a:endParaRP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b="1" dirty="0">
                          <a:solidFill>
                            <a:schemeClr val="tx1"/>
                          </a:solidFill>
                          <a:effectLst/>
                        </a:rPr>
                        <a:t>Middleware</a:t>
                      </a:r>
                      <a:endParaRPr lang="en-US" dirty="0">
                        <a:solidFill>
                          <a:schemeClr val="tx1"/>
                        </a:solidFill>
                        <a:effectLst/>
                      </a:endParaRP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b="1" dirty="0">
                          <a:solidFill>
                            <a:schemeClr val="tx1"/>
                          </a:solidFill>
                          <a:effectLst/>
                        </a:rPr>
                        <a:t>Refresh Frequency</a:t>
                      </a:r>
                      <a:endParaRPr lang="en-US" dirty="0">
                        <a:solidFill>
                          <a:schemeClr val="tx1"/>
                        </a:solidFill>
                        <a:effectLst/>
                      </a:endParaRP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7564966"/>
                  </a:ext>
                </a:extLst>
              </a:tr>
              <a:tr h="0">
                <a:tc>
                  <a:txBody>
                    <a:bodyPr/>
                    <a:lstStyle/>
                    <a:p>
                      <a:pPr lvl="0">
                        <a:buNone/>
                      </a:pPr>
                      <a:r>
                        <a:rPr lang="en-US">
                          <a:solidFill>
                            <a:schemeClr val="tx1"/>
                          </a:solidFill>
                          <a:effectLst/>
                        </a:rPr>
                        <a:t>UKG Ready</a:t>
                      </a:r>
                      <a:endParaRPr lang="en-US" dirty="0">
                        <a:solidFill>
                          <a:schemeClr val="tx1"/>
                        </a:solidFill>
                        <a:effectLst/>
                      </a:endParaRP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sz="1100" b="0" i="0" u="none" strike="noStrike" noProof="0" dirty="0">
                          <a:solidFill>
                            <a:schemeClr val="tx1"/>
                          </a:solidFill>
                          <a:effectLst/>
                          <a:latin typeface="Georgia"/>
                        </a:rPr>
                        <a:t>Human Resources &amp; Workforce Management</a:t>
                      </a:r>
                      <a:endParaRPr lang="en-US" dirty="0"/>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API Credentials</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err="1">
                          <a:solidFill>
                            <a:schemeClr val="tx1"/>
                          </a:solidFill>
                          <a:effectLst/>
                        </a:rPr>
                        <a:t>Workato</a:t>
                      </a:r>
                      <a:r>
                        <a:rPr lang="en-US" dirty="0">
                          <a:solidFill>
                            <a:schemeClr val="tx1"/>
                          </a:solidFill>
                          <a:effectLst/>
                        </a:rPr>
                        <a:t> (ETL)</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Daily</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1010333"/>
                  </a:ext>
                </a:extLst>
              </a:tr>
              <a:tr h="0">
                <a:tc>
                  <a:txBody>
                    <a:bodyPr/>
                    <a:lstStyle/>
                    <a:p>
                      <a:pPr lvl="0">
                        <a:buNone/>
                      </a:pPr>
                      <a:r>
                        <a:rPr lang="en-US" dirty="0">
                          <a:solidFill>
                            <a:schemeClr val="tx1"/>
                          </a:solidFill>
                          <a:effectLst/>
                        </a:rPr>
                        <a:t>Salesforce</a:t>
                      </a: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sz="1100" b="0" i="0" u="none" strike="noStrike" noProof="0" dirty="0">
                          <a:solidFill>
                            <a:schemeClr val="tx1"/>
                          </a:solidFill>
                          <a:effectLst/>
                          <a:latin typeface="Georgia"/>
                        </a:rPr>
                        <a:t>Customer Relationship Management </a:t>
                      </a:r>
                      <a:endParaRPr lang="en-US" dirty="0"/>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OAuth 2.0</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err="1">
                          <a:solidFill>
                            <a:schemeClr val="tx1"/>
                          </a:solidFill>
                          <a:effectLst/>
                        </a:rPr>
                        <a:t>Fivetran</a:t>
                      </a:r>
                      <a:r>
                        <a:rPr lang="en-US" dirty="0">
                          <a:solidFill>
                            <a:schemeClr val="tx1"/>
                          </a:solidFill>
                          <a:effectLst/>
                        </a:rPr>
                        <a:t> (ETL)</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Every 6 hours</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3665666"/>
                  </a:ext>
                </a:extLst>
              </a:tr>
              <a:tr h="0">
                <a:tc>
                  <a:txBody>
                    <a:bodyPr/>
                    <a:lstStyle/>
                    <a:p>
                      <a:pPr lvl="0">
                        <a:buNone/>
                      </a:pPr>
                      <a:r>
                        <a:rPr lang="en-US" dirty="0">
                          <a:solidFill>
                            <a:schemeClr val="tx1"/>
                          </a:solidFill>
                          <a:effectLst/>
                        </a:rPr>
                        <a:t>NetSuite</a:t>
                      </a: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sz="1100" b="0" i="0" u="none" strike="noStrike" noProof="0" dirty="0">
                          <a:solidFill>
                            <a:schemeClr val="tx1"/>
                          </a:solidFill>
                          <a:effectLst/>
                          <a:latin typeface="Georgia"/>
                        </a:rPr>
                        <a:t>Enterprise Resource Planning (ERP) &amp; Financials</a:t>
                      </a:r>
                      <a:endParaRPr lang="en-US" dirty="0"/>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OAuth 2.0 + Cert</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err="1">
                          <a:solidFill>
                            <a:schemeClr val="tx1"/>
                          </a:solidFill>
                          <a:effectLst/>
                        </a:rPr>
                        <a:t>Fivetran</a:t>
                      </a:r>
                      <a:r>
                        <a:rPr lang="en-US" dirty="0">
                          <a:solidFill>
                            <a:schemeClr val="tx1"/>
                          </a:solidFill>
                          <a:effectLst/>
                        </a:rPr>
                        <a:t> (ETL)</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Paused</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4579906"/>
                  </a:ext>
                </a:extLst>
              </a:tr>
              <a:tr h="0">
                <a:tc>
                  <a:txBody>
                    <a:bodyPr/>
                    <a:lstStyle/>
                    <a:p>
                      <a:pPr lvl="0">
                        <a:buNone/>
                      </a:pPr>
                      <a:r>
                        <a:rPr lang="en-US" dirty="0" err="1">
                          <a:solidFill>
                            <a:schemeClr val="tx1"/>
                          </a:solidFill>
                          <a:effectLst/>
                        </a:rPr>
                        <a:t>Ensora</a:t>
                      </a:r>
                      <a:endParaRPr lang="en-US" dirty="0">
                        <a:solidFill>
                          <a:schemeClr val="tx1"/>
                        </a:solidFill>
                        <a:effectLst/>
                      </a:endParaRP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sz="1100" b="0" i="0" u="none" strike="noStrike" noProof="0" dirty="0">
                          <a:solidFill>
                            <a:schemeClr val="tx1"/>
                          </a:solidFill>
                          <a:effectLst/>
                          <a:latin typeface="Georgia"/>
                        </a:rPr>
                        <a:t>Behavioral Health &amp; Patient Care Management</a:t>
                      </a:r>
                      <a:endParaRPr lang="en-US" dirty="0"/>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API Credentials</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err="1">
                          <a:solidFill>
                            <a:schemeClr val="tx1"/>
                          </a:solidFill>
                          <a:effectLst/>
                        </a:rPr>
                        <a:t>Fivetran</a:t>
                      </a:r>
                      <a:r>
                        <a:rPr lang="en-US" dirty="0">
                          <a:solidFill>
                            <a:schemeClr val="tx1"/>
                          </a:solidFill>
                          <a:effectLst/>
                        </a:rPr>
                        <a:t> (ETL)</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Every 6 hours</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0050822"/>
                  </a:ext>
                </a:extLst>
              </a:tr>
              <a:tr h="0">
                <a:tc>
                  <a:txBody>
                    <a:bodyPr/>
                    <a:lstStyle/>
                    <a:p>
                      <a:pPr lvl="0">
                        <a:buNone/>
                      </a:pPr>
                      <a:r>
                        <a:rPr lang="en-US" dirty="0">
                          <a:solidFill>
                            <a:schemeClr val="tx1"/>
                          </a:solidFill>
                          <a:effectLst/>
                        </a:rPr>
                        <a:t>Coupa</a:t>
                      </a: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sz="1100" b="0" i="0" u="none" strike="noStrike" noProof="0" dirty="0">
                          <a:solidFill>
                            <a:schemeClr val="tx1"/>
                          </a:solidFill>
                          <a:effectLst/>
                          <a:latin typeface="Georgia"/>
                        </a:rPr>
                        <a:t>Spend Management &amp; Procurement</a:t>
                      </a:r>
                      <a:endParaRPr lang="en-US" dirty="0"/>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OAuth 2.0</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err="1">
                          <a:solidFill>
                            <a:schemeClr val="tx1"/>
                          </a:solidFill>
                          <a:effectLst/>
                        </a:rPr>
                        <a:t>Fivetran</a:t>
                      </a:r>
                      <a:r>
                        <a:rPr lang="en-US" dirty="0">
                          <a:solidFill>
                            <a:schemeClr val="tx1"/>
                          </a:solidFill>
                          <a:effectLst/>
                        </a:rPr>
                        <a:t> (ETL)</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Paused</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5030041"/>
                  </a:ext>
                </a:extLst>
              </a:tr>
              <a:tr h="0">
                <a:tc>
                  <a:txBody>
                    <a:bodyPr/>
                    <a:lstStyle/>
                    <a:p>
                      <a:pPr lvl="0">
                        <a:buNone/>
                      </a:pPr>
                      <a:r>
                        <a:rPr lang="en-US" dirty="0">
                          <a:solidFill>
                            <a:schemeClr val="tx1"/>
                          </a:solidFill>
                          <a:effectLst/>
                        </a:rPr>
                        <a:t>Workable</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sz="1100" b="0" i="0" u="none" strike="noStrike" noProof="0" dirty="0">
                          <a:solidFill>
                            <a:schemeClr val="tx1"/>
                          </a:solidFill>
                          <a:effectLst/>
                          <a:latin typeface="Georgia"/>
                        </a:rPr>
                        <a:t>Applicant Tracking System (ATS) &amp; Recruitment</a:t>
                      </a:r>
                      <a:endParaRPr lang="en-US" dirty="0"/>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Access Token</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err="1">
                          <a:solidFill>
                            <a:schemeClr val="tx1"/>
                          </a:solidFill>
                          <a:effectLst/>
                        </a:rPr>
                        <a:t>Fivetran</a:t>
                      </a:r>
                      <a:r>
                        <a:rPr lang="en-US" dirty="0">
                          <a:solidFill>
                            <a:schemeClr val="tx1"/>
                          </a:solidFill>
                          <a:effectLst/>
                        </a:rPr>
                        <a:t> (ETL)</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Paused</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2265941"/>
                  </a:ext>
                </a:extLst>
              </a:tr>
              <a:tr h="0">
                <a:tc>
                  <a:txBody>
                    <a:bodyPr/>
                    <a:lstStyle/>
                    <a:p>
                      <a:pPr lvl="0">
                        <a:buNone/>
                      </a:pPr>
                      <a:r>
                        <a:rPr lang="en-US" dirty="0" err="1">
                          <a:solidFill>
                            <a:schemeClr val="tx1"/>
                          </a:solidFill>
                          <a:effectLst/>
                        </a:rPr>
                        <a:t>CollaborativeMD</a:t>
                      </a:r>
                      <a:r>
                        <a:rPr lang="en-US" dirty="0">
                          <a:solidFill>
                            <a:schemeClr val="tx1"/>
                          </a:solidFill>
                          <a:effectLst/>
                        </a:rPr>
                        <a:t> (CMD)</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sz="1100" b="0" i="0" u="none" strike="noStrike" noProof="0" dirty="0">
                          <a:solidFill>
                            <a:schemeClr val="tx1"/>
                          </a:solidFill>
                          <a:effectLst/>
                          <a:latin typeface="Georgia"/>
                        </a:rPr>
                        <a:t>Medical Practice Management &amp; EMR</a:t>
                      </a:r>
                      <a:endParaRPr lang="en-US" dirty="0"/>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API Credentials</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POC in Postman</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Not Setup</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5453744"/>
                  </a:ext>
                </a:extLst>
              </a:tr>
              <a:tr h="0">
                <a:tc>
                  <a:txBody>
                    <a:bodyPr/>
                    <a:lstStyle/>
                    <a:p>
                      <a:pPr lvl="0">
                        <a:buNone/>
                      </a:pPr>
                      <a:r>
                        <a:rPr lang="en-US" dirty="0" err="1">
                          <a:solidFill>
                            <a:schemeClr val="tx1"/>
                          </a:solidFill>
                          <a:effectLst/>
                        </a:rPr>
                        <a:t>ConnectEMR</a:t>
                      </a:r>
                      <a:endParaRPr lang="en-US"/>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Not Available</a:t>
                      </a: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TBD</a:t>
                      </a: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TBD</a:t>
                      </a: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TBD</a:t>
                      </a: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0813793"/>
                  </a:ext>
                </a:extLst>
              </a:tr>
              <a:tr h="0">
                <a:tc>
                  <a:txBody>
                    <a:bodyPr/>
                    <a:lstStyle/>
                    <a:p>
                      <a:pPr lvl="0">
                        <a:buNone/>
                      </a:pPr>
                      <a:r>
                        <a:rPr lang="en-US" dirty="0" err="1">
                          <a:solidFill>
                            <a:schemeClr val="tx1"/>
                          </a:solidFill>
                          <a:effectLst/>
                        </a:rPr>
                        <a:t>ConnectRCM</a:t>
                      </a: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Not Available</a:t>
                      </a: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TBD</a:t>
                      </a: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TBD</a:t>
                      </a: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buNone/>
                      </a:pPr>
                      <a:r>
                        <a:rPr lang="en-US" dirty="0">
                          <a:solidFill>
                            <a:schemeClr val="tx1"/>
                          </a:solidFill>
                          <a:effectLst/>
                        </a:rPr>
                        <a:t>TBD</a:t>
                      </a:r>
                    </a:p>
                  </a:txBody>
                  <a:tcPr marL="101600" marR="101600" marT="50800" marB="50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7012228"/>
                  </a:ext>
                </a:extLst>
              </a:tr>
            </a:tbl>
          </a:graphicData>
        </a:graphic>
      </p:graphicFrame>
    </p:spTree>
    <p:extLst>
      <p:ext uri="{BB962C8B-B14F-4D97-AF65-F5344CB8AC3E}">
        <p14:creationId xmlns:p14="http://schemas.microsoft.com/office/powerpoint/2010/main" val="3324913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80695-1F2D-E9CA-759B-EA017F2E508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F4C12D-2C5A-6E3A-F465-1EF23688AD60}"/>
              </a:ext>
            </a:extLst>
          </p:cNvPr>
          <p:cNvSpPr>
            <a:spLocks noGrp="1"/>
          </p:cNvSpPr>
          <p:nvPr>
            <p:ph type="body" sz="quarter" idx="10"/>
          </p:nvPr>
        </p:nvSpPr>
        <p:spPr>
          <a:xfrm>
            <a:off x="-1" y="57314"/>
            <a:ext cx="5706891" cy="724247"/>
          </a:xfrm>
        </p:spPr>
        <p:txBody>
          <a:bodyPr>
            <a:normAutofit/>
          </a:bodyPr>
          <a:lstStyle/>
          <a:p>
            <a:pPr algn="l"/>
            <a:r>
              <a:rPr lang="en-IN" sz="2800" b="1" dirty="0">
                <a:solidFill>
                  <a:srgbClr val="5410BF"/>
                </a:solidFill>
                <a:latin typeface="Plus Jakarta Sans" pitchFamily="2" charset="0"/>
              </a:rPr>
              <a:t>Enterprise Data Flow Framework</a:t>
            </a:r>
            <a:endParaRPr lang="en-IN" sz="2800" b="1" dirty="0">
              <a:solidFill>
                <a:srgbClr val="5410BF"/>
              </a:solidFill>
              <a:ea typeface="Lato Light"/>
            </a:endParaRPr>
          </a:p>
        </p:txBody>
      </p:sp>
      <p:cxnSp>
        <p:nvCxnSpPr>
          <p:cNvPr id="18" name="Straight Connector 17">
            <a:extLst>
              <a:ext uri="{FF2B5EF4-FFF2-40B4-BE49-F238E27FC236}">
                <a16:creationId xmlns:a16="http://schemas.microsoft.com/office/drawing/2014/main" id="{E210DC01-B8F5-A22A-5FD0-71FAE0CB0308}"/>
              </a:ext>
            </a:extLst>
          </p:cNvPr>
          <p:cNvCxnSpPr/>
          <p:nvPr/>
        </p:nvCxnSpPr>
        <p:spPr>
          <a:xfrm>
            <a:off x="-12000" y="788677"/>
            <a:ext cx="122040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7F605F85-5A51-73E1-E35E-AB612400DFBA}"/>
              </a:ext>
            </a:extLst>
          </p:cNvPr>
          <p:cNvSpPr/>
          <p:nvPr/>
        </p:nvSpPr>
        <p:spPr>
          <a:xfrm>
            <a:off x="438422" y="2346898"/>
            <a:ext cx="1494139" cy="2185868"/>
          </a:xfrm>
          <a:prstGeom prst="roundRect">
            <a:avLst>
              <a:gd name="adj" fmla="val 6681"/>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pic>
        <p:nvPicPr>
          <p:cNvPr id="4" name="Picture 4" descr="Powering The Future of Global Trade: Coupa Introduces Next-Generation  Agentic AI to Accelerate Autonomous Spend Management Vision">
            <a:extLst>
              <a:ext uri="{FF2B5EF4-FFF2-40B4-BE49-F238E27FC236}">
                <a16:creationId xmlns:a16="http://schemas.microsoft.com/office/drawing/2014/main" id="{A1E79954-7AE4-487D-568F-8E75B34448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633" y="2457557"/>
            <a:ext cx="620138" cy="3255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5AF63C1-3C7F-A999-4FFE-1D3D4116AD9F}"/>
              </a:ext>
            </a:extLst>
          </p:cNvPr>
          <p:cNvSpPr txBox="1"/>
          <p:nvPr/>
        </p:nvSpPr>
        <p:spPr>
          <a:xfrm>
            <a:off x="634257" y="2085288"/>
            <a:ext cx="1102468" cy="261610"/>
          </a:xfrm>
          <a:prstGeom prst="rect">
            <a:avLst/>
          </a:prstGeom>
          <a:noFill/>
        </p:spPr>
        <p:txBody>
          <a:bodyPr wrap="square" rtlCol="0">
            <a:spAutoFit/>
          </a:bodyPr>
          <a:lstStyle/>
          <a:p>
            <a:pPr algn="ctr"/>
            <a:r>
              <a:rPr lang="en-US" sz="1100" b="1" dirty="0"/>
              <a:t>Data Sources</a:t>
            </a:r>
            <a:endParaRPr lang="en-IN" sz="1100" b="1" dirty="0"/>
          </a:p>
        </p:txBody>
      </p:sp>
      <p:sp>
        <p:nvSpPr>
          <p:cNvPr id="6" name="Rectangle: Rounded Corners 5">
            <a:extLst>
              <a:ext uri="{FF2B5EF4-FFF2-40B4-BE49-F238E27FC236}">
                <a16:creationId xmlns:a16="http://schemas.microsoft.com/office/drawing/2014/main" id="{34879D3C-499D-82AA-A945-9D970DF2095E}"/>
              </a:ext>
            </a:extLst>
          </p:cNvPr>
          <p:cNvSpPr/>
          <p:nvPr/>
        </p:nvSpPr>
        <p:spPr>
          <a:xfrm>
            <a:off x="2795081" y="2872578"/>
            <a:ext cx="810640" cy="1141379"/>
          </a:xfrm>
          <a:prstGeom prst="roundRect">
            <a:avLst>
              <a:gd name="adj" fmla="val 6681"/>
            </a:avLst>
          </a:prstGeom>
          <a:ln>
            <a:prstDash val="sysDash"/>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F61957CF-F697-BCEF-321B-A810EE846790}"/>
              </a:ext>
            </a:extLst>
          </p:cNvPr>
          <p:cNvSpPr txBox="1"/>
          <p:nvPr/>
        </p:nvSpPr>
        <p:spPr>
          <a:xfrm>
            <a:off x="2439074" y="2627779"/>
            <a:ext cx="1494139" cy="253916"/>
          </a:xfrm>
          <a:prstGeom prst="rect">
            <a:avLst/>
          </a:prstGeom>
          <a:noFill/>
        </p:spPr>
        <p:txBody>
          <a:bodyPr wrap="square" rtlCol="0">
            <a:spAutoFit/>
          </a:bodyPr>
          <a:lstStyle/>
          <a:p>
            <a:pPr algn="ctr"/>
            <a:r>
              <a:rPr lang="en-US" sz="1050" b="1" dirty="0"/>
              <a:t>Connection Type</a:t>
            </a:r>
            <a:endParaRPr lang="en-IN" sz="1050" b="1" dirty="0"/>
          </a:p>
        </p:txBody>
      </p:sp>
      <p:pic>
        <p:nvPicPr>
          <p:cNvPr id="8" name="Picture 7">
            <a:extLst>
              <a:ext uri="{FF2B5EF4-FFF2-40B4-BE49-F238E27FC236}">
                <a16:creationId xmlns:a16="http://schemas.microsoft.com/office/drawing/2014/main" id="{698D5BBF-85E5-13BD-43E6-39D47050A5C2}"/>
              </a:ext>
            </a:extLst>
          </p:cNvPr>
          <p:cNvPicPr>
            <a:picLocks noChangeAspect="1"/>
          </p:cNvPicPr>
          <p:nvPr/>
        </p:nvPicPr>
        <p:blipFill>
          <a:blip r:embed="rId3"/>
          <a:stretch>
            <a:fillRect/>
          </a:stretch>
        </p:blipFill>
        <p:spPr>
          <a:xfrm>
            <a:off x="3015265" y="2955616"/>
            <a:ext cx="341755" cy="341755"/>
          </a:xfrm>
          <a:prstGeom prst="rect">
            <a:avLst/>
          </a:prstGeom>
        </p:spPr>
      </p:pic>
      <p:pic>
        <p:nvPicPr>
          <p:cNvPr id="9" name="Picture 8">
            <a:extLst>
              <a:ext uri="{FF2B5EF4-FFF2-40B4-BE49-F238E27FC236}">
                <a16:creationId xmlns:a16="http://schemas.microsoft.com/office/drawing/2014/main" id="{0634724D-FCBE-95C5-F3FB-D3CA0F69A3E3}"/>
              </a:ext>
            </a:extLst>
          </p:cNvPr>
          <p:cNvPicPr>
            <a:picLocks noChangeAspect="1"/>
          </p:cNvPicPr>
          <p:nvPr/>
        </p:nvPicPr>
        <p:blipFill>
          <a:blip r:embed="rId4"/>
          <a:stretch>
            <a:fillRect/>
          </a:stretch>
        </p:blipFill>
        <p:spPr>
          <a:xfrm>
            <a:off x="3015265" y="3519608"/>
            <a:ext cx="341755" cy="341755"/>
          </a:xfrm>
          <a:prstGeom prst="rect">
            <a:avLst/>
          </a:prstGeom>
        </p:spPr>
      </p:pic>
      <p:sp>
        <p:nvSpPr>
          <p:cNvPr id="10" name="TextBox 9">
            <a:extLst>
              <a:ext uri="{FF2B5EF4-FFF2-40B4-BE49-F238E27FC236}">
                <a16:creationId xmlns:a16="http://schemas.microsoft.com/office/drawing/2014/main" id="{CF204681-AA53-EB35-06FE-8816F506AB13}"/>
              </a:ext>
            </a:extLst>
          </p:cNvPr>
          <p:cNvSpPr txBox="1"/>
          <p:nvPr/>
        </p:nvSpPr>
        <p:spPr>
          <a:xfrm>
            <a:off x="2795081" y="3240056"/>
            <a:ext cx="810640" cy="230832"/>
          </a:xfrm>
          <a:prstGeom prst="rect">
            <a:avLst/>
          </a:prstGeom>
          <a:noFill/>
        </p:spPr>
        <p:txBody>
          <a:bodyPr wrap="square" rtlCol="0">
            <a:spAutoFit/>
          </a:bodyPr>
          <a:lstStyle/>
          <a:p>
            <a:pPr algn="ctr"/>
            <a:r>
              <a:rPr lang="en-US" sz="900" dirty="0"/>
              <a:t>Rest API</a:t>
            </a:r>
            <a:endParaRPr lang="en-IN" sz="900" dirty="0"/>
          </a:p>
        </p:txBody>
      </p:sp>
      <p:sp>
        <p:nvSpPr>
          <p:cNvPr id="11" name="TextBox 10">
            <a:extLst>
              <a:ext uri="{FF2B5EF4-FFF2-40B4-BE49-F238E27FC236}">
                <a16:creationId xmlns:a16="http://schemas.microsoft.com/office/drawing/2014/main" id="{F0F53C69-F19E-5874-9788-A7DBE042C8C1}"/>
              </a:ext>
            </a:extLst>
          </p:cNvPr>
          <p:cNvSpPr txBox="1"/>
          <p:nvPr/>
        </p:nvSpPr>
        <p:spPr>
          <a:xfrm>
            <a:off x="2780822" y="3826940"/>
            <a:ext cx="810640" cy="230832"/>
          </a:xfrm>
          <a:prstGeom prst="rect">
            <a:avLst/>
          </a:prstGeom>
          <a:noFill/>
        </p:spPr>
        <p:txBody>
          <a:bodyPr wrap="square" rtlCol="0">
            <a:spAutoFit/>
          </a:bodyPr>
          <a:lstStyle/>
          <a:p>
            <a:pPr algn="ctr"/>
            <a:r>
              <a:rPr lang="en-US" sz="900" dirty="0"/>
              <a:t>ODBC</a:t>
            </a:r>
            <a:endParaRPr lang="en-IN" sz="900" dirty="0"/>
          </a:p>
        </p:txBody>
      </p:sp>
      <p:sp>
        <p:nvSpPr>
          <p:cNvPr id="12" name="Right Brace 11">
            <a:extLst>
              <a:ext uri="{FF2B5EF4-FFF2-40B4-BE49-F238E27FC236}">
                <a16:creationId xmlns:a16="http://schemas.microsoft.com/office/drawing/2014/main" id="{3F75F5CD-ABA7-8247-B98A-EFC5FDEFD067}"/>
              </a:ext>
            </a:extLst>
          </p:cNvPr>
          <p:cNvSpPr/>
          <p:nvPr/>
        </p:nvSpPr>
        <p:spPr>
          <a:xfrm>
            <a:off x="1999880" y="2627779"/>
            <a:ext cx="81872" cy="1172228"/>
          </a:xfrm>
          <a:prstGeom prst="rightBrace">
            <a:avLst/>
          </a:prstGeom>
          <a:ln w="952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cxnSp>
        <p:nvCxnSpPr>
          <p:cNvPr id="13" name="Straight Arrow Connector 12">
            <a:extLst>
              <a:ext uri="{FF2B5EF4-FFF2-40B4-BE49-F238E27FC236}">
                <a16:creationId xmlns:a16="http://schemas.microsoft.com/office/drawing/2014/main" id="{EC6CC088-8B21-A217-C899-681A4808B49B}"/>
              </a:ext>
            </a:extLst>
          </p:cNvPr>
          <p:cNvCxnSpPr>
            <a:cxnSpLocks/>
            <a:stCxn id="12" idx="1"/>
            <a:endCxn id="8" idx="1"/>
          </p:cNvCxnSpPr>
          <p:nvPr/>
        </p:nvCxnSpPr>
        <p:spPr>
          <a:xfrm flipV="1">
            <a:off x="2081752" y="3126494"/>
            <a:ext cx="933513" cy="873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8CC9F4BD-B0F1-C87C-6DFC-C96CC16B9629}"/>
              </a:ext>
            </a:extLst>
          </p:cNvPr>
          <p:cNvSpPr/>
          <p:nvPr/>
        </p:nvSpPr>
        <p:spPr>
          <a:xfrm>
            <a:off x="4568758" y="2729906"/>
            <a:ext cx="810640" cy="1413753"/>
          </a:xfrm>
          <a:prstGeom prst="roundRect">
            <a:avLst>
              <a:gd name="adj" fmla="val 6681"/>
            </a:avLst>
          </a:prstGeom>
          <a:ln>
            <a:prstDash val="sysDash"/>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15" name="TextBox 14">
            <a:extLst>
              <a:ext uri="{FF2B5EF4-FFF2-40B4-BE49-F238E27FC236}">
                <a16:creationId xmlns:a16="http://schemas.microsoft.com/office/drawing/2014/main" id="{7E052DFF-B500-320D-7666-3E662859F407}"/>
              </a:ext>
            </a:extLst>
          </p:cNvPr>
          <p:cNvSpPr txBox="1"/>
          <p:nvPr/>
        </p:nvSpPr>
        <p:spPr>
          <a:xfrm>
            <a:off x="4212751" y="2423163"/>
            <a:ext cx="1494139" cy="253916"/>
          </a:xfrm>
          <a:prstGeom prst="rect">
            <a:avLst/>
          </a:prstGeom>
          <a:noFill/>
        </p:spPr>
        <p:txBody>
          <a:bodyPr wrap="square" rtlCol="0">
            <a:spAutoFit/>
          </a:bodyPr>
          <a:lstStyle/>
          <a:p>
            <a:pPr algn="ctr"/>
            <a:r>
              <a:rPr lang="en-US" sz="1050" b="1" dirty="0"/>
              <a:t>Middleware</a:t>
            </a:r>
            <a:endParaRPr lang="en-IN" sz="1050" b="1" dirty="0"/>
          </a:p>
        </p:txBody>
      </p:sp>
      <p:cxnSp>
        <p:nvCxnSpPr>
          <p:cNvPr id="16" name="Straight Arrow Connector 15">
            <a:extLst>
              <a:ext uri="{FF2B5EF4-FFF2-40B4-BE49-F238E27FC236}">
                <a16:creationId xmlns:a16="http://schemas.microsoft.com/office/drawing/2014/main" id="{859872DC-2B7E-269E-5D7D-80450F7A397A}"/>
              </a:ext>
            </a:extLst>
          </p:cNvPr>
          <p:cNvCxnSpPr>
            <a:cxnSpLocks/>
            <a:stCxn id="6" idx="3"/>
            <a:endCxn id="14" idx="1"/>
          </p:cNvCxnSpPr>
          <p:nvPr/>
        </p:nvCxnSpPr>
        <p:spPr>
          <a:xfrm flipV="1">
            <a:off x="3605721" y="3436783"/>
            <a:ext cx="963037" cy="64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7" name="Picture 16">
            <a:extLst>
              <a:ext uri="{FF2B5EF4-FFF2-40B4-BE49-F238E27FC236}">
                <a16:creationId xmlns:a16="http://schemas.microsoft.com/office/drawing/2014/main" id="{774E15A2-79E6-1CD3-B969-CAE24E24AA45}"/>
              </a:ext>
            </a:extLst>
          </p:cNvPr>
          <p:cNvPicPr>
            <a:picLocks noChangeAspect="1"/>
          </p:cNvPicPr>
          <p:nvPr/>
        </p:nvPicPr>
        <p:blipFill>
          <a:blip r:embed="rId5"/>
          <a:stretch>
            <a:fillRect/>
          </a:stretch>
        </p:blipFill>
        <p:spPr>
          <a:xfrm>
            <a:off x="3958835" y="2986140"/>
            <a:ext cx="253916" cy="253916"/>
          </a:xfrm>
          <a:prstGeom prst="rect">
            <a:avLst/>
          </a:prstGeom>
        </p:spPr>
      </p:pic>
      <p:pic>
        <p:nvPicPr>
          <p:cNvPr id="47" name="Graphic 46" descr="Key with solid fill">
            <a:extLst>
              <a:ext uri="{FF2B5EF4-FFF2-40B4-BE49-F238E27FC236}">
                <a16:creationId xmlns:a16="http://schemas.microsoft.com/office/drawing/2014/main" id="{1CFCE878-ECB1-DB41-DD06-E76D1CCBA63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22680" y="3470888"/>
            <a:ext cx="329119" cy="329119"/>
          </a:xfrm>
          <a:prstGeom prst="rect">
            <a:avLst/>
          </a:prstGeom>
        </p:spPr>
      </p:pic>
      <p:sp>
        <p:nvSpPr>
          <p:cNvPr id="48" name="TextBox 47">
            <a:extLst>
              <a:ext uri="{FF2B5EF4-FFF2-40B4-BE49-F238E27FC236}">
                <a16:creationId xmlns:a16="http://schemas.microsoft.com/office/drawing/2014/main" id="{E3F8A9A4-990F-3EB4-CC6E-688772F061F1}"/>
              </a:ext>
            </a:extLst>
          </p:cNvPr>
          <p:cNvSpPr txBox="1"/>
          <p:nvPr/>
        </p:nvSpPr>
        <p:spPr>
          <a:xfrm>
            <a:off x="3657601" y="3240056"/>
            <a:ext cx="810640" cy="230832"/>
          </a:xfrm>
          <a:prstGeom prst="rect">
            <a:avLst/>
          </a:prstGeom>
          <a:noFill/>
        </p:spPr>
        <p:txBody>
          <a:bodyPr wrap="square" rtlCol="0">
            <a:spAutoFit/>
          </a:bodyPr>
          <a:lstStyle/>
          <a:p>
            <a:pPr algn="ctr"/>
            <a:r>
              <a:rPr lang="en-US" sz="900" dirty="0"/>
              <a:t>OAuth 2.0</a:t>
            </a:r>
            <a:endParaRPr lang="en-IN" sz="900" dirty="0"/>
          </a:p>
        </p:txBody>
      </p:sp>
      <p:sp>
        <p:nvSpPr>
          <p:cNvPr id="49" name="TextBox 48">
            <a:extLst>
              <a:ext uri="{FF2B5EF4-FFF2-40B4-BE49-F238E27FC236}">
                <a16:creationId xmlns:a16="http://schemas.microsoft.com/office/drawing/2014/main" id="{AB844FF9-467D-83CA-09B3-B5C522A9A852}"/>
              </a:ext>
            </a:extLst>
          </p:cNvPr>
          <p:cNvSpPr txBox="1"/>
          <p:nvPr/>
        </p:nvSpPr>
        <p:spPr>
          <a:xfrm>
            <a:off x="3680473" y="3711524"/>
            <a:ext cx="810640" cy="230832"/>
          </a:xfrm>
          <a:prstGeom prst="rect">
            <a:avLst/>
          </a:prstGeom>
          <a:noFill/>
        </p:spPr>
        <p:txBody>
          <a:bodyPr wrap="square" rtlCol="0">
            <a:spAutoFit/>
          </a:bodyPr>
          <a:lstStyle/>
          <a:p>
            <a:pPr algn="ctr"/>
            <a:r>
              <a:rPr lang="en-US" sz="900" dirty="0"/>
              <a:t>Credentials</a:t>
            </a:r>
            <a:endParaRPr lang="en-IN" sz="900" dirty="0"/>
          </a:p>
        </p:txBody>
      </p:sp>
      <p:pic>
        <p:nvPicPr>
          <p:cNvPr id="50" name="Picture 6" descr="fivetran-logo-blue-rgb - The Analytics Power Hour: Data and ...">
            <a:extLst>
              <a:ext uri="{FF2B5EF4-FFF2-40B4-BE49-F238E27FC236}">
                <a16:creationId xmlns:a16="http://schemas.microsoft.com/office/drawing/2014/main" id="{5B204ACE-322E-20B4-3CFA-54D4EF1EA4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3073" y="2908856"/>
            <a:ext cx="677694" cy="188248"/>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8" descr="Workato - Wikipedia">
            <a:extLst>
              <a:ext uri="{FF2B5EF4-FFF2-40B4-BE49-F238E27FC236}">
                <a16:creationId xmlns:a16="http://schemas.microsoft.com/office/drawing/2014/main" id="{996DAE6C-2512-E65A-F1F3-A2056C426C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69275" y="3075910"/>
            <a:ext cx="635614" cy="635614"/>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10" descr="Postman SVG and transparent PNG icons | TechIcons">
            <a:extLst>
              <a:ext uri="{FF2B5EF4-FFF2-40B4-BE49-F238E27FC236}">
                <a16:creationId xmlns:a16="http://schemas.microsoft.com/office/drawing/2014/main" id="{B62FAEB1-DA35-8D8F-B7B6-05242768660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8072" y="3757123"/>
            <a:ext cx="370466" cy="370466"/>
          </a:xfrm>
          <a:prstGeom prst="rect">
            <a:avLst/>
          </a:prstGeom>
          <a:noFill/>
          <a:extLst>
            <a:ext uri="{909E8E84-426E-40DD-AFC4-6F175D3DCCD1}">
              <a14:hiddenFill xmlns:a14="http://schemas.microsoft.com/office/drawing/2010/main">
                <a:solidFill>
                  <a:srgbClr val="FFFFFF"/>
                </a:solidFill>
              </a14:hiddenFill>
            </a:ext>
          </a:extLst>
        </p:spPr>
      </p:pic>
      <p:grpSp>
        <p:nvGrpSpPr>
          <p:cNvPr id="63" name="Group 62">
            <a:extLst>
              <a:ext uri="{FF2B5EF4-FFF2-40B4-BE49-F238E27FC236}">
                <a16:creationId xmlns:a16="http://schemas.microsoft.com/office/drawing/2014/main" id="{EFC98957-B6C7-94A0-0DC5-5080A5136245}"/>
              </a:ext>
            </a:extLst>
          </p:cNvPr>
          <p:cNvGrpSpPr/>
          <p:nvPr/>
        </p:nvGrpSpPr>
        <p:grpSpPr>
          <a:xfrm>
            <a:off x="5570253" y="2884425"/>
            <a:ext cx="490540" cy="552357"/>
            <a:chOff x="5856057" y="2359469"/>
            <a:chExt cx="490540" cy="552357"/>
          </a:xfrm>
        </p:grpSpPr>
        <p:pic>
          <p:nvPicPr>
            <p:cNvPr id="65" name="Graphic 64" descr="Database with solid fill">
              <a:extLst>
                <a:ext uri="{FF2B5EF4-FFF2-40B4-BE49-F238E27FC236}">
                  <a16:creationId xmlns:a16="http://schemas.microsoft.com/office/drawing/2014/main" id="{34ECDB2A-5B3C-945A-94E3-23083ADAD5D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56057" y="2359469"/>
              <a:ext cx="382622" cy="382622"/>
            </a:xfrm>
            <a:prstGeom prst="rect">
              <a:avLst/>
            </a:prstGeom>
          </p:spPr>
        </p:pic>
        <p:pic>
          <p:nvPicPr>
            <p:cNvPr id="67" name="Graphic 66" descr="Repeat outline">
              <a:extLst>
                <a:ext uri="{FF2B5EF4-FFF2-40B4-BE49-F238E27FC236}">
                  <a16:creationId xmlns:a16="http://schemas.microsoft.com/office/drawing/2014/main" id="{B4A5A6B0-CB9F-47DA-010B-5C0904EEC04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025642" y="2590871"/>
              <a:ext cx="320955" cy="320955"/>
            </a:xfrm>
            <a:prstGeom prst="rect">
              <a:avLst/>
            </a:prstGeom>
          </p:spPr>
        </p:pic>
      </p:grpSp>
      <p:pic>
        <p:nvPicPr>
          <p:cNvPr id="68" name="Picture 67">
            <a:extLst>
              <a:ext uri="{FF2B5EF4-FFF2-40B4-BE49-F238E27FC236}">
                <a16:creationId xmlns:a16="http://schemas.microsoft.com/office/drawing/2014/main" id="{D0EB31DE-F01D-9A4F-3DAC-28056A7B4E66}"/>
              </a:ext>
            </a:extLst>
          </p:cNvPr>
          <p:cNvPicPr>
            <a:picLocks noChangeAspect="1"/>
          </p:cNvPicPr>
          <p:nvPr/>
        </p:nvPicPr>
        <p:blipFill>
          <a:blip r:embed="rId15"/>
          <a:srcRect l="17225" t="7155" r="17225" b="7411"/>
          <a:stretch>
            <a:fillRect/>
          </a:stretch>
        </p:blipFill>
        <p:spPr>
          <a:xfrm>
            <a:off x="6251648" y="2169590"/>
            <a:ext cx="1932562" cy="2518820"/>
          </a:xfrm>
          <a:prstGeom prst="rect">
            <a:avLst/>
          </a:prstGeom>
        </p:spPr>
      </p:pic>
      <p:pic>
        <p:nvPicPr>
          <p:cNvPr id="69" name="Graphic 68" descr="Table outline">
            <a:extLst>
              <a:ext uri="{FF2B5EF4-FFF2-40B4-BE49-F238E27FC236}">
                <a16:creationId xmlns:a16="http://schemas.microsoft.com/office/drawing/2014/main" id="{52A094A8-2319-B628-CA48-3454EB08410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894487" y="2982558"/>
            <a:ext cx="646889" cy="646889"/>
          </a:xfrm>
          <a:prstGeom prst="rect">
            <a:avLst/>
          </a:prstGeom>
        </p:spPr>
      </p:pic>
      <p:grpSp>
        <p:nvGrpSpPr>
          <p:cNvPr id="70" name="Group 69">
            <a:extLst>
              <a:ext uri="{FF2B5EF4-FFF2-40B4-BE49-F238E27FC236}">
                <a16:creationId xmlns:a16="http://schemas.microsoft.com/office/drawing/2014/main" id="{CD0D715D-7F66-76B9-A981-BF7F2E28ABD7}"/>
              </a:ext>
            </a:extLst>
          </p:cNvPr>
          <p:cNvGrpSpPr/>
          <p:nvPr/>
        </p:nvGrpSpPr>
        <p:grpSpPr>
          <a:xfrm>
            <a:off x="6894487" y="3648515"/>
            <a:ext cx="879869" cy="717382"/>
            <a:chOff x="7622131" y="3224724"/>
            <a:chExt cx="879869" cy="717382"/>
          </a:xfrm>
        </p:grpSpPr>
        <p:pic>
          <p:nvPicPr>
            <p:cNvPr id="71" name="Graphic 70" descr="Eye outline">
              <a:extLst>
                <a:ext uri="{FF2B5EF4-FFF2-40B4-BE49-F238E27FC236}">
                  <a16:creationId xmlns:a16="http://schemas.microsoft.com/office/drawing/2014/main" id="{C4669CE2-FB21-8140-DC25-804DBF3BB756}"/>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093448" y="3224724"/>
              <a:ext cx="408552" cy="408552"/>
            </a:xfrm>
            <a:prstGeom prst="rect">
              <a:avLst/>
            </a:prstGeom>
          </p:spPr>
        </p:pic>
        <p:pic>
          <p:nvPicPr>
            <p:cNvPr id="72" name="Graphic 71" descr="Table outline">
              <a:extLst>
                <a:ext uri="{FF2B5EF4-FFF2-40B4-BE49-F238E27FC236}">
                  <a16:creationId xmlns:a16="http://schemas.microsoft.com/office/drawing/2014/main" id="{43F2B463-2978-D69E-E2BE-5981DF2CC11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622131" y="3295217"/>
              <a:ext cx="646889" cy="646889"/>
            </a:xfrm>
            <a:prstGeom prst="rect">
              <a:avLst/>
            </a:prstGeom>
          </p:spPr>
        </p:pic>
      </p:grpSp>
      <p:pic>
        <p:nvPicPr>
          <p:cNvPr id="73" name="Picture 12">
            <a:extLst>
              <a:ext uri="{FF2B5EF4-FFF2-40B4-BE49-F238E27FC236}">
                <a16:creationId xmlns:a16="http://schemas.microsoft.com/office/drawing/2014/main" id="{95C76361-476B-39B4-1D8C-196D7C76748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659795" y="2474609"/>
            <a:ext cx="1114561" cy="267320"/>
          </a:xfrm>
          <a:prstGeom prst="rect">
            <a:avLst/>
          </a:prstGeom>
          <a:noFill/>
          <a:extLst>
            <a:ext uri="{909E8E84-426E-40DD-AFC4-6F175D3DCCD1}">
              <a14:hiddenFill xmlns:a14="http://schemas.microsoft.com/office/drawing/2010/main">
                <a:solidFill>
                  <a:srgbClr val="FFFFFF"/>
                </a:solidFill>
              </a14:hiddenFill>
            </a:ext>
          </a:extLst>
        </p:spPr>
      </p:pic>
      <p:cxnSp>
        <p:nvCxnSpPr>
          <p:cNvPr id="74" name="Straight Arrow Connector 73">
            <a:extLst>
              <a:ext uri="{FF2B5EF4-FFF2-40B4-BE49-F238E27FC236}">
                <a16:creationId xmlns:a16="http://schemas.microsoft.com/office/drawing/2014/main" id="{6C974D23-504B-57F0-1ABC-292B21BF2BED}"/>
              </a:ext>
            </a:extLst>
          </p:cNvPr>
          <p:cNvCxnSpPr>
            <a:cxnSpLocks/>
            <a:stCxn id="14" idx="3"/>
            <a:endCxn id="68" idx="1"/>
          </p:cNvCxnSpPr>
          <p:nvPr/>
        </p:nvCxnSpPr>
        <p:spPr>
          <a:xfrm flipV="1">
            <a:off x="5379398" y="3429000"/>
            <a:ext cx="872250" cy="7783"/>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480114AF-BB27-841B-E504-A5BF8FB32463}"/>
              </a:ext>
            </a:extLst>
          </p:cNvPr>
          <p:cNvCxnSpPr>
            <a:cxnSpLocks/>
            <a:stCxn id="68" idx="3"/>
            <a:endCxn id="76" idx="1"/>
          </p:cNvCxnSpPr>
          <p:nvPr/>
        </p:nvCxnSpPr>
        <p:spPr>
          <a:xfrm>
            <a:off x="8184210" y="3429000"/>
            <a:ext cx="502600" cy="77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6" name="Rectangle: Rounded Corners 75">
            <a:extLst>
              <a:ext uri="{FF2B5EF4-FFF2-40B4-BE49-F238E27FC236}">
                <a16:creationId xmlns:a16="http://schemas.microsoft.com/office/drawing/2014/main" id="{867C6AE3-F416-D776-B40A-970048540417}"/>
              </a:ext>
            </a:extLst>
          </p:cNvPr>
          <p:cNvSpPr/>
          <p:nvPr/>
        </p:nvSpPr>
        <p:spPr>
          <a:xfrm>
            <a:off x="8686810" y="2343848"/>
            <a:ext cx="1064842" cy="2185868"/>
          </a:xfrm>
          <a:prstGeom prst="roundRect">
            <a:avLst>
              <a:gd name="adj" fmla="val 6681"/>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77" name="TextBox 76">
            <a:extLst>
              <a:ext uri="{FF2B5EF4-FFF2-40B4-BE49-F238E27FC236}">
                <a16:creationId xmlns:a16="http://schemas.microsoft.com/office/drawing/2014/main" id="{2A760F19-2DB3-1F1F-B8C6-1D5EDDF0D8BB}"/>
              </a:ext>
            </a:extLst>
          </p:cNvPr>
          <p:cNvSpPr txBox="1"/>
          <p:nvPr/>
        </p:nvSpPr>
        <p:spPr>
          <a:xfrm>
            <a:off x="8667997" y="2083538"/>
            <a:ext cx="1102468" cy="261610"/>
          </a:xfrm>
          <a:prstGeom prst="rect">
            <a:avLst/>
          </a:prstGeom>
          <a:noFill/>
        </p:spPr>
        <p:txBody>
          <a:bodyPr wrap="square" rtlCol="0">
            <a:spAutoFit/>
          </a:bodyPr>
          <a:lstStyle/>
          <a:p>
            <a:pPr algn="ctr"/>
            <a:r>
              <a:rPr lang="en-US" sz="1100" b="1" dirty="0"/>
              <a:t>AI/BI Mart</a:t>
            </a:r>
            <a:endParaRPr lang="en-IN" sz="1100" b="1" dirty="0"/>
          </a:p>
        </p:txBody>
      </p:sp>
      <p:pic>
        <p:nvPicPr>
          <p:cNvPr id="78" name="Picture 77">
            <a:extLst>
              <a:ext uri="{FF2B5EF4-FFF2-40B4-BE49-F238E27FC236}">
                <a16:creationId xmlns:a16="http://schemas.microsoft.com/office/drawing/2014/main" id="{A9891FB8-3FE5-41CB-DAB8-54327C0B7EE9}"/>
              </a:ext>
            </a:extLst>
          </p:cNvPr>
          <p:cNvPicPr>
            <a:picLocks noChangeAspect="1"/>
          </p:cNvPicPr>
          <p:nvPr/>
        </p:nvPicPr>
        <p:blipFill>
          <a:blip r:embed="rId21"/>
          <a:stretch>
            <a:fillRect/>
          </a:stretch>
        </p:blipFill>
        <p:spPr>
          <a:xfrm>
            <a:off x="8995329" y="2427880"/>
            <a:ext cx="498397" cy="498397"/>
          </a:xfrm>
          <a:prstGeom prst="rect">
            <a:avLst/>
          </a:prstGeom>
        </p:spPr>
      </p:pic>
      <p:pic>
        <p:nvPicPr>
          <p:cNvPr id="79" name="Picture 78">
            <a:extLst>
              <a:ext uri="{FF2B5EF4-FFF2-40B4-BE49-F238E27FC236}">
                <a16:creationId xmlns:a16="http://schemas.microsoft.com/office/drawing/2014/main" id="{A7CB0B20-2F3D-96A9-5F6E-F3C175D909B4}"/>
              </a:ext>
            </a:extLst>
          </p:cNvPr>
          <p:cNvPicPr>
            <a:picLocks noChangeAspect="1"/>
          </p:cNvPicPr>
          <p:nvPr/>
        </p:nvPicPr>
        <p:blipFill>
          <a:blip r:embed="rId21"/>
          <a:stretch>
            <a:fillRect/>
          </a:stretch>
        </p:blipFill>
        <p:spPr>
          <a:xfrm>
            <a:off x="8995329" y="3126493"/>
            <a:ext cx="498397" cy="498397"/>
          </a:xfrm>
          <a:prstGeom prst="rect">
            <a:avLst/>
          </a:prstGeom>
        </p:spPr>
      </p:pic>
      <p:pic>
        <p:nvPicPr>
          <p:cNvPr id="80" name="Picture 79">
            <a:extLst>
              <a:ext uri="{FF2B5EF4-FFF2-40B4-BE49-F238E27FC236}">
                <a16:creationId xmlns:a16="http://schemas.microsoft.com/office/drawing/2014/main" id="{6C50521A-1202-2D3B-54B7-A86815368DA5}"/>
              </a:ext>
            </a:extLst>
          </p:cNvPr>
          <p:cNvPicPr>
            <a:picLocks noChangeAspect="1"/>
          </p:cNvPicPr>
          <p:nvPr/>
        </p:nvPicPr>
        <p:blipFill>
          <a:blip r:embed="rId21"/>
          <a:stretch>
            <a:fillRect/>
          </a:stretch>
        </p:blipFill>
        <p:spPr>
          <a:xfrm>
            <a:off x="8990305" y="3867500"/>
            <a:ext cx="498397" cy="498397"/>
          </a:xfrm>
          <a:prstGeom prst="rect">
            <a:avLst/>
          </a:prstGeom>
        </p:spPr>
      </p:pic>
      <p:sp>
        <p:nvSpPr>
          <p:cNvPr id="81" name="Rectangle: Rounded Corners 80">
            <a:extLst>
              <a:ext uri="{FF2B5EF4-FFF2-40B4-BE49-F238E27FC236}">
                <a16:creationId xmlns:a16="http://schemas.microsoft.com/office/drawing/2014/main" id="{2F6D0129-A7A4-6A25-6908-B80E3DE1A9E2}"/>
              </a:ext>
            </a:extLst>
          </p:cNvPr>
          <p:cNvSpPr/>
          <p:nvPr/>
        </p:nvSpPr>
        <p:spPr>
          <a:xfrm>
            <a:off x="10005891" y="2336066"/>
            <a:ext cx="1494139" cy="903990"/>
          </a:xfrm>
          <a:prstGeom prst="roundRect">
            <a:avLst>
              <a:gd name="adj" fmla="val 6681"/>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82" name="Rectangle: Rounded Corners 81">
            <a:extLst>
              <a:ext uri="{FF2B5EF4-FFF2-40B4-BE49-F238E27FC236}">
                <a16:creationId xmlns:a16="http://schemas.microsoft.com/office/drawing/2014/main" id="{19924C7D-C89C-7875-28B7-096222025E0D}"/>
              </a:ext>
            </a:extLst>
          </p:cNvPr>
          <p:cNvSpPr/>
          <p:nvPr/>
        </p:nvSpPr>
        <p:spPr>
          <a:xfrm>
            <a:off x="10005891" y="3590457"/>
            <a:ext cx="1494139" cy="903990"/>
          </a:xfrm>
          <a:prstGeom prst="roundRect">
            <a:avLst>
              <a:gd name="adj" fmla="val 6681"/>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83" name="TextBox 82">
            <a:extLst>
              <a:ext uri="{FF2B5EF4-FFF2-40B4-BE49-F238E27FC236}">
                <a16:creationId xmlns:a16="http://schemas.microsoft.com/office/drawing/2014/main" id="{C4F12C03-E839-C09F-8791-8234943375BC}"/>
              </a:ext>
            </a:extLst>
          </p:cNvPr>
          <p:cNvSpPr txBox="1"/>
          <p:nvPr/>
        </p:nvSpPr>
        <p:spPr>
          <a:xfrm>
            <a:off x="10005892" y="2067328"/>
            <a:ext cx="1494138" cy="261610"/>
          </a:xfrm>
          <a:prstGeom prst="rect">
            <a:avLst/>
          </a:prstGeom>
          <a:noFill/>
        </p:spPr>
        <p:txBody>
          <a:bodyPr wrap="square" rtlCol="0">
            <a:spAutoFit/>
          </a:bodyPr>
          <a:lstStyle/>
          <a:p>
            <a:pPr algn="ctr"/>
            <a:r>
              <a:rPr lang="en-US" sz="1100" b="1" dirty="0"/>
              <a:t>Reporting Layer</a:t>
            </a:r>
            <a:endParaRPr lang="en-IN" sz="1100" b="1" dirty="0"/>
          </a:p>
        </p:txBody>
      </p:sp>
      <p:sp>
        <p:nvSpPr>
          <p:cNvPr id="84" name="TextBox 83">
            <a:extLst>
              <a:ext uri="{FF2B5EF4-FFF2-40B4-BE49-F238E27FC236}">
                <a16:creationId xmlns:a16="http://schemas.microsoft.com/office/drawing/2014/main" id="{7E64B757-6DC9-A47E-B402-DF55F2CA6F9B}"/>
              </a:ext>
            </a:extLst>
          </p:cNvPr>
          <p:cNvSpPr txBox="1"/>
          <p:nvPr/>
        </p:nvSpPr>
        <p:spPr>
          <a:xfrm>
            <a:off x="10005892" y="3338814"/>
            <a:ext cx="1494138" cy="261610"/>
          </a:xfrm>
          <a:prstGeom prst="rect">
            <a:avLst/>
          </a:prstGeom>
          <a:noFill/>
        </p:spPr>
        <p:txBody>
          <a:bodyPr wrap="square" rtlCol="0">
            <a:spAutoFit/>
          </a:bodyPr>
          <a:lstStyle/>
          <a:p>
            <a:pPr algn="ctr"/>
            <a:r>
              <a:rPr lang="en-US" sz="1100" b="1" dirty="0"/>
              <a:t>AI/ML Model</a:t>
            </a:r>
            <a:endParaRPr lang="en-IN" sz="1100" b="1" dirty="0"/>
          </a:p>
        </p:txBody>
      </p:sp>
      <p:cxnSp>
        <p:nvCxnSpPr>
          <p:cNvPr id="85" name="Straight Arrow Connector 84">
            <a:extLst>
              <a:ext uri="{FF2B5EF4-FFF2-40B4-BE49-F238E27FC236}">
                <a16:creationId xmlns:a16="http://schemas.microsoft.com/office/drawing/2014/main" id="{CFA8D352-48AE-0E12-5F9D-34BB40E79431}"/>
              </a:ext>
            </a:extLst>
          </p:cNvPr>
          <p:cNvCxnSpPr>
            <a:cxnSpLocks/>
            <a:endCxn id="81" idx="1"/>
          </p:cNvCxnSpPr>
          <p:nvPr/>
        </p:nvCxnSpPr>
        <p:spPr>
          <a:xfrm>
            <a:off x="9770465" y="2788061"/>
            <a:ext cx="235426" cy="0"/>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29C1596D-6D2B-1EDB-C010-A0F3FBF70B6A}"/>
              </a:ext>
            </a:extLst>
          </p:cNvPr>
          <p:cNvCxnSpPr>
            <a:cxnSpLocks/>
          </p:cNvCxnSpPr>
          <p:nvPr/>
        </p:nvCxnSpPr>
        <p:spPr>
          <a:xfrm>
            <a:off x="9770465" y="4013957"/>
            <a:ext cx="235426" cy="0"/>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87" name="Picture 14" descr="GainOpsPowerBI | Data Visualization &amp; Power BI Solutions for CROs">
            <a:extLst>
              <a:ext uri="{FF2B5EF4-FFF2-40B4-BE49-F238E27FC236}">
                <a16:creationId xmlns:a16="http://schemas.microsoft.com/office/drawing/2014/main" id="{C328528A-0C2C-25CD-D310-A95A86A7016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247757" y="2423163"/>
            <a:ext cx="977966" cy="259390"/>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16">
            <a:extLst>
              <a:ext uri="{FF2B5EF4-FFF2-40B4-BE49-F238E27FC236}">
                <a16:creationId xmlns:a16="http://schemas.microsoft.com/office/drawing/2014/main" id="{474460B9-9238-2B1C-43E6-9B1E9200AD2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085313" y="2783129"/>
            <a:ext cx="549323" cy="384553"/>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18" descr="Tableau Logo, symbol, meaning, history, PNG, brand">
            <a:extLst>
              <a:ext uri="{FF2B5EF4-FFF2-40B4-BE49-F238E27FC236}">
                <a16:creationId xmlns:a16="http://schemas.microsoft.com/office/drawing/2014/main" id="{AE6C5762-8880-989F-0E5B-EE295411EAA2}"/>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714058" y="2788061"/>
            <a:ext cx="664072" cy="373540"/>
          </a:xfrm>
          <a:prstGeom prst="rect">
            <a:avLst/>
          </a:prstGeom>
          <a:noFill/>
          <a:extLst>
            <a:ext uri="{909E8E84-426E-40DD-AFC4-6F175D3DCCD1}">
              <a14:hiddenFill xmlns:a14="http://schemas.microsoft.com/office/drawing/2010/main">
                <a:solidFill>
                  <a:srgbClr val="FFFFFF"/>
                </a:solidFill>
              </a14:hiddenFill>
            </a:ext>
          </a:extLst>
        </p:spPr>
      </p:pic>
      <p:sp>
        <p:nvSpPr>
          <p:cNvPr id="90" name="TextBox 89">
            <a:extLst>
              <a:ext uri="{FF2B5EF4-FFF2-40B4-BE49-F238E27FC236}">
                <a16:creationId xmlns:a16="http://schemas.microsoft.com/office/drawing/2014/main" id="{A82320D1-FE76-DB5D-1AE3-A958386586C6}"/>
              </a:ext>
            </a:extLst>
          </p:cNvPr>
          <p:cNvSpPr txBox="1"/>
          <p:nvPr/>
        </p:nvSpPr>
        <p:spPr>
          <a:xfrm>
            <a:off x="5405406" y="3459653"/>
            <a:ext cx="887288" cy="230832"/>
          </a:xfrm>
          <a:prstGeom prst="rect">
            <a:avLst/>
          </a:prstGeom>
          <a:noFill/>
        </p:spPr>
        <p:txBody>
          <a:bodyPr wrap="square" rtlCol="0">
            <a:spAutoFit/>
          </a:bodyPr>
          <a:lstStyle/>
          <a:p>
            <a:pPr algn="ctr"/>
            <a:r>
              <a:rPr lang="en-US" sz="900" dirty="0"/>
              <a:t>Data Refresh</a:t>
            </a:r>
            <a:endParaRPr lang="en-IN" sz="900" dirty="0"/>
          </a:p>
        </p:txBody>
      </p:sp>
      <p:pic>
        <p:nvPicPr>
          <p:cNvPr id="91" name="Picture 20" descr="UKG Ready Background Check">
            <a:extLst>
              <a:ext uri="{FF2B5EF4-FFF2-40B4-BE49-F238E27FC236}">
                <a16:creationId xmlns:a16="http://schemas.microsoft.com/office/drawing/2014/main" id="{F12318E3-15C7-F31F-40A5-CD45ADEC24E0}"/>
              </a:ext>
            </a:extLst>
          </p:cNvPr>
          <p:cNvPicPr>
            <a:picLocks noChangeAspect="1" noChangeArrowheads="1"/>
          </p:cNvPicPr>
          <p:nvPr/>
        </p:nvPicPr>
        <p:blipFill rotWithShape="1">
          <a:blip r:embed="rId25">
            <a:extLst>
              <a:ext uri="{28A0092B-C50C-407E-A947-70E740481C1C}">
                <a14:useLocalDpi xmlns:a14="http://schemas.microsoft.com/office/drawing/2010/main" val="0"/>
              </a:ext>
            </a:extLst>
          </a:blip>
          <a:srcRect l="15492" t="32534" r="15248" b="38097"/>
          <a:stretch>
            <a:fillRect/>
          </a:stretch>
        </p:blipFill>
        <p:spPr bwMode="auto">
          <a:xfrm>
            <a:off x="532680" y="2774439"/>
            <a:ext cx="1224181" cy="196278"/>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16">
            <a:extLst>
              <a:ext uri="{FF2B5EF4-FFF2-40B4-BE49-F238E27FC236}">
                <a16:creationId xmlns:a16="http://schemas.microsoft.com/office/drawing/2014/main" id="{E5F5A649-0456-9323-AC3C-4C4540DC1DB0}"/>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97968" y="2447845"/>
            <a:ext cx="422374" cy="295682"/>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92">
            <a:extLst>
              <a:ext uri="{FF2B5EF4-FFF2-40B4-BE49-F238E27FC236}">
                <a16:creationId xmlns:a16="http://schemas.microsoft.com/office/drawing/2014/main" id="{9463CB99-5839-C2C5-1C22-DBA2E47556E4}"/>
              </a:ext>
            </a:extLst>
          </p:cNvPr>
          <p:cNvPicPr>
            <a:picLocks noChangeAspect="1"/>
          </p:cNvPicPr>
          <p:nvPr/>
        </p:nvPicPr>
        <p:blipFill>
          <a:blip r:embed="rId26"/>
          <a:stretch>
            <a:fillRect/>
          </a:stretch>
        </p:blipFill>
        <p:spPr>
          <a:xfrm>
            <a:off x="557773" y="3129769"/>
            <a:ext cx="400062" cy="352466"/>
          </a:xfrm>
          <a:prstGeom prst="rect">
            <a:avLst/>
          </a:prstGeom>
        </p:spPr>
      </p:pic>
      <p:pic>
        <p:nvPicPr>
          <p:cNvPr id="94" name="Picture 24" descr="Cloud-Based Medical Practice Software | CollaborateMD">
            <a:extLst>
              <a:ext uri="{FF2B5EF4-FFF2-40B4-BE49-F238E27FC236}">
                <a16:creationId xmlns:a16="http://schemas.microsoft.com/office/drawing/2014/main" id="{D4F51FFF-B296-1C2B-E9F0-3F2A1ABB2F76}"/>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18109" y="3544740"/>
            <a:ext cx="887295" cy="291490"/>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6" descr="Mental Health EHR &amp; Practice Management Software | Ensora Health">
            <a:extLst>
              <a:ext uri="{FF2B5EF4-FFF2-40B4-BE49-F238E27FC236}">
                <a16:creationId xmlns:a16="http://schemas.microsoft.com/office/drawing/2014/main" id="{D82E3443-BA0D-BF1D-D241-A9FA83FF1175}"/>
              </a:ext>
            </a:extLst>
          </p:cNvPr>
          <p:cNvPicPr>
            <a:picLocks noChangeAspect="1" noChangeArrowheads="1"/>
          </p:cNvPicPr>
          <p:nvPr/>
        </p:nvPicPr>
        <p:blipFill rotWithShape="1">
          <a:blip r:embed="rId28">
            <a:extLst>
              <a:ext uri="{28A0092B-C50C-407E-A947-70E740481C1C}">
                <a14:useLocalDpi xmlns:a14="http://schemas.microsoft.com/office/drawing/2010/main" val="0"/>
              </a:ext>
            </a:extLst>
          </a:blip>
          <a:srcRect l="8488" t="14628" r="8240" b="16144"/>
          <a:stretch>
            <a:fillRect/>
          </a:stretch>
        </p:blipFill>
        <p:spPr bwMode="auto">
          <a:xfrm>
            <a:off x="1021550" y="3161602"/>
            <a:ext cx="782527" cy="260222"/>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8" descr="NetSuite Logo, symbol, meaning, history, PNG, brand">
            <a:extLst>
              <a:ext uri="{FF2B5EF4-FFF2-40B4-BE49-F238E27FC236}">
                <a16:creationId xmlns:a16="http://schemas.microsoft.com/office/drawing/2014/main" id="{2E7A8F54-72D2-E641-F5DE-993473D9BD70}"/>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31643" y="3987777"/>
            <a:ext cx="849549" cy="477871"/>
          </a:xfrm>
          <a:prstGeom prst="rect">
            <a:avLst/>
          </a:prstGeom>
          <a:noFill/>
          <a:extLst>
            <a:ext uri="{909E8E84-426E-40DD-AFC4-6F175D3DCCD1}">
              <a14:hiddenFill xmlns:a14="http://schemas.microsoft.com/office/drawing/2010/main">
                <a:solidFill>
                  <a:srgbClr val="FFFFFF"/>
                </a:solidFill>
              </a14:hiddenFill>
            </a:ext>
          </a:extLst>
        </p:spPr>
      </p:pic>
      <p:cxnSp>
        <p:nvCxnSpPr>
          <p:cNvPr id="97" name="Straight Arrow Connector 96">
            <a:extLst>
              <a:ext uri="{FF2B5EF4-FFF2-40B4-BE49-F238E27FC236}">
                <a16:creationId xmlns:a16="http://schemas.microsoft.com/office/drawing/2014/main" id="{AA75A42A-312E-7E86-5A2E-EE4789FEBA29}"/>
              </a:ext>
            </a:extLst>
          </p:cNvPr>
          <p:cNvCxnSpPr>
            <a:cxnSpLocks/>
            <a:stCxn id="96" idx="3"/>
            <a:endCxn id="9" idx="1"/>
          </p:cNvCxnSpPr>
          <p:nvPr/>
        </p:nvCxnSpPr>
        <p:spPr>
          <a:xfrm flipV="1">
            <a:off x="1581192" y="3690486"/>
            <a:ext cx="1434073" cy="5362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0" name="Picture 99">
            <a:extLst>
              <a:ext uri="{FF2B5EF4-FFF2-40B4-BE49-F238E27FC236}">
                <a16:creationId xmlns:a16="http://schemas.microsoft.com/office/drawing/2014/main" id="{0167B093-8B9F-B2C6-FC5A-17CCACC71C7A}"/>
              </a:ext>
            </a:extLst>
          </p:cNvPr>
          <p:cNvPicPr>
            <a:picLocks noChangeAspect="1"/>
          </p:cNvPicPr>
          <p:nvPr/>
        </p:nvPicPr>
        <p:blipFill>
          <a:blip r:embed="rId30"/>
          <a:stretch>
            <a:fillRect/>
          </a:stretch>
        </p:blipFill>
        <p:spPr>
          <a:xfrm>
            <a:off x="10252000" y="4099290"/>
            <a:ext cx="380724" cy="331229"/>
          </a:xfrm>
          <a:prstGeom prst="rect">
            <a:avLst/>
          </a:prstGeom>
        </p:spPr>
      </p:pic>
      <p:pic>
        <p:nvPicPr>
          <p:cNvPr id="101" name="Picture 36" descr="PySpark for Beginners">
            <a:extLst>
              <a:ext uri="{FF2B5EF4-FFF2-40B4-BE49-F238E27FC236}">
                <a16:creationId xmlns:a16="http://schemas.microsoft.com/office/drawing/2014/main" id="{5E3F7D5F-6AE4-FF81-CAFD-4E15EC93BD65}"/>
              </a:ext>
            </a:extLst>
          </p:cNvPr>
          <p:cNvPicPr>
            <a:picLocks noChangeAspect="1" noChangeArrowheads="1"/>
          </p:cNvPicPr>
          <p:nvPr/>
        </p:nvPicPr>
        <p:blipFill rotWithShape="1">
          <a:blip r:embed="rId31">
            <a:extLst>
              <a:ext uri="{28A0092B-C50C-407E-A947-70E740481C1C}">
                <a14:useLocalDpi xmlns:a14="http://schemas.microsoft.com/office/drawing/2010/main" val="0"/>
              </a:ext>
            </a:extLst>
          </a:blip>
          <a:srcRect l="10903" t="13806" r="10794" b="29446"/>
          <a:stretch>
            <a:fillRect/>
          </a:stretch>
        </p:blipFill>
        <p:spPr bwMode="auto">
          <a:xfrm>
            <a:off x="10395347" y="3707764"/>
            <a:ext cx="715225" cy="292212"/>
          </a:xfrm>
          <a:prstGeom prst="rect">
            <a:avLst/>
          </a:prstGeom>
          <a:noFill/>
          <a:extLst>
            <a:ext uri="{909E8E84-426E-40DD-AFC4-6F175D3DCCD1}">
              <a14:hiddenFill xmlns:a14="http://schemas.microsoft.com/office/drawing/2010/main">
                <a:solidFill>
                  <a:srgbClr val="FFFFFF"/>
                </a:solidFill>
              </a14:hiddenFill>
            </a:ext>
          </a:extLst>
        </p:spPr>
      </p:pic>
      <p:sp>
        <p:nvSpPr>
          <p:cNvPr id="102" name="TextBox 101">
            <a:extLst>
              <a:ext uri="{FF2B5EF4-FFF2-40B4-BE49-F238E27FC236}">
                <a16:creationId xmlns:a16="http://schemas.microsoft.com/office/drawing/2014/main" id="{7861F4A1-BC79-E22E-C820-9EA13CDF570A}"/>
              </a:ext>
            </a:extLst>
          </p:cNvPr>
          <p:cNvSpPr txBox="1"/>
          <p:nvPr/>
        </p:nvSpPr>
        <p:spPr>
          <a:xfrm>
            <a:off x="6773431" y="3460843"/>
            <a:ext cx="887288" cy="230832"/>
          </a:xfrm>
          <a:prstGeom prst="rect">
            <a:avLst/>
          </a:prstGeom>
          <a:noFill/>
        </p:spPr>
        <p:txBody>
          <a:bodyPr wrap="square" rtlCol="0">
            <a:spAutoFit/>
          </a:bodyPr>
          <a:lstStyle/>
          <a:p>
            <a:pPr algn="ctr"/>
            <a:r>
              <a:rPr lang="en-US" sz="900" dirty="0"/>
              <a:t>Tables</a:t>
            </a:r>
            <a:endParaRPr lang="en-IN" sz="900" dirty="0"/>
          </a:p>
        </p:txBody>
      </p:sp>
      <p:sp>
        <p:nvSpPr>
          <p:cNvPr id="103" name="TextBox 102">
            <a:extLst>
              <a:ext uri="{FF2B5EF4-FFF2-40B4-BE49-F238E27FC236}">
                <a16:creationId xmlns:a16="http://schemas.microsoft.com/office/drawing/2014/main" id="{76B4DF84-9A35-2F33-5CF4-F6618DE1064B}"/>
              </a:ext>
            </a:extLst>
          </p:cNvPr>
          <p:cNvSpPr txBox="1"/>
          <p:nvPr/>
        </p:nvSpPr>
        <p:spPr>
          <a:xfrm>
            <a:off x="6773431" y="4199687"/>
            <a:ext cx="887288" cy="230832"/>
          </a:xfrm>
          <a:prstGeom prst="rect">
            <a:avLst/>
          </a:prstGeom>
          <a:noFill/>
        </p:spPr>
        <p:txBody>
          <a:bodyPr wrap="square" rtlCol="0">
            <a:spAutoFit/>
          </a:bodyPr>
          <a:lstStyle/>
          <a:p>
            <a:pPr algn="ctr"/>
            <a:r>
              <a:rPr lang="en-US" sz="900" dirty="0"/>
              <a:t>Views</a:t>
            </a:r>
            <a:endParaRPr lang="en-IN" sz="900" dirty="0"/>
          </a:p>
        </p:txBody>
      </p:sp>
      <p:pic>
        <p:nvPicPr>
          <p:cNvPr id="2050" name="Picture 2" descr="NLP letter technology logo design on white background. NLP ...">
            <a:extLst>
              <a:ext uri="{FF2B5EF4-FFF2-40B4-BE49-F238E27FC236}">
                <a16:creationId xmlns:a16="http://schemas.microsoft.com/office/drawing/2014/main" id="{90D2790B-0241-5805-9443-7C7F7FC40B55}"/>
              </a:ext>
            </a:extLst>
          </p:cNvPr>
          <p:cNvPicPr>
            <a:picLocks noChangeAspect="1" noChangeArrowheads="1"/>
          </p:cNvPicPr>
          <p:nvPr/>
        </p:nvPicPr>
        <p:blipFill rotWithShape="1">
          <a:blip r:embed="rId32">
            <a:extLst>
              <a:ext uri="{28A0092B-C50C-407E-A947-70E740481C1C}">
                <a14:useLocalDpi xmlns:a14="http://schemas.microsoft.com/office/drawing/2010/main" val="0"/>
              </a:ext>
            </a:extLst>
          </a:blip>
          <a:srcRect l="22397" t="24445" r="16462" b="23526"/>
          <a:stretch>
            <a:fillRect/>
          </a:stretch>
        </p:blipFill>
        <p:spPr bwMode="auto">
          <a:xfrm>
            <a:off x="10969965" y="4073713"/>
            <a:ext cx="432681" cy="36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827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78CC5-634D-A862-9890-8EF837271B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47B4BFB-54A1-F189-4140-EA26CEF6C1C3}"/>
              </a:ext>
            </a:extLst>
          </p:cNvPr>
          <p:cNvSpPr>
            <a:spLocks noGrp="1"/>
          </p:cNvSpPr>
          <p:nvPr>
            <p:ph type="body" sz="quarter" idx="10"/>
          </p:nvPr>
        </p:nvSpPr>
        <p:spPr>
          <a:xfrm>
            <a:off x="-1" y="57314"/>
            <a:ext cx="5706891" cy="724247"/>
          </a:xfrm>
        </p:spPr>
        <p:txBody>
          <a:bodyPr>
            <a:normAutofit/>
          </a:bodyPr>
          <a:lstStyle/>
          <a:p>
            <a:pPr algn="l"/>
            <a:r>
              <a:rPr lang="en-IN" sz="2800" b="1" dirty="0">
                <a:solidFill>
                  <a:srgbClr val="5410BF"/>
                </a:solidFill>
                <a:latin typeface="Plus Jakarta Sans"/>
                <a:cs typeface="Arial"/>
              </a:rPr>
              <a:t>Few Doubts to progress Further </a:t>
            </a:r>
            <a:endParaRPr lang="en-IN" sz="2800" b="1" dirty="0">
              <a:solidFill>
                <a:srgbClr val="5410BF"/>
              </a:solidFill>
              <a:ea typeface="Lato Light"/>
            </a:endParaRPr>
          </a:p>
        </p:txBody>
      </p:sp>
      <p:cxnSp>
        <p:nvCxnSpPr>
          <p:cNvPr id="18" name="Straight Connector 17">
            <a:extLst>
              <a:ext uri="{FF2B5EF4-FFF2-40B4-BE49-F238E27FC236}">
                <a16:creationId xmlns:a16="http://schemas.microsoft.com/office/drawing/2014/main" id="{FEBD13DE-8B89-52FA-6943-BB9EFFA02F94}"/>
              </a:ext>
            </a:extLst>
          </p:cNvPr>
          <p:cNvCxnSpPr/>
          <p:nvPr/>
        </p:nvCxnSpPr>
        <p:spPr>
          <a:xfrm>
            <a:off x="-12000" y="788677"/>
            <a:ext cx="122040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523521C-E2A7-2726-6482-7C96BF307C5E}"/>
              </a:ext>
            </a:extLst>
          </p:cNvPr>
          <p:cNvSpPr txBox="1"/>
          <p:nvPr/>
        </p:nvSpPr>
        <p:spPr>
          <a:xfrm>
            <a:off x="-13854" y="852055"/>
            <a:ext cx="12039599"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2400" b="1" dirty="0">
              <a:latin typeface="Calibri"/>
              <a:ea typeface="Calibri"/>
              <a:cs typeface="Calibri"/>
            </a:endParaRPr>
          </a:p>
          <a:p>
            <a:pPr marL="285750" indent="-285750">
              <a:buFont typeface="Arial"/>
              <a:buChar char="•"/>
            </a:pPr>
            <a:r>
              <a:rPr lang="en-US" sz="2400" b="1" dirty="0">
                <a:latin typeface="Calibri"/>
                <a:ea typeface="Calibri"/>
                <a:cs typeface="Calibri"/>
              </a:rPr>
              <a:t>Is the data in Snowflake already processed or do we need to clean and process for PoC?</a:t>
            </a:r>
          </a:p>
          <a:p>
            <a:pPr marL="285750" indent="-285750">
              <a:buFont typeface="Arial"/>
              <a:buChar char="•"/>
            </a:pPr>
            <a:r>
              <a:rPr lang="en-US" sz="2400" b="1" dirty="0">
                <a:latin typeface="Calibri"/>
                <a:ea typeface="Calibri"/>
                <a:cs typeface="Calibri"/>
              </a:rPr>
              <a:t>Three of our data sources have paused syncs (Coupa, Workable, NetSuite). When were these paused and why? </a:t>
            </a:r>
          </a:p>
          <a:p>
            <a:pPr marL="285750" indent="-285750">
              <a:buFont typeface="Arial"/>
              <a:buChar char="•"/>
            </a:pPr>
            <a:r>
              <a:rPr lang="en-US" sz="2400" b="1" dirty="0">
                <a:latin typeface="Calibri"/>
                <a:ea typeface="Calibri"/>
                <a:cs typeface="Calibri"/>
              </a:rPr>
              <a:t>How should we reconcile Salesforce CONTACT/ACCOUNT data with UKG EMPLOYEE data? </a:t>
            </a:r>
          </a:p>
          <a:p>
            <a:pPr marL="285750" indent="-285750">
              <a:buFont typeface="Arial"/>
              <a:buChar char="•"/>
            </a:pPr>
            <a:r>
              <a:rPr lang="en-US" sz="2400" b="1" dirty="0">
                <a:latin typeface="Calibri"/>
                <a:ea typeface="Calibri"/>
                <a:cs typeface="Calibri"/>
              </a:rPr>
              <a:t>How should Coupa procurement data integrate with NetSuite financials? </a:t>
            </a:r>
          </a:p>
          <a:p>
            <a:pPr marL="285750" indent="-285750">
              <a:buFont typeface="Arial"/>
              <a:buChar char="•"/>
            </a:pPr>
            <a:r>
              <a:rPr lang="en-US" sz="2400" b="1" dirty="0">
                <a:latin typeface="Calibri"/>
                <a:ea typeface="Calibri"/>
                <a:cs typeface="Calibri"/>
              </a:rPr>
              <a:t>Which reports or dashboards are most critical to business operations today?</a:t>
            </a:r>
          </a:p>
          <a:p>
            <a:pPr marL="285750" indent="-285750">
              <a:buFont typeface="Arial"/>
              <a:buChar char="•"/>
            </a:pPr>
            <a:r>
              <a:rPr lang="en-US" sz="2400" b="1" dirty="0">
                <a:latin typeface="Calibri"/>
                <a:ea typeface="Calibri"/>
                <a:cs typeface="Calibri"/>
              </a:rPr>
              <a:t>How much historical data do you need? Should we archive older records?</a:t>
            </a:r>
          </a:p>
          <a:p>
            <a:pPr marL="285750" indent="-285750">
              <a:buFont typeface="Arial"/>
              <a:buChar char="•"/>
            </a:pPr>
            <a:r>
              <a:rPr lang="en-US" sz="2400" b="1" dirty="0">
                <a:latin typeface="Calibri"/>
                <a:ea typeface="Calibri"/>
                <a:cs typeface="Calibri"/>
              </a:rPr>
              <a:t>Can we get data dictionaries or field definitions for each source system? </a:t>
            </a:r>
          </a:p>
          <a:p>
            <a:pPr marL="285750" indent="-285750">
              <a:buFont typeface="Arial"/>
              <a:buChar char="•"/>
            </a:pPr>
            <a:r>
              <a:rPr lang="en-US" sz="2400" b="1" dirty="0">
                <a:latin typeface="Calibri"/>
                <a:ea typeface="Calibri"/>
                <a:cs typeface="Calibri"/>
              </a:rPr>
              <a:t>Who monitors </a:t>
            </a:r>
            <a:r>
              <a:rPr lang="en-US" sz="2400" b="1" err="1">
                <a:latin typeface="Calibri"/>
                <a:ea typeface="Calibri"/>
                <a:cs typeface="Calibri"/>
              </a:rPr>
              <a:t>Fivetran</a:t>
            </a:r>
            <a:r>
              <a:rPr lang="en-US" sz="2400" b="1" dirty="0">
                <a:latin typeface="Calibri"/>
                <a:ea typeface="Calibri"/>
                <a:cs typeface="Calibri"/>
              </a:rPr>
              <a:t> sync errors today? How are failures handled?</a:t>
            </a:r>
          </a:p>
          <a:p>
            <a:pPr algn="ctr"/>
            <a:endParaRPr lang="en-US" dirty="0">
              <a:latin typeface="Calibri"/>
              <a:ea typeface="Calibri"/>
              <a:cs typeface="Calibri"/>
            </a:endParaRPr>
          </a:p>
        </p:txBody>
      </p:sp>
    </p:spTree>
    <p:extLst>
      <p:ext uri="{BB962C8B-B14F-4D97-AF65-F5344CB8AC3E}">
        <p14:creationId xmlns:p14="http://schemas.microsoft.com/office/powerpoint/2010/main" val="66179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ADCC1-0CB2-E993-9E11-2D4BDB97FB5A}"/>
            </a:ext>
          </a:extLst>
        </p:cNvPr>
        <p:cNvGrpSpPr/>
        <p:nvPr/>
      </p:nvGrpSpPr>
      <p:grpSpPr>
        <a:xfrm>
          <a:off x="0" y="0"/>
          <a:ext cx="0" cy="0"/>
          <a:chOff x="0" y="0"/>
          <a:chExt cx="0" cy="0"/>
        </a:xfrm>
      </p:grpSpPr>
    </p:spTree>
    <p:extLst>
      <p:ext uri="{BB962C8B-B14F-4D97-AF65-F5344CB8AC3E}">
        <p14:creationId xmlns:p14="http://schemas.microsoft.com/office/powerpoint/2010/main" val="790394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523</TotalTime>
  <Words>224</Words>
  <Application>Microsoft Office PowerPoint</Application>
  <PresentationFormat>Widescreen</PresentationFormat>
  <Paragraphs>30</Paragraphs>
  <Slides>5</Slides>
  <Notes>1</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Vengat Rajan</dc:creator>
  <cp:lastModifiedBy>Vengat Rajan</cp:lastModifiedBy>
  <cp:revision>278</cp:revision>
  <dcterms:created xsi:type="dcterms:W3CDTF">2026-01-09T05:40:40Z</dcterms:created>
  <dcterms:modified xsi:type="dcterms:W3CDTF">2026-01-09T15:13:18Z</dcterms:modified>
</cp:coreProperties>
</file>