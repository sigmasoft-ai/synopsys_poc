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2147481896" r:id="rId5"/>
    <p:sldId id="2147481003" r:id="rId6"/>
    <p:sldId id="2147481806" r:id="rId7"/>
    <p:sldId id="2147481898" r:id="rId8"/>
    <p:sldId id="214748189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E2F9629-3694-75C8-8AFA-10DE243F2749}" name="Vengat Rajan" initials="VR" userId="Vengat Raja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51D0"/>
    <a:srgbClr val="203864"/>
    <a:srgbClr val="660066"/>
    <a:srgbClr val="F8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E6BA6A-F55E-4B3A-9A34-3708A996E255}" v="2" dt="2026-01-07T17:19:22.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at Swain" userId="807f03e4-6949-4ac6-b94b-e982470d84bd" providerId="ADAL" clId="{84E1838F-09B7-42DE-94E4-51611A473398}"/>
    <pc:docChg chg="undo custSel addSld delSld modSld">
      <pc:chgData name="Prabhat Swain" userId="807f03e4-6949-4ac6-b94b-e982470d84bd" providerId="ADAL" clId="{84E1838F-09B7-42DE-94E4-51611A473398}" dt="2026-01-07T17:19:22.545" v="16" actId="1076"/>
      <pc:docMkLst>
        <pc:docMk/>
      </pc:docMkLst>
      <pc:sldChg chg="add del">
        <pc:chgData name="Prabhat Swain" userId="807f03e4-6949-4ac6-b94b-e982470d84bd" providerId="ADAL" clId="{84E1838F-09B7-42DE-94E4-51611A473398}" dt="2026-01-07T17:18:53.554" v="2" actId="2696"/>
        <pc:sldMkLst>
          <pc:docMk/>
          <pc:sldMk cId="3574332513" sldId="2147481817"/>
        </pc:sldMkLst>
      </pc:sldChg>
      <pc:sldChg chg="addSp modSp mod">
        <pc:chgData name="Prabhat Swain" userId="807f03e4-6949-4ac6-b94b-e982470d84bd" providerId="ADAL" clId="{84E1838F-09B7-42DE-94E4-51611A473398}" dt="2026-01-07T17:19:22.545" v="16" actId="1076"/>
        <pc:sldMkLst>
          <pc:docMk/>
          <pc:sldMk cId="1263782822" sldId="2147481897"/>
        </pc:sldMkLst>
        <pc:spChg chg="mod">
          <ac:chgData name="Prabhat Swain" userId="807f03e4-6949-4ac6-b94b-e982470d84bd" providerId="ADAL" clId="{84E1838F-09B7-42DE-94E4-51611A473398}" dt="2026-01-07T17:19:22.545" v="16" actId="1076"/>
          <ac:spMkLst>
            <pc:docMk/>
            <pc:sldMk cId="1263782822" sldId="2147481897"/>
            <ac:spMk id="2" creationId="{72CC1F8B-4833-D6FB-23D3-EC219AD301EB}"/>
          </ac:spMkLst>
        </pc:spChg>
        <pc:spChg chg="add mod">
          <ac:chgData name="Prabhat Swain" userId="807f03e4-6949-4ac6-b94b-e982470d84bd" providerId="ADAL" clId="{84E1838F-09B7-42DE-94E4-51611A473398}" dt="2026-01-07T17:19:21.649" v="15" actId="1076"/>
          <ac:spMkLst>
            <pc:docMk/>
            <pc:sldMk cId="1263782822" sldId="2147481897"/>
            <ac:spMk id="3" creationId="{3D9D77F9-F309-20D1-7A5C-BB84BB665A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9CBA9D-5EC2-496E-B54B-C3A6E0C1AB33}" type="datetimeFigureOut">
              <a:rPr lang="en-IN" smtClean="0"/>
              <a:t>07-01-2026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E2482-3EA6-4E8B-98A6-E1F8514F7D32}" type="slidenum">
              <a:rPr lang="en-IN" smtClean="0"/>
              <a:t>‹#›</a:t>
            </a:fld>
            <a:endParaRPr lang="en-IN"/>
          </a:p>
        </p:txBody>
      </p:sp>
    </p:spTree>
    <p:extLst>
      <p:ext uri="{BB962C8B-B14F-4D97-AF65-F5344CB8AC3E}">
        <p14:creationId xmlns:p14="http://schemas.microsoft.com/office/powerpoint/2010/main" val="562717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64125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Data &amp; Analytics team has extensive experience in Data platform implementations, Cloud migration, data quality, Reporting &amp; Analytics. </a:t>
            </a:r>
          </a:p>
          <a:p>
            <a:endParaRPr lang="en-US"/>
          </a:p>
          <a:p>
            <a:r>
              <a:rPr lang="en-US"/>
              <a:t>Our team recently concluded a 10-week data architecture modernization study for one of the largest global Hitech Storage companies. </a:t>
            </a:r>
          </a:p>
          <a:p>
            <a:r>
              <a:rPr lang="en-US"/>
              <a:t>	Our data and Gen AI experts created a blueprint for the path ahead for the client organization.</a:t>
            </a:r>
          </a:p>
          <a:p>
            <a:r>
              <a:rPr lang="en-US"/>
              <a:t>	The blueprint detailed the architecture options to build connected data architecture across enterprise functions and factories to enable futuristic Gen AI use cases to 	derive intelligent suggestions from the data insights.</a:t>
            </a:r>
          </a:p>
          <a:p>
            <a:r>
              <a:rPr lang="en-US"/>
              <a:t>Earlier this year, we completed Tableau ton prem to Tableau Cloud migration for a VOIP communication company.</a:t>
            </a:r>
          </a:p>
          <a:p>
            <a:r>
              <a:rPr lang="en-US"/>
              <a:t>	VP of the client organization appreciated the comprehensive effort leading to a frictionless transition.</a:t>
            </a:r>
          </a:p>
          <a:p>
            <a:endParaRPr lang="en-US"/>
          </a:p>
          <a:p>
            <a:r>
              <a:rPr lang="en-US"/>
              <a:t>We have delivered a number of visualization and dashboarding engagements for a number of customers on Tableau and </a:t>
            </a:r>
            <a:r>
              <a:rPr lang="en-US" err="1"/>
              <a:t>PowerBI</a:t>
            </a:r>
            <a:r>
              <a:rPr lang="en-US"/>
              <a:t>  – from SCM cockpit, </a:t>
            </a:r>
            <a:r>
              <a:rPr lang="en-US" err="1"/>
              <a:t>Secuirty</a:t>
            </a:r>
            <a:r>
              <a:rPr lang="en-US"/>
              <a:t> Guardrails Dashboard to a name a few.</a:t>
            </a:r>
          </a:p>
          <a:p>
            <a:endParaRPr lang="en-US"/>
          </a:p>
          <a:p>
            <a:r>
              <a:rPr lang="en-US"/>
              <a:t>As part of practice, our team developed a number of accelerators to deliver value by automations and ready frameworks for faster project delivery</a:t>
            </a:r>
          </a:p>
          <a:p>
            <a:endParaRPr lang="en-US"/>
          </a:p>
          <a:p>
            <a:r>
              <a:rPr lang="en-US"/>
              <a:t>We have partnerships with many modern data technology providers – Snowflake, AWS, DBT to name a few.</a:t>
            </a:r>
          </a:p>
          <a:p>
            <a:endParaRPr lang="en-US"/>
          </a:p>
          <a:p>
            <a:endParaRPr lang="en-US"/>
          </a:p>
          <a:p>
            <a:br>
              <a:rPr lang="en-US"/>
            </a:br>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5915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D5153-5FD4-43EE-C8EF-888D2F3D1F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C37712-B58A-0FE2-31DD-7DD18CB5BD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86479E-B0B4-0B40-9D84-755E209C716E}"/>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3E878ADB-44F9-9ED3-AE67-58B2DA52B2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70026F-5E7D-0FE8-96D6-1336A7C80538}"/>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980090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4BC9-34CB-4E1E-21AE-A723B519C6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4A1643-79C2-0831-2F26-E4DB44869B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8AB279-E680-93D8-3F4A-2F47A70DA722}"/>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C907B6B4-EDA4-5096-EECB-9AB1B69B98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C3F1F-E2B3-9BC4-F4CB-622D6316ED42}"/>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3904366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DA89F-3F38-28F9-B4A1-3CAD9D1445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588F22-1C98-1AEE-F29A-74C8A03FF5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0B96C1-E2C0-9848-758C-CF8B312AA40D}"/>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8691B340-F70D-D180-5959-C974FC6090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653BD9-CCFF-EE1C-2527-DCFA8DFBE32B}"/>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2564439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F0FC5-93E9-6EC9-4E4B-F7B88206D3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345E0B-BC8C-9649-2CC3-D7D3E8A351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CD9F1A-D257-F029-542A-1D4E9EDB2F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020920-2E12-3F73-0849-677140CA9795}"/>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6" name="Footer Placeholder 5">
            <a:extLst>
              <a:ext uri="{FF2B5EF4-FFF2-40B4-BE49-F238E27FC236}">
                <a16:creationId xmlns:a16="http://schemas.microsoft.com/office/drawing/2014/main" id="{18F6E7F6-9A7B-BD01-35EF-6324B0DDAF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9AD500-0350-CDE5-CC27-9D9ED853FD98}"/>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912669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43203-6232-1FD3-7F22-DCEF2313C2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02174D-C3E5-F3D2-97BC-E40BA4903B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6E6D60-CDB6-9C38-0A33-48B86F6E44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B2F2DE-616A-B40A-DA03-093F6F135D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6E0F4B-B96A-06A3-189F-82EAE34B76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A017A13-DB32-25F0-9565-D5E9D5AA3164}"/>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8" name="Footer Placeholder 7">
            <a:extLst>
              <a:ext uri="{FF2B5EF4-FFF2-40B4-BE49-F238E27FC236}">
                <a16:creationId xmlns:a16="http://schemas.microsoft.com/office/drawing/2014/main" id="{7611F63B-C7B1-B761-7758-E97D78E56E2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C9178F-120A-28B2-31E9-1E0C19A94E05}"/>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2171997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6921-106E-5ECD-E487-7959EAB132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DAEFC1-0C22-9827-D106-5D7E25D69588}"/>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4" name="Footer Placeholder 3">
            <a:extLst>
              <a:ext uri="{FF2B5EF4-FFF2-40B4-BE49-F238E27FC236}">
                <a16:creationId xmlns:a16="http://schemas.microsoft.com/office/drawing/2014/main" id="{5B9DEA5C-C7F5-EB9D-C8C5-B7028F90A9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93AB10-B3DA-D7E3-C3B9-87856BA819EA}"/>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4686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AB752B-219F-4E53-0A60-96862C3A7066}"/>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3" name="Footer Placeholder 2">
            <a:extLst>
              <a:ext uri="{FF2B5EF4-FFF2-40B4-BE49-F238E27FC236}">
                <a16:creationId xmlns:a16="http://schemas.microsoft.com/office/drawing/2014/main" id="{D76307BD-42FF-2530-E3A0-893BBAE8A2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30F2BF-45E4-4197-4DDA-C351B0D0CB12}"/>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907032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5B295-09CE-58A0-8B04-AF66DFCB4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4DFBE5-70C2-963A-F309-72C48F62A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2F75D4-4908-0A3A-5A6C-237FD76C6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EBBECA-9ECE-EE89-57F9-AFE0B9999DB9}"/>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6" name="Footer Placeholder 5">
            <a:extLst>
              <a:ext uri="{FF2B5EF4-FFF2-40B4-BE49-F238E27FC236}">
                <a16:creationId xmlns:a16="http://schemas.microsoft.com/office/drawing/2014/main" id="{483BEC21-8033-38BD-B48A-71F95A06B5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E15C3C-480E-B7F3-3CED-DF6862664C3F}"/>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546403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DE27-F253-78CA-FD2A-54DB75CED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E78C9A-2F1B-CE69-2244-CBF30BD4E1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A7B781-3AEA-D640-6EB1-F66743C914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3E31F2-3E50-36A2-C3B4-6D94BA63C269}"/>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6" name="Footer Placeholder 5">
            <a:extLst>
              <a:ext uri="{FF2B5EF4-FFF2-40B4-BE49-F238E27FC236}">
                <a16:creationId xmlns:a16="http://schemas.microsoft.com/office/drawing/2014/main" id="{D5456851-47D3-DBBD-BE9D-CD2CB4EA6C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5CB06B-BE57-7EE2-B2CB-2821C9DC4582}"/>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324957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02973-26BB-5D22-AAE3-DC8C9EDDD6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0F6FE8-31B9-815E-4103-9DE48F1D13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538F26-3F8F-D85D-BF21-C5B69C0FAC72}"/>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033D8A95-A54C-D850-E263-6D7C4A26F7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F85252-4B1B-391E-942E-1AEB1A11B06A}"/>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1708230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B39DE7-0DF2-7BA1-3F7D-97A6FE8487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28517F-9187-A2EF-BDC3-3BF8B145E0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C76663-0406-6377-BFC9-EB653B60BBC9}"/>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97851B0C-ADC0-C9AF-BB4A-50FE773E71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E25539-5534-5FE6-C9A7-54932E9A90D9}"/>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91021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IMAGE AND CONTENTS LAYOUT_02">
    <p:bg>
      <p:bgPr>
        <a:solidFill>
          <a:schemeClr val="bg1"/>
        </a:solidFill>
        <a:effectLst/>
      </p:bgPr>
    </p:bg>
    <p:spTree>
      <p:nvGrpSpPr>
        <p:cNvPr id="1" name=""/>
        <p:cNvGrpSpPr/>
        <p:nvPr/>
      </p:nvGrpSpPr>
      <p:grpSpPr>
        <a:xfrm>
          <a:off x="0" y="0"/>
          <a:ext cx="0" cy="0"/>
          <a:chOff x="0" y="0"/>
          <a:chExt cx="0" cy="0"/>
        </a:xfrm>
      </p:grpSpPr>
      <p:sp>
        <p:nvSpPr>
          <p:cNvPr id="4" name="그림 개체 틀 2"/>
          <p:cNvSpPr>
            <a:spLocks noGrp="1"/>
          </p:cNvSpPr>
          <p:nvPr>
            <p:ph type="pic" sz="quarter" idx="10" hasCustomPrompt="1"/>
          </p:nvPr>
        </p:nvSpPr>
        <p:spPr>
          <a:xfrm>
            <a:off x="5591176" y="1"/>
            <a:ext cx="6605602" cy="6866390"/>
          </a:xfrm>
          <a:custGeom>
            <a:avLst/>
            <a:gdLst>
              <a:gd name="connsiteX0" fmla="*/ 0 w 4427984"/>
              <a:gd name="connsiteY0" fmla="*/ 0 h 6866389"/>
              <a:gd name="connsiteX1" fmla="*/ 4427984 w 4427984"/>
              <a:gd name="connsiteY1" fmla="*/ 0 h 6866389"/>
              <a:gd name="connsiteX2" fmla="*/ 4427984 w 4427984"/>
              <a:gd name="connsiteY2" fmla="*/ 6866389 h 6866389"/>
              <a:gd name="connsiteX3" fmla="*/ 0 w 4427984"/>
              <a:gd name="connsiteY3" fmla="*/ 6866389 h 6866389"/>
              <a:gd name="connsiteX4" fmla="*/ 0 w 4427984"/>
              <a:gd name="connsiteY4" fmla="*/ 0 h 6866389"/>
              <a:gd name="connsiteX0" fmla="*/ 595618 w 4427984"/>
              <a:gd name="connsiteY0" fmla="*/ 0 h 6883167"/>
              <a:gd name="connsiteX1" fmla="*/ 4427984 w 4427984"/>
              <a:gd name="connsiteY1" fmla="*/ 16778 h 6883167"/>
              <a:gd name="connsiteX2" fmla="*/ 4427984 w 4427984"/>
              <a:gd name="connsiteY2" fmla="*/ 6883167 h 6883167"/>
              <a:gd name="connsiteX3" fmla="*/ 0 w 4427984"/>
              <a:gd name="connsiteY3" fmla="*/ 6883167 h 6883167"/>
              <a:gd name="connsiteX4" fmla="*/ 595618 w 4427984"/>
              <a:gd name="connsiteY4" fmla="*/ 0 h 6883167"/>
              <a:gd name="connsiteX0" fmla="*/ 1258348 w 5090714"/>
              <a:gd name="connsiteY0" fmla="*/ 0 h 6883167"/>
              <a:gd name="connsiteX1" fmla="*/ 5090714 w 5090714"/>
              <a:gd name="connsiteY1" fmla="*/ 16778 h 6883167"/>
              <a:gd name="connsiteX2" fmla="*/ 5090714 w 5090714"/>
              <a:gd name="connsiteY2" fmla="*/ 6883167 h 6883167"/>
              <a:gd name="connsiteX3" fmla="*/ 0 w 5090714"/>
              <a:gd name="connsiteY3" fmla="*/ 6874779 h 6883167"/>
              <a:gd name="connsiteX4" fmla="*/ 1258348 w 5090714"/>
              <a:gd name="connsiteY4" fmla="*/ 0 h 6883167"/>
              <a:gd name="connsiteX0" fmla="*/ 1493240 w 5090714"/>
              <a:gd name="connsiteY0" fmla="*/ 0 h 6883167"/>
              <a:gd name="connsiteX1" fmla="*/ 5090714 w 5090714"/>
              <a:gd name="connsiteY1" fmla="*/ 16778 h 6883167"/>
              <a:gd name="connsiteX2" fmla="*/ 5090714 w 5090714"/>
              <a:gd name="connsiteY2" fmla="*/ 6883167 h 6883167"/>
              <a:gd name="connsiteX3" fmla="*/ 0 w 5090714"/>
              <a:gd name="connsiteY3" fmla="*/ 6874779 h 6883167"/>
              <a:gd name="connsiteX4" fmla="*/ 1493240 w 5090714"/>
              <a:gd name="connsiteY4" fmla="*/ 0 h 6883167"/>
              <a:gd name="connsiteX0" fmla="*/ 1459684 w 5090714"/>
              <a:gd name="connsiteY0" fmla="*/ 0 h 6866389"/>
              <a:gd name="connsiteX1" fmla="*/ 5090714 w 5090714"/>
              <a:gd name="connsiteY1" fmla="*/ 0 h 6866389"/>
              <a:gd name="connsiteX2" fmla="*/ 5090714 w 5090714"/>
              <a:gd name="connsiteY2" fmla="*/ 6866389 h 6866389"/>
              <a:gd name="connsiteX3" fmla="*/ 0 w 5090714"/>
              <a:gd name="connsiteY3" fmla="*/ 6858001 h 6866389"/>
              <a:gd name="connsiteX4" fmla="*/ 1459684 w 5090714"/>
              <a:gd name="connsiteY4" fmla="*/ 0 h 6866389"/>
              <a:gd name="connsiteX0" fmla="*/ 1711354 w 5090714"/>
              <a:gd name="connsiteY0" fmla="*/ 0 h 6874778"/>
              <a:gd name="connsiteX1" fmla="*/ 5090714 w 5090714"/>
              <a:gd name="connsiteY1" fmla="*/ 8389 h 6874778"/>
              <a:gd name="connsiteX2" fmla="*/ 5090714 w 5090714"/>
              <a:gd name="connsiteY2" fmla="*/ 6874778 h 6874778"/>
              <a:gd name="connsiteX3" fmla="*/ 0 w 5090714"/>
              <a:gd name="connsiteY3" fmla="*/ 6866390 h 6874778"/>
              <a:gd name="connsiteX4" fmla="*/ 1711354 w 5090714"/>
              <a:gd name="connsiteY4" fmla="*/ 0 h 6874778"/>
              <a:gd name="connsiteX0" fmla="*/ 1937857 w 5317217"/>
              <a:gd name="connsiteY0" fmla="*/ 0 h 6874779"/>
              <a:gd name="connsiteX1" fmla="*/ 5317217 w 5317217"/>
              <a:gd name="connsiteY1" fmla="*/ 8389 h 6874779"/>
              <a:gd name="connsiteX2" fmla="*/ 5317217 w 5317217"/>
              <a:gd name="connsiteY2" fmla="*/ 6874778 h 6874779"/>
              <a:gd name="connsiteX3" fmla="*/ 0 w 5317217"/>
              <a:gd name="connsiteY3" fmla="*/ 6874779 h 6874779"/>
              <a:gd name="connsiteX4" fmla="*/ 1937857 w 5317217"/>
              <a:gd name="connsiteY4" fmla="*/ 0 h 6874779"/>
              <a:gd name="connsiteX0" fmla="*/ 1280632 w 5317217"/>
              <a:gd name="connsiteY0" fmla="*/ 10661 h 6866390"/>
              <a:gd name="connsiteX1" fmla="*/ 5317217 w 5317217"/>
              <a:gd name="connsiteY1" fmla="*/ 0 h 6866390"/>
              <a:gd name="connsiteX2" fmla="*/ 5317217 w 5317217"/>
              <a:gd name="connsiteY2" fmla="*/ 6866389 h 6866390"/>
              <a:gd name="connsiteX3" fmla="*/ 0 w 5317217"/>
              <a:gd name="connsiteY3" fmla="*/ 6866390 h 6866390"/>
              <a:gd name="connsiteX4" fmla="*/ 1280632 w 5317217"/>
              <a:gd name="connsiteY4" fmla="*/ 10661 h 6866390"/>
              <a:gd name="connsiteX0" fmla="*/ 1280632 w 5317217"/>
              <a:gd name="connsiteY0" fmla="*/ 1136 h 6866390"/>
              <a:gd name="connsiteX1" fmla="*/ 5317217 w 5317217"/>
              <a:gd name="connsiteY1" fmla="*/ 0 h 6866390"/>
              <a:gd name="connsiteX2" fmla="*/ 5317217 w 5317217"/>
              <a:gd name="connsiteY2" fmla="*/ 6866389 h 6866390"/>
              <a:gd name="connsiteX3" fmla="*/ 0 w 5317217"/>
              <a:gd name="connsiteY3" fmla="*/ 6866390 h 6866390"/>
              <a:gd name="connsiteX4" fmla="*/ 1280632 w 5317217"/>
              <a:gd name="connsiteY4" fmla="*/ 1136 h 6866390"/>
              <a:gd name="connsiteX0" fmla="*/ 1413982 w 5450567"/>
              <a:gd name="connsiteY0" fmla="*/ 1136 h 6866390"/>
              <a:gd name="connsiteX1" fmla="*/ 5450567 w 5450567"/>
              <a:gd name="connsiteY1" fmla="*/ 0 h 6866390"/>
              <a:gd name="connsiteX2" fmla="*/ 5450567 w 5450567"/>
              <a:gd name="connsiteY2" fmla="*/ 6866389 h 6866390"/>
              <a:gd name="connsiteX3" fmla="*/ 0 w 5450567"/>
              <a:gd name="connsiteY3" fmla="*/ 6866390 h 6866390"/>
              <a:gd name="connsiteX4" fmla="*/ 1413982 w 5450567"/>
              <a:gd name="connsiteY4" fmla="*/ 1136 h 6866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567" h="6866390">
                <a:moveTo>
                  <a:pt x="1413982" y="1136"/>
                </a:moveTo>
                <a:lnTo>
                  <a:pt x="5450567" y="0"/>
                </a:lnTo>
                <a:lnTo>
                  <a:pt x="5450567" y="6866389"/>
                </a:lnTo>
                <a:lnTo>
                  <a:pt x="0" y="6866390"/>
                </a:lnTo>
                <a:lnTo>
                  <a:pt x="1413982" y="1136"/>
                </a:lnTo>
                <a:close/>
              </a:path>
            </a:pathLst>
          </a:cu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defRPr>
            </a:lvl1pPr>
          </a:lstStyle>
          <a:p>
            <a:r>
              <a:rPr lang="en-US" altLang="ko-KR"/>
              <a:t>Place Your Picture Here</a:t>
            </a:r>
            <a:endParaRPr lang="ko-KR" altLang="en-US"/>
          </a:p>
        </p:txBody>
      </p:sp>
      <p:sp>
        <p:nvSpPr>
          <p:cNvPr id="2" name="Rectangle 1">
            <a:extLst>
              <a:ext uri="{FF2B5EF4-FFF2-40B4-BE49-F238E27FC236}">
                <a16:creationId xmlns:a16="http://schemas.microsoft.com/office/drawing/2014/main" id="{3D507953-9EC6-499C-FC4E-E166E8C9FC0F}"/>
              </a:ext>
            </a:extLst>
          </p:cNvPr>
          <p:cNvSpPr/>
          <p:nvPr/>
        </p:nvSpPr>
        <p:spPr>
          <a:xfrm>
            <a:off x="0" y="6489700"/>
            <a:ext cx="12192000" cy="368300"/>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62FF81B9-56FB-6F65-2022-9307430E850D}"/>
              </a:ext>
            </a:extLst>
          </p:cNvPr>
          <p:cNvCxnSpPr/>
          <p:nvPr/>
        </p:nvCxnSpPr>
        <p:spPr>
          <a:xfrm>
            <a:off x="0" y="6489700"/>
            <a:ext cx="12192000" cy="0"/>
          </a:xfrm>
          <a:prstGeom prst="line">
            <a:avLst/>
          </a:prstGeom>
          <a:ln w="25400">
            <a:solidFill>
              <a:srgbClr val="5410B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719419C-A108-EB46-1DA8-4A96C5CF0A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Tree>
    <p:extLst>
      <p:ext uri="{BB962C8B-B14F-4D97-AF65-F5344CB8AC3E}">
        <p14:creationId xmlns:p14="http://schemas.microsoft.com/office/powerpoint/2010/main" val="1189117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ontents slide layout">
    <p:bg>
      <p:bgPr>
        <a:solidFill>
          <a:schemeClr val="bg1"/>
        </a:solid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a:t>BASIC LAYOUT</a:t>
            </a:r>
          </a:p>
        </p:txBody>
      </p:sp>
      <p:sp>
        <p:nvSpPr>
          <p:cNvPr id="3" name="Rectangle 2">
            <a:extLst>
              <a:ext uri="{FF2B5EF4-FFF2-40B4-BE49-F238E27FC236}">
                <a16:creationId xmlns:a16="http://schemas.microsoft.com/office/drawing/2014/main" id="{CA396A33-F5DC-687B-6B06-B50E7455074B}"/>
              </a:ext>
            </a:extLst>
          </p:cNvPr>
          <p:cNvSpPr/>
          <p:nvPr/>
        </p:nvSpPr>
        <p:spPr>
          <a:xfrm>
            <a:off x="0" y="6489700"/>
            <a:ext cx="12192000" cy="368300"/>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A1ED26C-FDA3-D1DA-1068-1C47294CC0EF}"/>
              </a:ext>
            </a:extLst>
          </p:cNvPr>
          <p:cNvCxnSpPr/>
          <p:nvPr/>
        </p:nvCxnSpPr>
        <p:spPr>
          <a:xfrm>
            <a:off x="0" y="6489700"/>
            <a:ext cx="12192000" cy="0"/>
          </a:xfrm>
          <a:prstGeom prst="line">
            <a:avLst/>
          </a:prstGeom>
          <a:ln w="25400">
            <a:solidFill>
              <a:srgbClr val="5410B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32BA5740-BCBB-308C-6A30-2C779FACF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Tree>
    <p:extLst>
      <p:ext uri="{BB962C8B-B14F-4D97-AF65-F5344CB8AC3E}">
        <p14:creationId xmlns:p14="http://schemas.microsoft.com/office/powerpoint/2010/main" val="1069116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 - Content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507953-9EC6-499C-FC4E-E166E8C9FC0F}"/>
              </a:ext>
            </a:extLst>
          </p:cNvPr>
          <p:cNvSpPr/>
          <p:nvPr userDrawn="1"/>
        </p:nvSpPr>
        <p:spPr>
          <a:xfrm>
            <a:off x="1" y="6481092"/>
            <a:ext cx="12192000" cy="376908"/>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719419C-A108-EB46-1DA8-4A96C5CF0A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8017" y="6554239"/>
            <a:ext cx="1355351" cy="257517"/>
          </a:xfrm>
          <a:prstGeom prst="rect">
            <a:avLst/>
          </a:prstGeom>
        </p:spPr>
      </p:pic>
      <p:sp>
        <p:nvSpPr>
          <p:cNvPr id="8" name="TextBox 7">
            <a:extLst>
              <a:ext uri="{FF2B5EF4-FFF2-40B4-BE49-F238E27FC236}">
                <a16:creationId xmlns:a16="http://schemas.microsoft.com/office/drawing/2014/main" id="{8D33BDF6-E95B-A824-2CE8-05503F8910BA}"/>
              </a:ext>
            </a:extLst>
          </p:cNvPr>
          <p:cNvSpPr txBox="1"/>
          <p:nvPr userDrawn="1"/>
        </p:nvSpPr>
        <p:spPr>
          <a:xfrm>
            <a:off x="5229251" y="6542131"/>
            <a:ext cx="1385316" cy="246221"/>
          </a:xfrm>
          <a:prstGeom prst="rect">
            <a:avLst/>
          </a:prstGeom>
          <a:noFill/>
        </p:spPr>
        <p:txBody>
          <a:bodyPr wrap="none" rtlCol="0">
            <a:spAutoFit/>
          </a:bodyPr>
          <a:lstStyle/>
          <a:p>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Sigmasoft Confidential</a:t>
            </a:r>
          </a:p>
        </p:txBody>
      </p:sp>
    </p:spTree>
    <p:extLst>
      <p:ext uri="{BB962C8B-B14F-4D97-AF65-F5344CB8AC3E}">
        <p14:creationId xmlns:p14="http://schemas.microsoft.com/office/powerpoint/2010/main" val="3696720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3F9D36-FE02-1AD4-8A16-12FFA341F4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72C169-5FEA-928F-08F7-AD967B03EC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D7EEF5-CAD6-C806-AED1-89CC432C73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A720D0C1-6819-5D1C-6D42-2F4BD61908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1A2DE6C-7655-0BEA-5196-A846146AF9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767E83-DFC4-4C8A-9F52-D831ECCE6665}" type="slidenum">
              <a:rPr lang="en-IN" smtClean="0"/>
              <a:t>‹#›</a:t>
            </a:fld>
            <a:endParaRPr lang="en-IN"/>
          </a:p>
        </p:txBody>
      </p:sp>
      <p:sp>
        <p:nvSpPr>
          <p:cNvPr id="8" name="TextBox 7">
            <a:extLst>
              <a:ext uri="{FF2B5EF4-FFF2-40B4-BE49-F238E27FC236}">
                <a16:creationId xmlns:a16="http://schemas.microsoft.com/office/drawing/2014/main" id="{89151CDA-1CE7-8040-9BE3-2C26971551EB}"/>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8412108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9" Type="http://schemas.openxmlformats.org/officeDocument/2006/relationships/image" Target="../media/image41.svg"/><Relationship Id="rId21" Type="http://schemas.openxmlformats.org/officeDocument/2006/relationships/image" Target="../media/image23.png"/><Relationship Id="rId34" Type="http://schemas.openxmlformats.org/officeDocument/2006/relationships/image" Target="../media/image36.png"/><Relationship Id="rId7" Type="http://schemas.openxmlformats.org/officeDocument/2006/relationships/image" Target="../media/image9.png"/><Relationship Id="rId12" Type="http://schemas.openxmlformats.org/officeDocument/2006/relationships/image" Target="../media/image14.sv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35.svg"/><Relationship Id="rId38" Type="http://schemas.openxmlformats.org/officeDocument/2006/relationships/image" Target="../media/image40.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sv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36" Type="http://schemas.openxmlformats.org/officeDocument/2006/relationships/image" Target="../media/image38.png"/><Relationship Id="rId10" Type="http://schemas.openxmlformats.org/officeDocument/2006/relationships/image" Target="../media/image12.svg"/><Relationship Id="rId19" Type="http://schemas.openxmlformats.org/officeDocument/2006/relationships/image" Target="../media/image21.png"/><Relationship Id="rId31" Type="http://schemas.openxmlformats.org/officeDocument/2006/relationships/image" Target="../media/image33.sv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2.png"/><Relationship Id="rId35" Type="http://schemas.openxmlformats.org/officeDocument/2006/relationships/image" Target="../media/image37.svg"/><Relationship Id="rId8" Type="http://schemas.openxmlformats.org/officeDocument/2006/relationships/image" Target="../media/image10.png"/><Relationship Id="rId3" Type="http://schemas.openxmlformats.org/officeDocument/2006/relationships/image" Target="../media/image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6AF7A-7CD9-5F27-9980-39CC88DF815A}"/>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1225E09-6400-1403-7767-E9BAA500B56D}"/>
              </a:ext>
            </a:extLst>
          </p:cNvPr>
          <p:cNvGrpSpPr/>
          <p:nvPr/>
        </p:nvGrpSpPr>
        <p:grpSpPr>
          <a:xfrm>
            <a:off x="5162763" y="2837202"/>
            <a:ext cx="6738876" cy="2000548"/>
            <a:chOff x="5162763" y="2837202"/>
            <a:chExt cx="6738876" cy="2000548"/>
          </a:xfrm>
        </p:grpSpPr>
        <p:sp>
          <p:nvSpPr>
            <p:cNvPr id="31" name="TextBox 30">
              <a:extLst>
                <a:ext uri="{FF2B5EF4-FFF2-40B4-BE49-F238E27FC236}">
                  <a16:creationId xmlns:a16="http://schemas.microsoft.com/office/drawing/2014/main" id="{93B55FA3-F3D1-9EF4-6C41-36DE2CAE69AF}"/>
                </a:ext>
              </a:extLst>
            </p:cNvPr>
            <p:cNvSpPr txBox="1"/>
            <p:nvPr/>
          </p:nvSpPr>
          <p:spPr>
            <a:xfrm>
              <a:off x="5162763" y="2837202"/>
              <a:ext cx="6738876" cy="2000548"/>
            </a:xfrm>
            <a:prstGeom prst="rect">
              <a:avLst/>
            </a:prstGeom>
            <a:noFill/>
          </p:spPr>
          <p:txBody>
            <a:bodyPr wrap="square" rtlCol="0">
              <a:spAutoFit/>
            </a:bodyPr>
            <a:lstStyle/>
            <a:p>
              <a:r>
                <a:rPr lang="en-US" sz="3200" b="1">
                  <a:effectLst/>
                  <a:latin typeface="Calibri" panose="020F0502020204030204" pitchFamily="34" charset="0"/>
                  <a:ea typeface="Calibri" panose="020F0502020204030204" pitchFamily="34" charset="0"/>
                  <a:cs typeface="Times New Roman" panose="02020603050405020304" pitchFamily="18" charset="0"/>
                </a:rPr>
                <a:t> </a:t>
              </a:r>
            </a:p>
            <a:p>
              <a:r>
                <a:rPr lang="en-US" sz="3200" b="1">
                  <a:effectLst/>
                  <a:latin typeface="Calibri" panose="020F0502020204030204" pitchFamily="34" charset="0"/>
                  <a:ea typeface="Calibri" panose="020F0502020204030204" pitchFamily="34" charset="0"/>
                  <a:cs typeface="Times New Roman" panose="02020603050405020304" pitchFamily="18" charset="0"/>
                </a:rPr>
                <a:t>Dashboard Embedded Copilot Solution </a:t>
              </a:r>
              <a:endParaRPr lang="en-US" sz="1400">
                <a:latin typeface="Arial"/>
                <a:cs typeface="Arial"/>
              </a:endParaRPr>
            </a:p>
            <a:p>
              <a:r>
                <a:rPr lang="en-US" sz="1400">
                  <a:latin typeface="Arial" panose="020B0604020202020204" pitchFamily="34" charset="0"/>
                  <a:cs typeface="Arial" panose="020B0604020202020204" pitchFamily="34" charset="0"/>
                </a:rPr>
                <a:t>Unified </a:t>
              </a:r>
              <a:r>
                <a:rPr lang="en-IN" sz="1400">
                  <a:latin typeface="Arial" panose="020B0604020202020204" pitchFamily="34" charset="0"/>
                  <a:cs typeface="Arial" panose="020B0604020202020204" pitchFamily="34" charset="0"/>
                </a:rPr>
                <a:t>AI-powered copilot that blends Data, Dashboards &amp; actions into “one stop” for Insights</a:t>
              </a:r>
              <a:endParaRPr lang="en-US" sz="1400">
                <a:latin typeface="Arial" panose="020B0604020202020204" pitchFamily="34" charset="0"/>
                <a:cs typeface="Arial" panose="020B0604020202020204" pitchFamily="34" charset="0"/>
              </a:endParaRPr>
            </a:p>
            <a:p>
              <a:endParaRPr lang="en-US" sz="3200" b="1">
                <a:latin typeface="Calibri" panose="020F0502020204030204" pitchFamily="34" charset="0"/>
                <a:ea typeface="Calibri" panose="020F0502020204030204" pitchFamily="34" charset="0"/>
                <a:cs typeface="Times New Roman" panose="02020603050405020304" pitchFamily="18" charset="0"/>
              </a:endParaRPr>
            </a:p>
          </p:txBody>
        </p:sp>
        <p:pic>
          <p:nvPicPr>
            <p:cNvPr id="43" name="Picture 42">
              <a:extLst>
                <a:ext uri="{FF2B5EF4-FFF2-40B4-BE49-F238E27FC236}">
                  <a16:creationId xmlns:a16="http://schemas.microsoft.com/office/drawing/2014/main" id="{20C3DB9A-465F-1511-3428-5C06BEA7E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0776" y="2837202"/>
              <a:ext cx="2407968" cy="457514"/>
            </a:xfrm>
            <a:prstGeom prst="rect">
              <a:avLst/>
            </a:prstGeom>
          </p:spPr>
        </p:pic>
      </p:grpSp>
      <p:sp>
        <p:nvSpPr>
          <p:cNvPr id="3" name="Freeform 2">
            <a:extLst>
              <a:ext uri="{FF2B5EF4-FFF2-40B4-BE49-F238E27FC236}">
                <a16:creationId xmlns:a16="http://schemas.microsoft.com/office/drawing/2014/main" id="{3F6E0103-E168-6F6F-0484-AE228763B0E7}"/>
              </a:ext>
            </a:extLst>
          </p:cNvPr>
          <p:cNvSpPr/>
          <p:nvPr/>
        </p:nvSpPr>
        <p:spPr>
          <a:xfrm>
            <a:off x="1390337" y="2316179"/>
            <a:ext cx="4087205" cy="2225641"/>
          </a:xfrm>
          <a:custGeom>
            <a:avLst/>
            <a:gdLst/>
            <a:ahLst/>
            <a:cxnLst/>
            <a:rect l="l" t="t" r="r" b="b"/>
            <a:pathLst>
              <a:path w="12352120" h="8229600">
                <a:moveTo>
                  <a:pt x="0" y="0"/>
                </a:moveTo>
                <a:lnTo>
                  <a:pt x="12352120" y="0"/>
                </a:lnTo>
                <a:lnTo>
                  <a:pt x="12352120" y="8229600"/>
                </a:lnTo>
                <a:lnTo>
                  <a:pt x="0" y="8229600"/>
                </a:lnTo>
                <a:lnTo>
                  <a:pt x="0" y="0"/>
                </a:lnTo>
                <a:close/>
              </a:path>
            </a:pathLst>
          </a:custGeom>
          <a:blipFill>
            <a:blip r:embed="rId4"/>
            <a:stretch>
              <a:fillRect/>
            </a:stretch>
          </a:blipFill>
          <a:effectLst>
            <a:softEdge rad="609600"/>
          </a:effectLst>
        </p:spPr>
        <p:txBody>
          <a:bodyPr/>
          <a:lstStyle/>
          <a:p>
            <a:endParaRPr lang="en-IN"/>
          </a:p>
        </p:txBody>
      </p:sp>
    </p:spTree>
    <p:extLst>
      <p:ext uri="{BB962C8B-B14F-4D97-AF65-F5344CB8AC3E}">
        <p14:creationId xmlns:p14="http://schemas.microsoft.com/office/powerpoint/2010/main" val="2103191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BE79C-52FC-B64D-61CA-503B77A841A2}"/>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230A3A5A-E4AD-61F0-8383-0C98C716D715}"/>
              </a:ext>
            </a:extLst>
          </p:cNvPr>
          <p:cNvSpPr/>
          <p:nvPr/>
        </p:nvSpPr>
        <p:spPr>
          <a:xfrm>
            <a:off x="3548744" y="130628"/>
            <a:ext cx="3679370" cy="558701"/>
          </a:xfrm>
          <a:prstGeom prst="rect">
            <a:avLst/>
          </a:prstGeom>
          <a:noFill/>
          <a:ln/>
        </p:spPr>
        <p:txBody>
          <a:bodyPr wrap="square" lIns="0" tIns="0" rIns="0" bIns="0" rtlCol="0" anchor="t"/>
          <a:lstStyle/>
          <a:p>
            <a:pPr marL="0" indent="0">
              <a:lnSpc>
                <a:spcPts val="3240"/>
              </a:lnSpc>
              <a:buNone/>
            </a:pPr>
            <a:r>
              <a:rPr lang="en-US" sz="3200" b="1">
                <a:solidFill>
                  <a:schemeClr val="accent1"/>
                </a:solidFill>
                <a:latin typeface="Segoe UI" pitchFamily="34" charset="0"/>
                <a:ea typeface="Segoe UI" pitchFamily="34" charset="-122"/>
                <a:cs typeface="Segoe UI" pitchFamily="34" charset="-120"/>
              </a:rPr>
              <a:t>Meeting Summary</a:t>
            </a:r>
            <a:endParaRPr lang="en-US" sz="3200" b="1">
              <a:solidFill>
                <a:schemeClr val="accent1"/>
              </a:solidFill>
            </a:endParaRPr>
          </a:p>
        </p:txBody>
      </p:sp>
      <p:sp>
        <p:nvSpPr>
          <p:cNvPr id="7" name="Text 4">
            <a:extLst>
              <a:ext uri="{FF2B5EF4-FFF2-40B4-BE49-F238E27FC236}">
                <a16:creationId xmlns:a16="http://schemas.microsoft.com/office/drawing/2014/main" id="{649BB1C4-B0DE-12FB-63EC-9BCAEEE2EB5E}"/>
              </a:ext>
            </a:extLst>
          </p:cNvPr>
          <p:cNvSpPr/>
          <p:nvPr/>
        </p:nvSpPr>
        <p:spPr>
          <a:xfrm>
            <a:off x="743474" y="872189"/>
            <a:ext cx="7671399" cy="182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ea typeface="Segoe UI" pitchFamily="34" charset="-122"/>
                <a:cs typeface="Segoe UI" pitchFamily="34" charset="-120"/>
              </a:rPr>
              <a:t>Core Solution Overview</a:t>
            </a:r>
            <a:endParaRPr lang="en-US" sz="1600">
              <a:solidFill>
                <a:schemeClr val="tx2"/>
              </a:solidFill>
            </a:endParaRPr>
          </a:p>
        </p:txBody>
      </p:sp>
      <p:sp>
        <p:nvSpPr>
          <p:cNvPr id="8" name="Text 5">
            <a:extLst>
              <a:ext uri="{FF2B5EF4-FFF2-40B4-BE49-F238E27FC236}">
                <a16:creationId xmlns:a16="http://schemas.microsoft.com/office/drawing/2014/main" id="{8D11BDA3-6977-1F5F-B6C1-C77FFD7270FA}"/>
              </a:ext>
            </a:extLst>
          </p:cNvPr>
          <p:cNvSpPr/>
          <p:nvPr/>
        </p:nvSpPr>
        <p:spPr>
          <a:xfrm>
            <a:off x="743471" y="1072084"/>
            <a:ext cx="10468812" cy="177699"/>
          </a:xfrm>
          <a:prstGeom prst="rect">
            <a:avLst/>
          </a:prstGeom>
          <a:noFill/>
          <a:ln/>
        </p:spPr>
        <p:txBody>
          <a:bodyPr wrap="square" lIns="0" tIns="0" rIns="0" bIns="0" rtlCol="0" anchor="t"/>
          <a:lstStyle/>
          <a:p>
            <a:pPr marL="0" indent="0">
              <a:lnSpc>
                <a:spcPts val="1596"/>
              </a:lnSpc>
              <a:buNone/>
            </a:pPr>
            <a:r>
              <a:rPr lang="en-US" sz="1600">
                <a:latin typeface="Segoe UI" pitchFamily="34" charset="0"/>
                <a:ea typeface="Segoe UI" pitchFamily="34" charset="-122"/>
                <a:cs typeface="Segoe UI" pitchFamily="34" charset="-120"/>
              </a:rPr>
              <a:t>Unified AI-powered copilot blending structured data (Snowflake) with unstructured knowledge (PDFs, PowerPoints) in Salesforce, Teams, Slack, Outlook</a:t>
            </a:r>
            <a:endParaRPr lang="en-US" sz="1600"/>
          </a:p>
        </p:txBody>
      </p:sp>
      <p:sp>
        <p:nvSpPr>
          <p:cNvPr id="9" name="Text 6">
            <a:extLst>
              <a:ext uri="{FF2B5EF4-FFF2-40B4-BE49-F238E27FC236}">
                <a16:creationId xmlns:a16="http://schemas.microsoft.com/office/drawing/2014/main" id="{CE55E6F7-E882-33F9-34F4-952E9A2550BD}"/>
              </a:ext>
            </a:extLst>
          </p:cNvPr>
          <p:cNvSpPr/>
          <p:nvPr/>
        </p:nvSpPr>
        <p:spPr>
          <a:xfrm>
            <a:off x="743473" y="1673530"/>
            <a:ext cx="7671399" cy="182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ea typeface="Segoe UI" pitchFamily="34" charset="-122"/>
                <a:cs typeface="Segoe UI" pitchFamily="34" charset="-120"/>
              </a:rPr>
              <a:t>Data Integration Architecture</a:t>
            </a:r>
            <a:endParaRPr lang="en-US" sz="1600">
              <a:solidFill>
                <a:schemeClr val="tx2"/>
              </a:solidFill>
            </a:endParaRPr>
          </a:p>
        </p:txBody>
      </p:sp>
      <p:sp>
        <p:nvSpPr>
          <p:cNvPr id="10" name="Text 7">
            <a:extLst>
              <a:ext uri="{FF2B5EF4-FFF2-40B4-BE49-F238E27FC236}">
                <a16:creationId xmlns:a16="http://schemas.microsoft.com/office/drawing/2014/main" id="{3EB4CC1C-B862-5292-8F4F-799FE036AFE6}"/>
              </a:ext>
            </a:extLst>
          </p:cNvPr>
          <p:cNvSpPr/>
          <p:nvPr/>
        </p:nvSpPr>
        <p:spPr>
          <a:xfrm>
            <a:off x="743471" y="1874927"/>
            <a:ext cx="10675640" cy="405209"/>
          </a:xfrm>
          <a:prstGeom prst="rect">
            <a:avLst/>
          </a:prstGeom>
          <a:noFill/>
          <a:ln/>
        </p:spPr>
        <p:txBody>
          <a:bodyPr wrap="square" lIns="0" tIns="0" rIns="0" bIns="0" rtlCol="0" anchor="t"/>
          <a:lstStyle/>
          <a:p>
            <a:pPr marL="0" indent="0">
              <a:lnSpc>
                <a:spcPts val="1596"/>
              </a:lnSpc>
              <a:buNone/>
            </a:pPr>
            <a:r>
              <a:rPr lang="en-US" sz="1600">
                <a:latin typeface="Segoe UI" pitchFamily="34" charset="0"/>
                <a:ea typeface="Segoe UI" pitchFamily="34" charset="-122"/>
                <a:cs typeface="Segoe UI" pitchFamily="34" charset="-120"/>
              </a:rPr>
              <a:t>Three-layer strategy: Structured data (Snowflake), Unstructured knowledge (documentation), External intelligence (public data, reports)</a:t>
            </a:r>
            <a:endParaRPr lang="en-US" sz="1600"/>
          </a:p>
        </p:txBody>
      </p:sp>
      <p:sp>
        <p:nvSpPr>
          <p:cNvPr id="11" name="Text 8">
            <a:extLst>
              <a:ext uri="{FF2B5EF4-FFF2-40B4-BE49-F238E27FC236}">
                <a16:creationId xmlns:a16="http://schemas.microsoft.com/office/drawing/2014/main" id="{4CCC32B3-4050-7AD7-2392-BF7862BFC635}"/>
              </a:ext>
            </a:extLst>
          </p:cNvPr>
          <p:cNvSpPr/>
          <p:nvPr/>
        </p:nvSpPr>
        <p:spPr>
          <a:xfrm>
            <a:off x="743472" y="2551865"/>
            <a:ext cx="7671399" cy="182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ea typeface="Segoe UI" pitchFamily="34" charset="-122"/>
                <a:cs typeface="Segoe UI" pitchFamily="34" charset="-120"/>
              </a:rPr>
              <a:t>Technical Foundation &amp; Use Cases</a:t>
            </a:r>
            <a:endParaRPr lang="en-US" sz="1600">
              <a:solidFill>
                <a:schemeClr val="tx2"/>
              </a:solidFill>
            </a:endParaRPr>
          </a:p>
        </p:txBody>
      </p:sp>
      <p:sp>
        <p:nvSpPr>
          <p:cNvPr id="12" name="Text 9">
            <a:extLst>
              <a:ext uri="{FF2B5EF4-FFF2-40B4-BE49-F238E27FC236}">
                <a16:creationId xmlns:a16="http://schemas.microsoft.com/office/drawing/2014/main" id="{4E60E6D6-BE61-4351-EC94-5456869E96C5}"/>
              </a:ext>
            </a:extLst>
          </p:cNvPr>
          <p:cNvSpPr/>
          <p:nvPr/>
        </p:nvSpPr>
        <p:spPr>
          <a:xfrm>
            <a:off x="743471" y="2703883"/>
            <a:ext cx="10675640" cy="405209"/>
          </a:xfrm>
          <a:prstGeom prst="rect">
            <a:avLst/>
          </a:prstGeom>
          <a:noFill/>
          <a:ln/>
        </p:spPr>
        <p:txBody>
          <a:bodyPr wrap="square" lIns="0" tIns="0" rIns="0" bIns="0" rtlCol="0" anchor="t"/>
          <a:lstStyle/>
          <a:p>
            <a:pPr marL="0" indent="0">
              <a:lnSpc>
                <a:spcPts val="1596"/>
              </a:lnSpc>
              <a:buNone/>
            </a:pPr>
            <a:r>
              <a:rPr lang="en-US" sz="1600">
                <a:latin typeface="Segoe UI" pitchFamily="34" charset="0"/>
                <a:ea typeface="Segoe UI" pitchFamily="34" charset="-122"/>
                <a:cs typeface="Segoe UI" pitchFamily="34" charset="-120"/>
              </a:rPr>
              <a:t>Snowflake Cortex (Search, Analyst, Agent) enables natural language queries; complements BI dashboards for KPIs and detailed analysis</a:t>
            </a:r>
            <a:endParaRPr lang="en-US" sz="1600"/>
          </a:p>
        </p:txBody>
      </p:sp>
      <p:sp>
        <p:nvSpPr>
          <p:cNvPr id="14" name="Text 4">
            <a:extLst>
              <a:ext uri="{FF2B5EF4-FFF2-40B4-BE49-F238E27FC236}">
                <a16:creationId xmlns:a16="http://schemas.microsoft.com/office/drawing/2014/main" id="{AF034DBC-BB6E-74A2-D6F3-779B3D7D4E17}"/>
              </a:ext>
            </a:extLst>
          </p:cNvPr>
          <p:cNvSpPr/>
          <p:nvPr/>
        </p:nvSpPr>
        <p:spPr>
          <a:xfrm>
            <a:off x="743474" y="3429000"/>
            <a:ext cx="7671399" cy="182860"/>
          </a:xfrm>
          <a:prstGeom prst="rect">
            <a:avLst/>
          </a:prstGeom>
          <a:noFill/>
          <a:ln/>
        </p:spPr>
        <p:txBody>
          <a:bodyPr wrap="square" lIns="0" tIns="0" rIns="0" bIns="0" rtlCol="0" anchor="t"/>
          <a:lstStyle/>
          <a:p>
            <a:pPr>
              <a:lnSpc>
                <a:spcPts val="1440"/>
              </a:lnSpc>
            </a:pPr>
            <a:r>
              <a:rPr lang="en-IN" sz="1600" b="1">
                <a:solidFill>
                  <a:schemeClr val="tx2"/>
                </a:solidFill>
                <a:latin typeface="Segoe UI" pitchFamily="34" charset="0"/>
                <a:cs typeface="Segoe UI" pitchFamily="34" charset="-120"/>
              </a:rPr>
              <a:t>User</a:t>
            </a:r>
            <a:r>
              <a:rPr lang="en-IN" sz="1600" b="1">
                <a:solidFill>
                  <a:schemeClr val="tx2"/>
                </a:solidFill>
              </a:rPr>
              <a:t> </a:t>
            </a:r>
            <a:r>
              <a:rPr lang="en-IN" sz="1600" b="1">
                <a:solidFill>
                  <a:schemeClr val="tx2"/>
                </a:solidFill>
                <a:latin typeface="Segoe UI" pitchFamily="34" charset="0"/>
                <a:cs typeface="Segoe UI" pitchFamily="34" charset="-120"/>
              </a:rPr>
              <a:t>Interface</a:t>
            </a:r>
            <a:r>
              <a:rPr lang="en-IN" sz="1600" b="1">
                <a:solidFill>
                  <a:schemeClr val="tx2"/>
                </a:solidFill>
              </a:rPr>
              <a:t> </a:t>
            </a:r>
            <a:r>
              <a:rPr lang="en-IN" sz="1600" b="1">
                <a:solidFill>
                  <a:schemeClr val="tx2"/>
                </a:solidFill>
                <a:latin typeface="Segoe UI" pitchFamily="34" charset="0"/>
                <a:cs typeface="Segoe UI" pitchFamily="34" charset="-120"/>
              </a:rPr>
              <a:t>Strategy</a:t>
            </a:r>
            <a:endParaRPr lang="en-US" sz="1600" b="1">
              <a:solidFill>
                <a:schemeClr val="tx2"/>
              </a:solidFill>
              <a:latin typeface="Segoe UI" pitchFamily="34" charset="0"/>
              <a:cs typeface="Segoe UI" pitchFamily="34" charset="-120"/>
            </a:endParaRPr>
          </a:p>
        </p:txBody>
      </p:sp>
      <p:sp>
        <p:nvSpPr>
          <p:cNvPr id="15" name="Text 5">
            <a:extLst>
              <a:ext uri="{FF2B5EF4-FFF2-40B4-BE49-F238E27FC236}">
                <a16:creationId xmlns:a16="http://schemas.microsoft.com/office/drawing/2014/main" id="{873C20AE-0B36-EF64-D751-41347045C0FF}"/>
              </a:ext>
            </a:extLst>
          </p:cNvPr>
          <p:cNvSpPr/>
          <p:nvPr/>
        </p:nvSpPr>
        <p:spPr>
          <a:xfrm>
            <a:off x="743472" y="3618323"/>
            <a:ext cx="10675639" cy="282137"/>
          </a:xfrm>
          <a:prstGeom prst="rect">
            <a:avLst/>
          </a:prstGeom>
          <a:noFill/>
          <a:ln/>
        </p:spPr>
        <p:txBody>
          <a:bodyPr wrap="square" lIns="0" tIns="0" rIns="0" bIns="0" rtlCol="0" anchor="t"/>
          <a:lstStyle/>
          <a:p>
            <a:pPr>
              <a:lnSpc>
                <a:spcPts val="1596"/>
              </a:lnSpc>
            </a:pPr>
            <a:r>
              <a:rPr lang="en-US" sz="1600">
                <a:latin typeface="Segoe UI" pitchFamily="34" charset="0"/>
                <a:cs typeface="Segoe UI" pitchFamily="34" charset="-120"/>
              </a:rPr>
              <a:t>Extends traditional Customer 360 dashboard (Tableau with multiple daily refreshes) by enabling conversational queries directly within existing sales workflows​</a:t>
            </a:r>
          </a:p>
        </p:txBody>
      </p:sp>
      <p:sp>
        <p:nvSpPr>
          <p:cNvPr id="16" name="Text 4">
            <a:extLst>
              <a:ext uri="{FF2B5EF4-FFF2-40B4-BE49-F238E27FC236}">
                <a16:creationId xmlns:a16="http://schemas.microsoft.com/office/drawing/2014/main" id="{A6D4EDF1-3799-FBB6-E02D-A1ED13C95E33}"/>
              </a:ext>
            </a:extLst>
          </p:cNvPr>
          <p:cNvSpPr/>
          <p:nvPr/>
        </p:nvSpPr>
        <p:spPr>
          <a:xfrm>
            <a:off x="743472" y="4243984"/>
            <a:ext cx="7671399" cy="182860"/>
          </a:xfrm>
          <a:prstGeom prst="rect">
            <a:avLst/>
          </a:prstGeom>
          <a:noFill/>
          <a:ln/>
        </p:spPr>
        <p:txBody>
          <a:bodyPr wrap="square" lIns="0" tIns="0" rIns="0" bIns="0" rtlCol="0" anchor="t"/>
          <a:lstStyle/>
          <a:p>
            <a:pPr>
              <a:lnSpc>
                <a:spcPts val="1440"/>
              </a:lnSpc>
            </a:pPr>
            <a:r>
              <a:rPr lang="en-IN" sz="1600" b="1">
                <a:solidFill>
                  <a:schemeClr val="tx2"/>
                </a:solidFill>
                <a:latin typeface="Segoe UI" pitchFamily="34" charset="0"/>
                <a:cs typeface="Segoe UI" pitchFamily="34" charset="-120"/>
              </a:rPr>
              <a:t>Use Cases &amp; Value Proposition</a:t>
            </a:r>
            <a:endParaRPr lang="en-US" sz="1600" b="1">
              <a:solidFill>
                <a:schemeClr val="tx2"/>
              </a:solidFill>
              <a:latin typeface="Segoe UI" pitchFamily="34" charset="0"/>
              <a:cs typeface="Segoe UI" pitchFamily="34" charset="-120"/>
            </a:endParaRPr>
          </a:p>
        </p:txBody>
      </p:sp>
      <p:sp>
        <p:nvSpPr>
          <p:cNvPr id="17" name="Text 5">
            <a:extLst>
              <a:ext uri="{FF2B5EF4-FFF2-40B4-BE49-F238E27FC236}">
                <a16:creationId xmlns:a16="http://schemas.microsoft.com/office/drawing/2014/main" id="{B6C1E2D8-CF21-067C-C8C7-5FEE28C09242}"/>
              </a:ext>
            </a:extLst>
          </p:cNvPr>
          <p:cNvSpPr/>
          <p:nvPr/>
        </p:nvSpPr>
        <p:spPr>
          <a:xfrm>
            <a:off x="743472" y="4391516"/>
            <a:ext cx="10675639" cy="282137"/>
          </a:xfrm>
          <a:prstGeom prst="rect">
            <a:avLst/>
          </a:prstGeom>
          <a:noFill/>
          <a:ln/>
        </p:spPr>
        <p:txBody>
          <a:bodyPr wrap="square" lIns="0" tIns="0" rIns="0" bIns="0" rtlCol="0" anchor="t"/>
          <a:lstStyle/>
          <a:p>
            <a:pPr>
              <a:lnSpc>
                <a:spcPts val="1596"/>
              </a:lnSpc>
            </a:pPr>
            <a:r>
              <a:rPr lang="en-US" sz="1600">
                <a:latin typeface="Segoe UI" pitchFamily="34" charset="0"/>
                <a:cs typeface="Segoe UI" pitchFamily="34" charset="-120"/>
              </a:rPr>
              <a:t>Enables natural language queries like "Tell me about product XYZ" or "Who are the top customers in Country for 2025?" while complementing BI dashboards—dashboards provide KPIs, copilot handles detailed questions and complex filtering​</a:t>
            </a:r>
          </a:p>
        </p:txBody>
      </p:sp>
      <p:sp>
        <p:nvSpPr>
          <p:cNvPr id="22" name="Text 4">
            <a:extLst>
              <a:ext uri="{FF2B5EF4-FFF2-40B4-BE49-F238E27FC236}">
                <a16:creationId xmlns:a16="http://schemas.microsoft.com/office/drawing/2014/main" id="{7FCC7E34-8044-8D32-2C05-BAD56E1C7BA4}"/>
              </a:ext>
            </a:extLst>
          </p:cNvPr>
          <p:cNvSpPr/>
          <p:nvPr/>
        </p:nvSpPr>
        <p:spPr>
          <a:xfrm>
            <a:off x="743472" y="5202600"/>
            <a:ext cx="7671399" cy="182860"/>
          </a:xfrm>
          <a:prstGeom prst="rect">
            <a:avLst/>
          </a:prstGeom>
          <a:noFill/>
          <a:ln/>
        </p:spPr>
        <p:txBody>
          <a:bodyPr wrap="square" lIns="0" tIns="0" rIns="0" bIns="0" rtlCol="0" anchor="t"/>
          <a:lstStyle/>
          <a:p>
            <a:pPr>
              <a:lnSpc>
                <a:spcPts val="1440"/>
              </a:lnSpc>
            </a:pPr>
            <a:r>
              <a:rPr lang="en-IN" sz="1600" b="1">
                <a:solidFill>
                  <a:schemeClr val="tx2"/>
                </a:solidFill>
                <a:latin typeface="Segoe UI" pitchFamily="34" charset="0"/>
                <a:cs typeface="Segoe UI" pitchFamily="34" charset="-120"/>
              </a:rPr>
              <a:t>User</a:t>
            </a:r>
            <a:r>
              <a:rPr lang="en-IN" sz="1600" b="1"/>
              <a:t> </a:t>
            </a:r>
            <a:r>
              <a:rPr lang="en-IN" sz="1600" b="1">
                <a:solidFill>
                  <a:schemeClr val="tx2"/>
                </a:solidFill>
                <a:latin typeface="Segoe UI" pitchFamily="34" charset="0"/>
                <a:cs typeface="Segoe UI" pitchFamily="34" charset="-120"/>
              </a:rPr>
              <a:t>Experience</a:t>
            </a:r>
            <a:r>
              <a:rPr lang="en-IN" sz="1600" b="1"/>
              <a:t> </a:t>
            </a:r>
            <a:r>
              <a:rPr lang="en-IN" sz="1600" b="1">
                <a:solidFill>
                  <a:schemeClr val="tx2"/>
                </a:solidFill>
                <a:latin typeface="Segoe UI" pitchFamily="34" charset="0"/>
                <a:cs typeface="Segoe UI" pitchFamily="34" charset="-120"/>
              </a:rPr>
              <a:t>Considerations</a:t>
            </a:r>
            <a:endParaRPr lang="en-US" sz="1600" b="1">
              <a:solidFill>
                <a:schemeClr val="tx2"/>
              </a:solidFill>
              <a:latin typeface="Segoe UI" pitchFamily="34" charset="0"/>
              <a:cs typeface="Segoe UI" pitchFamily="34" charset="-120"/>
            </a:endParaRPr>
          </a:p>
        </p:txBody>
      </p:sp>
      <p:sp>
        <p:nvSpPr>
          <p:cNvPr id="23" name="Text 5">
            <a:extLst>
              <a:ext uri="{FF2B5EF4-FFF2-40B4-BE49-F238E27FC236}">
                <a16:creationId xmlns:a16="http://schemas.microsoft.com/office/drawing/2014/main" id="{972EEE96-3C61-F1E3-2D6E-6512D56277FD}"/>
              </a:ext>
            </a:extLst>
          </p:cNvPr>
          <p:cNvSpPr/>
          <p:nvPr/>
        </p:nvSpPr>
        <p:spPr>
          <a:xfrm>
            <a:off x="743472" y="5385460"/>
            <a:ext cx="10675639" cy="282137"/>
          </a:xfrm>
          <a:prstGeom prst="rect">
            <a:avLst/>
          </a:prstGeom>
          <a:noFill/>
          <a:ln/>
        </p:spPr>
        <p:txBody>
          <a:bodyPr wrap="square" lIns="0" tIns="0" rIns="0" bIns="0" rtlCol="0" anchor="t"/>
          <a:lstStyle/>
          <a:p>
            <a:pPr>
              <a:lnSpc>
                <a:spcPts val="1596"/>
              </a:lnSpc>
            </a:pPr>
            <a:r>
              <a:rPr lang="en-US" sz="1600">
                <a:latin typeface="Segoe UI" pitchFamily="34" charset="0"/>
                <a:cs typeface="Segoe UI" pitchFamily="34" charset="-120"/>
              </a:rPr>
              <a:t>Implements role-based security for authorized data access, integrates with existing tech stacks (Power BI, Tableau) without requiring new technology, and offers flexible UI options via Stream lit or direct platform embedding​</a:t>
            </a:r>
          </a:p>
        </p:txBody>
      </p:sp>
    </p:spTree>
    <p:extLst>
      <p:ext uri="{BB962C8B-B14F-4D97-AF65-F5344CB8AC3E}">
        <p14:creationId xmlns:p14="http://schemas.microsoft.com/office/powerpoint/2010/main" val="422423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7061-0E0B-D20D-89E0-83C40C258E07}"/>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60759CF6-649A-9B3A-4E82-B2A0216F7DFF}"/>
              </a:ext>
            </a:extLst>
          </p:cNvPr>
          <p:cNvSpPr/>
          <p:nvPr/>
        </p:nvSpPr>
        <p:spPr>
          <a:xfrm>
            <a:off x="2950029" y="128183"/>
            <a:ext cx="6063343" cy="558701"/>
          </a:xfrm>
          <a:prstGeom prst="rect">
            <a:avLst/>
          </a:prstGeom>
          <a:noFill/>
          <a:ln/>
        </p:spPr>
        <p:txBody>
          <a:bodyPr wrap="square" lIns="0" tIns="0" rIns="0" bIns="0" rtlCol="0" anchor="t"/>
          <a:lstStyle/>
          <a:p>
            <a:pPr>
              <a:lnSpc>
                <a:spcPts val="3240"/>
              </a:lnSpc>
            </a:pPr>
            <a:r>
              <a:rPr lang="en-US" sz="3200" b="1">
                <a:solidFill>
                  <a:schemeClr val="accent1"/>
                </a:solidFill>
                <a:latin typeface="Segoe UI" pitchFamily="34" charset="0"/>
                <a:cs typeface="Segoe UI" pitchFamily="34" charset="-120"/>
              </a:rPr>
              <a:t>Next Steps &amp; Discussion Points</a:t>
            </a:r>
          </a:p>
        </p:txBody>
      </p:sp>
      <p:sp>
        <p:nvSpPr>
          <p:cNvPr id="42" name="Text 6">
            <a:extLst>
              <a:ext uri="{FF2B5EF4-FFF2-40B4-BE49-F238E27FC236}">
                <a16:creationId xmlns:a16="http://schemas.microsoft.com/office/drawing/2014/main" id="{B72D1177-45E4-9447-D8A6-1AEF4F7667B1}"/>
              </a:ext>
            </a:extLst>
          </p:cNvPr>
          <p:cNvSpPr/>
          <p:nvPr/>
        </p:nvSpPr>
        <p:spPr>
          <a:xfrm>
            <a:off x="1709864" y="1364145"/>
            <a:ext cx="1741051" cy="27424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POC</a:t>
            </a:r>
            <a:r>
              <a:rPr lang="en-US" sz="1600" b="1">
                <a:latin typeface="Segoe UI" panose="020B0502040204020203" pitchFamily="34" charset="0"/>
                <a:ea typeface="Segoe UI" pitchFamily="34" charset="-122"/>
                <a:cs typeface="Segoe UI" panose="020B0502040204020203" pitchFamily="34" charset="0"/>
              </a:rPr>
              <a:t> </a:t>
            </a:r>
            <a:r>
              <a:rPr lang="en-US" sz="1600" b="1">
                <a:solidFill>
                  <a:schemeClr val="tx2"/>
                </a:solidFill>
                <a:latin typeface="Segoe UI" pitchFamily="34" charset="0"/>
                <a:cs typeface="Segoe UI" pitchFamily="34" charset="-120"/>
              </a:rPr>
              <a:t>&amp; Technical</a:t>
            </a:r>
          </a:p>
        </p:txBody>
      </p:sp>
      <p:sp>
        <p:nvSpPr>
          <p:cNvPr id="43" name="Text 7">
            <a:extLst>
              <a:ext uri="{FF2B5EF4-FFF2-40B4-BE49-F238E27FC236}">
                <a16:creationId xmlns:a16="http://schemas.microsoft.com/office/drawing/2014/main" id="{7BBF8AAA-7EE3-6BA4-736E-81B5086FA1D7}"/>
              </a:ext>
            </a:extLst>
          </p:cNvPr>
          <p:cNvSpPr/>
          <p:nvPr/>
        </p:nvSpPr>
        <p:spPr>
          <a:xfrm>
            <a:off x="1740425" y="1638385"/>
            <a:ext cx="3397632"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Define POC timeline &amp; use cases</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Agent orchestration logic</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Performance benchmarks</a:t>
            </a:r>
            <a:endParaRPr lang="en-US" sz="1600">
              <a:latin typeface="Segoe UI" panose="020B0502040204020203" pitchFamily="34" charset="0"/>
              <a:cs typeface="Segoe UI" panose="020B0502040204020203" pitchFamily="34" charset="0"/>
            </a:endParaRPr>
          </a:p>
        </p:txBody>
      </p:sp>
      <p:sp>
        <p:nvSpPr>
          <p:cNvPr id="44" name="Text 8">
            <a:extLst>
              <a:ext uri="{FF2B5EF4-FFF2-40B4-BE49-F238E27FC236}">
                <a16:creationId xmlns:a16="http://schemas.microsoft.com/office/drawing/2014/main" id="{B73A697B-E2DA-DAE5-E776-BF91FE96E949}"/>
              </a:ext>
            </a:extLst>
          </p:cNvPr>
          <p:cNvSpPr/>
          <p:nvPr/>
        </p:nvSpPr>
        <p:spPr>
          <a:xfrm>
            <a:off x="5748465" y="1364144"/>
            <a:ext cx="2835066" cy="215517"/>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Implementation &amp; Adoption</a:t>
            </a:r>
          </a:p>
        </p:txBody>
      </p:sp>
      <p:sp>
        <p:nvSpPr>
          <p:cNvPr id="48" name="Text 9">
            <a:extLst>
              <a:ext uri="{FF2B5EF4-FFF2-40B4-BE49-F238E27FC236}">
                <a16:creationId xmlns:a16="http://schemas.microsoft.com/office/drawing/2014/main" id="{41DD5EB7-640B-FD6A-5455-A4DC748DF28E}"/>
              </a:ext>
            </a:extLst>
          </p:cNvPr>
          <p:cNvSpPr/>
          <p:nvPr/>
        </p:nvSpPr>
        <p:spPr>
          <a:xfrm>
            <a:off x="5779024" y="1638385"/>
            <a:ext cx="4181405"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Integration points &amp; licensing</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Specific team custom training approach</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Success metrics definition</a:t>
            </a:r>
            <a:endParaRPr lang="en-US" sz="1600">
              <a:latin typeface="Segoe UI" panose="020B0502040204020203" pitchFamily="34" charset="0"/>
              <a:cs typeface="Segoe UI" panose="020B0502040204020203" pitchFamily="34" charset="0"/>
            </a:endParaRPr>
          </a:p>
        </p:txBody>
      </p:sp>
      <p:sp>
        <p:nvSpPr>
          <p:cNvPr id="49" name="Text 10">
            <a:extLst>
              <a:ext uri="{FF2B5EF4-FFF2-40B4-BE49-F238E27FC236}">
                <a16:creationId xmlns:a16="http://schemas.microsoft.com/office/drawing/2014/main" id="{09F52D19-4A28-702F-1CBF-E3FBE5C2B1BA}"/>
              </a:ext>
            </a:extLst>
          </p:cNvPr>
          <p:cNvSpPr/>
          <p:nvPr/>
        </p:nvSpPr>
        <p:spPr>
          <a:xfrm>
            <a:off x="1709864" y="3043224"/>
            <a:ext cx="2426707" cy="213072"/>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Technical Architecture</a:t>
            </a:r>
          </a:p>
        </p:txBody>
      </p:sp>
      <p:sp>
        <p:nvSpPr>
          <p:cNvPr id="55" name="Text 11">
            <a:extLst>
              <a:ext uri="{FF2B5EF4-FFF2-40B4-BE49-F238E27FC236}">
                <a16:creationId xmlns:a16="http://schemas.microsoft.com/office/drawing/2014/main" id="{8EB5C2F6-25EF-AE2C-0835-ABCAC23A1873}"/>
              </a:ext>
            </a:extLst>
          </p:cNvPr>
          <p:cNvSpPr/>
          <p:nvPr/>
        </p:nvSpPr>
        <p:spPr>
          <a:xfrm>
            <a:off x="1740425" y="3437882"/>
            <a:ext cx="3560917"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Agent orchestration review</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Response times &amp; accuracy</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Snowflake refresh cycles</a:t>
            </a:r>
            <a:endParaRPr lang="en-US" sz="1600">
              <a:latin typeface="Segoe UI" panose="020B0502040204020203" pitchFamily="34" charset="0"/>
              <a:cs typeface="Segoe UI" panose="020B0502040204020203" pitchFamily="34" charset="0"/>
            </a:endParaRPr>
          </a:p>
        </p:txBody>
      </p:sp>
      <p:sp>
        <p:nvSpPr>
          <p:cNvPr id="56" name="Text 12">
            <a:extLst>
              <a:ext uri="{FF2B5EF4-FFF2-40B4-BE49-F238E27FC236}">
                <a16:creationId xmlns:a16="http://schemas.microsoft.com/office/drawing/2014/main" id="{EFA35EC8-B621-FB6C-5AEA-9D8DD0AB95B9}"/>
              </a:ext>
            </a:extLst>
          </p:cNvPr>
          <p:cNvSpPr/>
          <p:nvPr/>
        </p:nvSpPr>
        <p:spPr>
          <a:xfrm>
            <a:off x="5946504" y="3079693"/>
            <a:ext cx="2201659" cy="182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Change Management</a:t>
            </a:r>
          </a:p>
        </p:txBody>
      </p:sp>
      <p:sp>
        <p:nvSpPr>
          <p:cNvPr id="57" name="Text 13">
            <a:extLst>
              <a:ext uri="{FF2B5EF4-FFF2-40B4-BE49-F238E27FC236}">
                <a16:creationId xmlns:a16="http://schemas.microsoft.com/office/drawing/2014/main" id="{39FC502B-22D1-079C-D7F4-2958B8FA8DC4}"/>
              </a:ext>
            </a:extLst>
          </p:cNvPr>
          <p:cNvSpPr/>
          <p:nvPr/>
        </p:nvSpPr>
        <p:spPr>
          <a:xfrm>
            <a:off x="5977065" y="3353933"/>
            <a:ext cx="3713316"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Training approaches &amp; enablement</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Adoption &amp; accuracy metrics</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Best practices review</a:t>
            </a:r>
            <a:endParaRPr lang="en-US" sz="1600">
              <a:latin typeface="Segoe UI" panose="020B0502040204020203" pitchFamily="34" charset="0"/>
              <a:cs typeface="Segoe UI" panose="020B0502040204020203" pitchFamily="34" charset="0"/>
            </a:endParaRPr>
          </a:p>
        </p:txBody>
      </p:sp>
      <p:sp>
        <p:nvSpPr>
          <p:cNvPr id="59" name="Text 14">
            <a:extLst>
              <a:ext uri="{FF2B5EF4-FFF2-40B4-BE49-F238E27FC236}">
                <a16:creationId xmlns:a16="http://schemas.microsoft.com/office/drawing/2014/main" id="{2307D0C4-09CD-0FDA-D257-ECCB4D13FDAE}"/>
              </a:ext>
            </a:extLst>
          </p:cNvPr>
          <p:cNvSpPr/>
          <p:nvPr/>
        </p:nvSpPr>
        <p:spPr>
          <a:xfrm>
            <a:off x="1709865" y="4722303"/>
            <a:ext cx="2220050" cy="220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Security &amp; Compliance</a:t>
            </a:r>
          </a:p>
        </p:txBody>
      </p:sp>
      <p:sp>
        <p:nvSpPr>
          <p:cNvPr id="60" name="Text 15">
            <a:extLst>
              <a:ext uri="{FF2B5EF4-FFF2-40B4-BE49-F238E27FC236}">
                <a16:creationId xmlns:a16="http://schemas.microsoft.com/office/drawing/2014/main" id="{B233E870-D593-E77C-1E01-53BA51248FCF}"/>
              </a:ext>
            </a:extLst>
          </p:cNvPr>
          <p:cNvSpPr/>
          <p:nvPr/>
        </p:nvSpPr>
        <p:spPr>
          <a:xfrm>
            <a:off x="1740425" y="4996543"/>
            <a:ext cx="7623028"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Sensitive data handling &amp; competitive intelligence protection</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Audit trail capabilities &amp; GDPR compliance</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Data residency &amp; security requirements</a:t>
            </a:r>
            <a:endParaRPr lang="en-US" sz="16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087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B16E9-3932-3377-FB2B-08380DC318E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F86588D-CF9B-F791-CA08-E3CE915CFC89}"/>
              </a:ext>
            </a:extLst>
          </p:cNvPr>
          <p:cNvSpPr txBox="1"/>
          <p:nvPr/>
        </p:nvSpPr>
        <p:spPr>
          <a:xfrm>
            <a:off x="4932589" y="194196"/>
            <a:ext cx="7486649" cy="505203"/>
          </a:xfrm>
          <a:prstGeom prst="rect">
            <a:avLst/>
          </a:prstGeom>
          <a:noFill/>
        </p:spPr>
        <p:txBody>
          <a:bodyPr wrap="square">
            <a:spAutoFit/>
          </a:bodyPr>
          <a:lstStyle/>
          <a:p>
            <a:pPr marL="0" indent="0">
              <a:lnSpc>
                <a:spcPts val="3240"/>
              </a:lnSpc>
              <a:buNone/>
            </a:pPr>
            <a:r>
              <a:rPr lang="en-US" sz="3200" b="1" dirty="0">
                <a:solidFill>
                  <a:schemeClr val="accent1"/>
                </a:solidFill>
                <a:latin typeface="Segoe UI" pitchFamily="34" charset="0"/>
                <a:cs typeface="Segoe UI" pitchFamily="34" charset="-120"/>
              </a:rPr>
              <a:t>Agnostic</a:t>
            </a:r>
            <a:r>
              <a:rPr lang="en-US" sz="3200" b="1" dirty="0">
                <a:solidFill>
                  <a:srgbClr val="00A8FF"/>
                </a:solidFill>
                <a:latin typeface="Segoe UI" pitchFamily="34" charset="0"/>
                <a:ea typeface="Segoe UI" pitchFamily="34" charset="-122"/>
                <a:cs typeface="Segoe UI" pitchFamily="34" charset="-120"/>
              </a:rPr>
              <a:t> </a:t>
            </a:r>
            <a:r>
              <a:rPr lang="en-US" sz="3200" b="1" dirty="0">
                <a:solidFill>
                  <a:schemeClr val="accent1"/>
                </a:solidFill>
                <a:latin typeface="Segoe UI" pitchFamily="34" charset="0"/>
                <a:cs typeface="Segoe UI" pitchFamily="34" charset="-120"/>
              </a:rPr>
              <a:t>Architectural Flow Diagram</a:t>
            </a:r>
          </a:p>
        </p:txBody>
      </p:sp>
      <p:sp>
        <p:nvSpPr>
          <p:cNvPr id="2" name="Freeform 2">
            <a:extLst>
              <a:ext uri="{FF2B5EF4-FFF2-40B4-BE49-F238E27FC236}">
                <a16:creationId xmlns:a16="http://schemas.microsoft.com/office/drawing/2014/main" id="{B140F413-5372-88AC-06C0-2E261F948BF0}"/>
              </a:ext>
            </a:extLst>
          </p:cNvPr>
          <p:cNvSpPr/>
          <p:nvPr/>
        </p:nvSpPr>
        <p:spPr>
          <a:xfrm>
            <a:off x="955255" y="424837"/>
            <a:ext cx="624901" cy="478049"/>
          </a:xfrm>
          <a:custGeom>
            <a:avLst/>
            <a:gdLst/>
            <a:ahLst/>
            <a:cxnLst/>
            <a:rect l="l" t="t" r="r" b="b"/>
            <a:pathLst>
              <a:path w="1582578" h="1210672">
                <a:moveTo>
                  <a:pt x="0" y="0"/>
                </a:moveTo>
                <a:lnTo>
                  <a:pt x="1582578" y="0"/>
                </a:lnTo>
                <a:lnTo>
                  <a:pt x="1582578" y="1210672"/>
                </a:lnTo>
                <a:lnTo>
                  <a:pt x="0" y="12106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1200"/>
          </a:p>
        </p:txBody>
      </p:sp>
      <p:grpSp>
        <p:nvGrpSpPr>
          <p:cNvPr id="3" name="Group 2">
            <a:extLst>
              <a:ext uri="{FF2B5EF4-FFF2-40B4-BE49-F238E27FC236}">
                <a16:creationId xmlns:a16="http://schemas.microsoft.com/office/drawing/2014/main" id="{B9427235-E25E-7FF1-7407-954DA0366DF9}"/>
              </a:ext>
            </a:extLst>
          </p:cNvPr>
          <p:cNvGrpSpPr/>
          <p:nvPr/>
        </p:nvGrpSpPr>
        <p:grpSpPr>
          <a:xfrm>
            <a:off x="309790" y="1505403"/>
            <a:ext cx="2178050" cy="2132236"/>
            <a:chOff x="1066800" y="2247900"/>
            <a:chExt cx="2667000" cy="2483979"/>
          </a:xfrm>
        </p:grpSpPr>
        <p:sp>
          <p:nvSpPr>
            <p:cNvPr id="4" name="Rectangle: Rounded Corners 3">
              <a:extLst>
                <a:ext uri="{FF2B5EF4-FFF2-40B4-BE49-F238E27FC236}">
                  <a16:creationId xmlns:a16="http://schemas.microsoft.com/office/drawing/2014/main" id="{057D4B88-FEC4-8AA9-6730-447D2FF7ECA0}"/>
                </a:ext>
              </a:extLst>
            </p:cNvPr>
            <p:cNvSpPr/>
            <p:nvPr/>
          </p:nvSpPr>
          <p:spPr>
            <a:xfrm>
              <a:off x="10668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5" name="Straight Connector 4">
              <a:extLst>
                <a:ext uri="{FF2B5EF4-FFF2-40B4-BE49-F238E27FC236}">
                  <a16:creationId xmlns:a16="http://schemas.microsoft.com/office/drawing/2014/main" id="{0CEEDDC3-F468-CD0A-FDB7-A3F1EBC698E6}"/>
                </a:ext>
              </a:extLst>
            </p:cNvPr>
            <p:cNvCxnSpPr/>
            <p:nvPr/>
          </p:nvCxnSpPr>
          <p:spPr>
            <a:xfrm>
              <a:off x="10668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0115BB01-5340-EDD8-F756-4465AF1B4122}"/>
              </a:ext>
            </a:extLst>
          </p:cNvPr>
          <p:cNvSpPr txBox="1"/>
          <p:nvPr/>
        </p:nvSpPr>
        <p:spPr>
          <a:xfrm>
            <a:off x="509814" y="1561232"/>
            <a:ext cx="1778000" cy="301557"/>
          </a:xfrm>
          <a:prstGeom prst="rect">
            <a:avLst/>
          </a:prstGeom>
          <a:noFill/>
        </p:spPr>
        <p:txBody>
          <a:bodyPr wrap="square">
            <a:spAutoFit/>
          </a:bodyPr>
          <a:lstStyle/>
          <a:p>
            <a:pPr algn="ctr">
              <a:lnSpc>
                <a:spcPts val="1760"/>
              </a:lnSpc>
              <a:spcBef>
                <a:spcPct val="0"/>
              </a:spcBef>
            </a:pPr>
            <a:r>
              <a:rPr lang="en-US" sz="1067" b="1">
                <a:solidFill>
                  <a:srgbClr val="000000"/>
                </a:solidFill>
                <a:latin typeface="Canva Sans Bold"/>
                <a:ea typeface="Canva Sans Bold"/>
                <a:cs typeface="Canva Sans Bold"/>
                <a:sym typeface="Canva Sans Bold"/>
              </a:rPr>
              <a:t> Embedded Dashboard</a:t>
            </a:r>
          </a:p>
        </p:txBody>
      </p:sp>
      <p:sp>
        <p:nvSpPr>
          <p:cNvPr id="8" name="Freeform 5">
            <a:extLst>
              <a:ext uri="{FF2B5EF4-FFF2-40B4-BE49-F238E27FC236}">
                <a16:creationId xmlns:a16="http://schemas.microsoft.com/office/drawing/2014/main" id="{A612970F-3B81-B4AC-4065-72F53C69C421}"/>
              </a:ext>
            </a:extLst>
          </p:cNvPr>
          <p:cNvSpPr/>
          <p:nvPr/>
        </p:nvSpPr>
        <p:spPr>
          <a:xfrm>
            <a:off x="431725" y="1959592"/>
            <a:ext cx="663091" cy="387931"/>
          </a:xfrm>
          <a:custGeom>
            <a:avLst/>
            <a:gdLst/>
            <a:ahLst/>
            <a:cxnLst/>
            <a:rect l="l" t="t" r="r" b="b"/>
            <a:pathLst>
              <a:path w="994637" h="581897">
                <a:moveTo>
                  <a:pt x="0" y="0"/>
                </a:moveTo>
                <a:lnTo>
                  <a:pt x="994637" y="0"/>
                </a:lnTo>
                <a:lnTo>
                  <a:pt x="994637" y="581897"/>
                </a:lnTo>
                <a:lnTo>
                  <a:pt x="0" y="581897"/>
                </a:lnTo>
                <a:lnTo>
                  <a:pt x="0" y="0"/>
                </a:lnTo>
                <a:close/>
              </a:path>
            </a:pathLst>
          </a:custGeom>
          <a:blipFill>
            <a:blip r:embed="rId4"/>
            <a:stretch>
              <a:fillRect/>
            </a:stretch>
          </a:blipFill>
        </p:spPr>
        <p:txBody>
          <a:bodyPr/>
          <a:lstStyle/>
          <a:p>
            <a:endParaRPr lang="en-IN" sz="1200"/>
          </a:p>
        </p:txBody>
      </p:sp>
      <p:sp>
        <p:nvSpPr>
          <p:cNvPr id="9" name="Freeform 6">
            <a:extLst>
              <a:ext uri="{FF2B5EF4-FFF2-40B4-BE49-F238E27FC236}">
                <a16:creationId xmlns:a16="http://schemas.microsoft.com/office/drawing/2014/main" id="{F7C65276-D221-3652-B849-81AA1607BC20}"/>
              </a:ext>
            </a:extLst>
          </p:cNvPr>
          <p:cNvSpPr/>
          <p:nvPr/>
        </p:nvSpPr>
        <p:spPr>
          <a:xfrm>
            <a:off x="580301" y="2616175"/>
            <a:ext cx="270688" cy="276785"/>
          </a:xfrm>
          <a:custGeom>
            <a:avLst/>
            <a:gdLst/>
            <a:ahLst/>
            <a:cxnLst/>
            <a:rect l="l" t="t" r="r" b="b"/>
            <a:pathLst>
              <a:path w="406032" h="415177">
                <a:moveTo>
                  <a:pt x="0" y="0"/>
                </a:moveTo>
                <a:lnTo>
                  <a:pt x="406032" y="0"/>
                </a:lnTo>
                <a:lnTo>
                  <a:pt x="406032" y="415176"/>
                </a:lnTo>
                <a:lnTo>
                  <a:pt x="0" y="415176"/>
                </a:lnTo>
                <a:lnTo>
                  <a:pt x="0" y="0"/>
                </a:lnTo>
                <a:close/>
              </a:path>
            </a:pathLst>
          </a:custGeom>
          <a:blipFill>
            <a:blip r:embed="rId5"/>
            <a:stretch>
              <a:fillRect/>
            </a:stretch>
          </a:blipFill>
        </p:spPr>
        <p:txBody>
          <a:bodyPr/>
          <a:lstStyle/>
          <a:p>
            <a:endParaRPr lang="en-IN" sz="1200"/>
          </a:p>
        </p:txBody>
      </p:sp>
      <p:sp>
        <p:nvSpPr>
          <p:cNvPr id="10" name="Freeform 7">
            <a:extLst>
              <a:ext uri="{FF2B5EF4-FFF2-40B4-BE49-F238E27FC236}">
                <a16:creationId xmlns:a16="http://schemas.microsoft.com/office/drawing/2014/main" id="{54A292E6-36BF-C805-92E1-6FE551BEF48E}"/>
              </a:ext>
            </a:extLst>
          </p:cNvPr>
          <p:cNvSpPr/>
          <p:nvPr/>
        </p:nvSpPr>
        <p:spPr>
          <a:xfrm>
            <a:off x="429209" y="3078890"/>
            <a:ext cx="572871" cy="301219"/>
          </a:xfrm>
          <a:custGeom>
            <a:avLst/>
            <a:gdLst/>
            <a:ahLst/>
            <a:cxnLst/>
            <a:rect l="l" t="t" r="r" b="b"/>
            <a:pathLst>
              <a:path w="859306" h="451828">
                <a:moveTo>
                  <a:pt x="0" y="0"/>
                </a:moveTo>
                <a:lnTo>
                  <a:pt x="859305" y="0"/>
                </a:lnTo>
                <a:lnTo>
                  <a:pt x="859305" y="451829"/>
                </a:lnTo>
                <a:lnTo>
                  <a:pt x="0" y="451829"/>
                </a:lnTo>
                <a:lnTo>
                  <a:pt x="0" y="0"/>
                </a:lnTo>
                <a:close/>
              </a:path>
            </a:pathLst>
          </a:custGeom>
          <a:blipFill>
            <a:blip r:embed="rId6"/>
            <a:stretch>
              <a:fillRect/>
            </a:stretch>
          </a:blipFill>
        </p:spPr>
        <p:txBody>
          <a:bodyPr/>
          <a:lstStyle/>
          <a:p>
            <a:endParaRPr lang="en-IN" sz="1200"/>
          </a:p>
        </p:txBody>
      </p:sp>
      <p:sp>
        <p:nvSpPr>
          <p:cNvPr id="11" name="Freeform 8">
            <a:extLst>
              <a:ext uri="{FF2B5EF4-FFF2-40B4-BE49-F238E27FC236}">
                <a16:creationId xmlns:a16="http://schemas.microsoft.com/office/drawing/2014/main" id="{E1EB668B-C18B-AFDD-57DE-43B5ACFE2022}"/>
              </a:ext>
            </a:extLst>
          </p:cNvPr>
          <p:cNvSpPr/>
          <p:nvPr/>
        </p:nvSpPr>
        <p:spPr>
          <a:xfrm>
            <a:off x="1510780" y="2161760"/>
            <a:ext cx="551508" cy="308845"/>
          </a:xfrm>
          <a:custGeom>
            <a:avLst/>
            <a:gdLst/>
            <a:ahLst/>
            <a:cxnLst/>
            <a:rect l="l" t="t" r="r" b="b"/>
            <a:pathLst>
              <a:path w="827262" h="463267">
                <a:moveTo>
                  <a:pt x="0" y="0"/>
                </a:moveTo>
                <a:lnTo>
                  <a:pt x="827262" y="0"/>
                </a:lnTo>
                <a:lnTo>
                  <a:pt x="827262" y="463267"/>
                </a:lnTo>
                <a:lnTo>
                  <a:pt x="0" y="463267"/>
                </a:lnTo>
                <a:lnTo>
                  <a:pt x="0" y="0"/>
                </a:lnTo>
                <a:close/>
              </a:path>
            </a:pathLst>
          </a:custGeom>
          <a:blipFill>
            <a:blip r:embed="rId7"/>
            <a:stretch>
              <a:fillRect/>
            </a:stretch>
          </a:blipFill>
        </p:spPr>
        <p:txBody>
          <a:bodyPr/>
          <a:lstStyle/>
          <a:p>
            <a:endParaRPr lang="en-IN" sz="1200"/>
          </a:p>
        </p:txBody>
      </p:sp>
      <p:sp>
        <p:nvSpPr>
          <p:cNvPr id="12" name="Freeform 9">
            <a:extLst>
              <a:ext uri="{FF2B5EF4-FFF2-40B4-BE49-F238E27FC236}">
                <a16:creationId xmlns:a16="http://schemas.microsoft.com/office/drawing/2014/main" id="{BCD875AE-73F2-AD7E-5223-1AD359764D2E}"/>
              </a:ext>
            </a:extLst>
          </p:cNvPr>
          <p:cNvSpPr/>
          <p:nvPr/>
        </p:nvSpPr>
        <p:spPr>
          <a:xfrm>
            <a:off x="1451421" y="2807234"/>
            <a:ext cx="613075" cy="274511"/>
          </a:xfrm>
          <a:custGeom>
            <a:avLst/>
            <a:gdLst/>
            <a:ahLst/>
            <a:cxnLst/>
            <a:rect l="l" t="t" r="r" b="b"/>
            <a:pathLst>
              <a:path w="919612" h="411767">
                <a:moveTo>
                  <a:pt x="0" y="0"/>
                </a:moveTo>
                <a:lnTo>
                  <a:pt x="919612" y="0"/>
                </a:lnTo>
                <a:lnTo>
                  <a:pt x="919612" y="411767"/>
                </a:lnTo>
                <a:lnTo>
                  <a:pt x="0" y="411767"/>
                </a:lnTo>
                <a:lnTo>
                  <a:pt x="0" y="0"/>
                </a:lnTo>
                <a:close/>
              </a:path>
            </a:pathLst>
          </a:custGeom>
          <a:blipFill>
            <a:blip r:embed="rId8"/>
            <a:stretch>
              <a:fillRect/>
            </a:stretch>
          </a:blipFill>
        </p:spPr>
        <p:txBody>
          <a:bodyPr/>
          <a:lstStyle/>
          <a:p>
            <a:endParaRPr lang="en-IN" sz="1200"/>
          </a:p>
        </p:txBody>
      </p:sp>
      <p:grpSp>
        <p:nvGrpSpPr>
          <p:cNvPr id="13" name="Group 12">
            <a:extLst>
              <a:ext uri="{FF2B5EF4-FFF2-40B4-BE49-F238E27FC236}">
                <a16:creationId xmlns:a16="http://schemas.microsoft.com/office/drawing/2014/main" id="{00B13304-1BFE-E2FC-74F3-46A2603A9FDB}"/>
              </a:ext>
            </a:extLst>
          </p:cNvPr>
          <p:cNvGrpSpPr/>
          <p:nvPr/>
        </p:nvGrpSpPr>
        <p:grpSpPr>
          <a:xfrm>
            <a:off x="3126014" y="1495879"/>
            <a:ext cx="2244725" cy="2132236"/>
            <a:chOff x="4648200" y="2247900"/>
            <a:chExt cx="2667000" cy="2483979"/>
          </a:xfrm>
        </p:grpSpPr>
        <p:sp>
          <p:nvSpPr>
            <p:cNvPr id="14" name="Rectangle: Rounded Corners 13">
              <a:extLst>
                <a:ext uri="{FF2B5EF4-FFF2-40B4-BE49-F238E27FC236}">
                  <a16:creationId xmlns:a16="http://schemas.microsoft.com/office/drawing/2014/main" id="{C0B660CD-5C81-EA46-0269-98BBE8294133}"/>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15" name="Straight Connector 14">
              <a:extLst>
                <a:ext uri="{FF2B5EF4-FFF2-40B4-BE49-F238E27FC236}">
                  <a16:creationId xmlns:a16="http://schemas.microsoft.com/office/drawing/2014/main" id="{71D2EC42-7823-41EB-571C-807324604763}"/>
                </a:ext>
              </a:extLst>
            </p:cNvPr>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639C8D1E-DAC9-2C83-F398-A529D4098815}"/>
              </a:ext>
            </a:extLst>
          </p:cNvPr>
          <p:cNvSpPr txBox="1"/>
          <p:nvPr/>
        </p:nvSpPr>
        <p:spPr>
          <a:xfrm>
            <a:off x="3126014" y="1561232"/>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 Security and Access Control</a:t>
            </a:r>
          </a:p>
        </p:txBody>
      </p:sp>
      <p:sp>
        <p:nvSpPr>
          <p:cNvPr id="17" name="Freeform 14">
            <a:extLst>
              <a:ext uri="{FF2B5EF4-FFF2-40B4-BE49-F238E27FC236}">
                <a16:creationId xmlns:a16="http://schemas.microsoft.com/office/drawing/2014/main" id="{F1F9EEEB-8AF8-1FEA-7F3F-990C8783DEC8}"/>
              </a:ext>
            </a:extLst>
          </p:cNvPr>
          <p:cNvSpPr/>
          <p:nvPr/>
        </p:nvSpPr>
        <p:spPr>
          <a:xfrm>
            <a:off x="3211379" y="2084950"/>
            <a:ext cx="379047" cy="379047"/>
          </a:xfrm>
          <a:custGeom>
            <a:avLst/>
            <a:gdLst/>
            <a:ahLst/>
            <a:cxnLst/>
            <a:rect l="l" t="t" r="r" b="b"/>
            <a:pathLst>
              <a:path w="1330043" h="1330043">
                <a:moveTo>
                  <a:pt x="0" y="0"/>
                </a:moveTo>
                <a:lnTo>
                  <a:pt x="1330043" y="0"/>
                </a:lnTo>
                <a:lnTo>
                  <a:pt x="1330043" y="1330043"/>
                </a:lnTo>
                <a:lnTo>
                  <a:pt x="0" y="13300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sz="1200"/>
          </a:p>
        </p:txBody>
      </p:sp>
      <p:sp>
        <p:nvSpPr>
          <p:cNvPr id="18" name="TextBox 17">
            <a:extLst>
              <a:ext uri="{FF2B5EF4-FFF2-40B4-BE49-F238E27FC236}">
                <a16:creationId xmlns:a16="http://schemas.microsoft.com/office/drawing/2014/main" id="{E088BB39-A6F6-D2E0-71D1-AE1DE03D4D3E}"/>
              </a:ext>
            </a:extLst>
          </p:cNvPr>
          <p:cNvSpPr txBox="1"/>
          <p:nvPr/>
        </p:nvSpPr>
        <p:spPr>
          <a:xfrm>
            <a:off x="3851833" y="2117148"/>
            <a:ext cx="1778000" cy="1220334"/>
          </a:xfrm>
          <a:prstGeom prst="rect">
            <a:avLst/>
          </a:prstGeom>
          <a:noFill/>
        </p:spPr>
        <p:txBody>
          <a:bodyPr wrap="square">
            <a:spAutoFit/>
          </a:bodyPr>
          <a:lstStyle/>
          <a:p>
            <a:pPr marL="135727" lvl="1">
              <a:lnSpc>
                <a:spcPts val="1760"/>
              </a:lnSpc>
            </a:pPr>
            <a:r>
              <a:rPr lang="en-US" sz="933">
                <a:solidFill>
                  <a:srgbClr val="000000"/>
                </a:solidFill>
                <a:latin typeface="Canva Sans"/>
                <a:ea typeface="Canva Sans"/>
                <a:cs typeface="Canva Sans"/>
                <a:sym typeface="Canva Sans"/>
              </a:rPr>
              <a:t>Authentication</a:t>
            </a:r>
          </a:p>
          <a:p>
            <a:pPr marL="135727" lvl="1">
              <a:lnSpc>
                <a:spcPts val="1760"/>
              </a:lnSpc>
            </a:pPr>
            <a:endParaRPr lang="en-US" sz="933">
              <a:solidFill>
                <a:srgbClr val="000000"/>
              </a:solidFill>
              <a:latin typeface="Canva Sans"/>
              <a:ea typeface="Canva Sans"/>
              <a:cs typeface="Canva Sans"/>
              <a:sym typeface="Canva Sans"/>
            </a:endParaRPr>
          </a:p>
          <a:p>
            <a:pPr marL="135727" lvl="1">
              <a:lnSpc>
                <a:spcPts val="1760"/>
              </a:lnSpc>
            </a:pPr>
            <a:r>
              <a:rPr lang="en-US" sz="933">
                <a:solidFill>
                  <a:srgbClr val="000000"/>
                </a:solidFill>
                <a:latin typeface="Canva Sans"/>
                <a:ea typeface="Canva Sans"/>
                <a:cs typeface="Canva Sans"/>
                <a:sym typeface="Canva Sans"/>
              </a:rPr>
              <a:t>Authorization</a:t>
            </a:r>
          </a:p>
          <a:p>
            <a:pPr marL="135727" lvl="1">
              <a:lnSpc>
                <a:spcPts val="1760"/>
              </a:lnSpc>
            </a:pPr>
            <a:endParaRPr lang="en-US" sz="933">
              <a:solidFill>
                <a:srgbClr val="000000"/>
              </a:solidFill>
              <a:latin typeface="Canva Sans"/>
              <a:ea typeface="Canva Sans"/>
              <a:cs typeface="Canva Sans"/>
              <a:sym typeface="Canva Sans"/>
            </a:endParaRPr>
          </a:p>
          <a:p>
            <a:pPr marL="135727" lvl="1">
              <a:lnSpc>
                <a:spcPts val="1760"/>
              </a:lnSpc>
            </a:pPr>
            <a:r>
              <a:rPr lang="en-US" sz="933">
                <a:solidFill>
                  <a:srgbClr val="000000"/>
                </a:solidFill>
                <a:latin typeface="Canva Sans"/>
                <a:ea typeface="Canva Sans"/>
                <a:cs typeface="Canva Sans"/>
                <a:sym typeface="Canva Sans"/>
              </a:rPr>
              <a:t>RLS &amp; Audit Logging</a:t>
            </a:r>
          </a:p>
        </p:txBody>
      </p:sp>
      <p:sp>
        <p:nvSpPr>
          <p:cNvPr id="19" name="Freeform 16">
            <a:extLst>
              <a:ext uri="{FF2B5EF4-FFF2-40B4-BE49-F238E27FC236}">
                <a16:creationId xmlns:a16="http://schemas.microsoft.com/office/drawing/2014/main" id="{BCD67B8B-8B98-A0E7-5B38-E090159701FC}"/>
              </a:ext>
            </a:extLst>
          </p:cNvPr>
          <p:cNvSpPr/>
          <p:nvPr/>
        </p:nvSpPr>
        <p:spPr>
          <a:xfrm>
            <a:off x="3256387" y="2562859"/>
            <a:ext cx="289031" cy="270605"/>
          </a:xfrm>
          <a:custGeom>
            <a:avLst/>
            <a:gdLst/>
            <a:ahLst/>
            <a:cxnLst/>
            <a:rect l="l" t="t" r="r" b="b"/>
            <a:pathLst>
              <a:path w="990656" h="927502">
                <a:moveTo>
                  <a:pt x="0" y="0"/>
                </a:moveTo>
                <a:lnTo>
                  <a:pt x="990656" y="0"/>
                </a:lnTo>
                <a:lnTo>
                  <a:pt x="990656" y="927502"/>
                </a:lnTo>
                <a:lnTo>
                  <a:pt x="0" y="9275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sz="1200"/>
          </a:p>
        </p:txBody>
      </p:sp>
      <p:pic>
        <p:nvPicPr>
          <p:cNvPr id="20" name="Picture 19">
            <a:extLst>
              <a:ext uri="{FF2B5EF4-FFF2-40B4-BE49-F238E27FC236}">
                <a16:creationId xmlns:a16="http://schemas.microsoft.com/office/drawing/2014/main" id="{3D293BB2-CC37-D313-F66C-F5A42EA5DDBB}"/>
              </a:ext>
            </a:extLst>
          </p:cNvPr>
          <p:cNvPicPr>
            <a:picLocks noChangeAspect="1"/>
          </p:cNvPicPr>
          <p:nvPr/>
        </p:nvPicPr>
        <p:blipFill>
          <a:blip r:embed="rId13"/>
          <a:stretch>
            <a:fillRect/>
          </a:stretch>
        </p:blipFill>
        <p:spPr>
          <a:xfrm>
            <a:off x="3259347" y="2994699"/>
            <a:ext cx="302159" cy="302159"/>
          </a:xfrm>
          <a:prstGeom prst="rect">
            <a:avLst/>
          </a:prstGeom>
        </p:spPr>
      </p:pic>
      <p:sp>
        <p:nvSpPr>
          <p:cNvPr id="21" name="Arrow: Notched Right 20">
            <a:extLst>
              <a:ext uri="{FF2B5EF4-FFF2-40B4-BE49-F238E27FC236}">
                <a16:creationId xmlns:a16="http://schemas.microsoft.com/office/drawing/2014/main" id="{66F730D7-4BC2-B634-8CE4-9CAE7FE2327F}"/>
              </a:ext>
            </a:extLst>
          </p:cNvPr>
          <p:cNvSpPr/>
          <p:nvPr/>
        </p:nvSpPr>
        <p:spPr>
          <a:xfrm>
            <a:off x="2606968" y="2482825"/>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22" name="Arrow: Notched Right 21">
            <a:extLst>
              <a:ext uri="{FF2B5EF4-FFF2-40B4-BE49-F238E27FC236}">
                <a16:creationId xmlns:a16="http://schemas.microsoft.com/office/drawing/2014/main" id="{9DBB1049-148F-EE75-F697-7B206F4B66B2}"/>
              </a:ext>
            </a:extLst>
          </p:cNvPr>
          <p:cNvSpPr/>
          <p:nvPr/>
        </p:nvSpPr>
        <p:spPr>
          <a:xfrm rot="5400000">
            <a:off x="734973" y="1069063"/>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grpSp>
        <p:nvGrpSpPr>
          <p:cNvPr id="23" name="Group 22">
            <a:extLst>
              <a:ext uri="{FF2B5EF4-FFF2-40B4-BE49-F238E27FC236}">
                <a16:creationId xmlns:a16="http://schemas.microsoft.com/office/drawing/2014/main" id="{93840744-B999-50E0-102A-39BFD618EB4A}"/>
              </a:ext>
            </a:extLst>
          </p:cNvPr>
          <p:cNvGrpSpPr/>
          <p:nvPr/>
        </p:nvGrpSpPr>
        <p:grpSpPr>
          <a:xfrm>
            <a:off x="2564039" y="275395"/>
            <a:ext cx="1778000" cy="674722"/>
            <a:chOff x="4648200" y="2247900"/>
            <a:chExt cx="2667000" cy="1012083"/>
          </a:xfrm>
        </p:grpSpPr>
        <p:sp>
          <p:nvSpPr>
            <p:cNvPr id="24" name="Rectangle: Rounded Corners 23">
              <a:extLst>
                <a:ext uri="{FF2B5EF4-FFF2-40B4-BE49-F238E27FC236}">
                  <a16:creationId xmlns:a16="http://schemas.microsoft.com/office/drawing/2014/main" id="{499F177F-FC4C-5C1E-E2E4-63BCEF96D87B}"/>
                </a:ext>
              </a:extLst>
            </p:cNvPr>
            <p:cNvSpPr/>
            <p:nvPr/>
          </p:nvSpPr>
          <p:spPr>
            <a:xfrm>
              <a:off x="4648200" y="2247900"/>
              <a:ext cx="2667000" cy="1012083"/>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25" name="Straight Connector 24">
              <a:extLst>
                <a:ext uri="{FF2B5EF4-FFF2-40B4-BE49-F238E27FC236}">
                  <a16:creationId xmlns:a16="http://schemas.microsoft.com/office/drawing/2014/main" id="{71688964-7F7B-3AD4-DFEE-E4D8C18EA6F6}"/>
                </a:ext>
              </a:extLst>
            </p:cNvPr>
            <p:cNvCxnSpPr/>
            <p:nvPr/>
          </p:nvCxnSpPr>
          <p:spPr>
            <a:xfrm>
              <a:off x="4648200" y="2630826"/>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6913F9B6-EF91-CCFD-B7F1-A785BA1F6F27}"/>
              </a:ext>
            </a:extLst>
          </p:cNvPr>
          <p:cNvSpPr txBox="1"/>
          <p:nvPr/>
        </p:nvSpPr>
        <p:spPr>
          <a:xfrm>
            <a:off x="2564039" y="274702"/>
            <a:ext cx="1778000" cy="306109"/>
          </a:xfrm>
          <a:prstGeom prst="rect">
            <a:avLst/>
          </a:prstGeom>
          <a:noFill/>
        </p:spPr>
        <p:txBody>
          <a:bodyPr wrap="square">
            <a:spAutoFit/>
          </a:bodyPr>
          <a:lstStyle/>
          <a:p>
            <a:pPr algn="ctr">
              <a:lnSpc>
                <a:spcPts val="1760"/>
              </a:lnSpc>
              <a:spcBef>
                <a:spcPct val="0"/>
              </a:spcBef>
            </a:pPr>
            <a:r>
              <a:rPr lang="en-US" sz="1200" b="1">
                <a:solidFill>
                  <a:srgbClr val="000000"/>
                </a:solidFill>
                <a:latin typeface="Canva Sans Bold"/>
                <a:ea typeface="Canva Sans Bold"/>
                <a:cs typeface="Canva Sans Bold"/>
                <a:sym typeface="Canva Sans Bold"/>
              </a:rPr>
              <a:t> Traditional UI</a:t>
            </a:r>
          </a:p>
        </p:txBody>
      </p:sp>
      <p:sp>
        <p:nvSpPr>
          <p:cNvPr id="27" name="Freeform 10">
            <a:extLst>
              <a:ext uri="{FF2B5EF4-FFF2-40B4-BE49-F238E27FC236}">
                <a16:creationId xmlns:a16="http://schemas.microsoft.com/office/drawing/2014/main" id="{C42C58AE-E874-B5B1-F4E5-9B436A1AA0CC}"/>
              </a:ext>
            </a:extLst>
          </p:cNvPr>
          <p:cNvSpPr/>
          <p:nvPr/>
        </p:nvSpPr>
        <p:spPr>
          <a:xfrm rot="21539842">
            <a:off x="2660879" y="576762"/>
            <a:ext cx="357769" cy="321978"/>
          </a:xfrm>
          <a:custGeom>
            <a:avLst/>
            <a:gdLst/>
            <a:ahLst/>
            <a:cxnLst/>
            <a:rect l="l" t="t" r="r" b="b"/>
            <a:pathLst>
              <a:path w="802465" h="722188">
                <a:moveTo>
                  <a:pt x="0" y="0"/>
                </a:moveTo>
                <a:lnTo>
                  <a:pt x="802465" y="0"/>
                </a:lnTo>
                <a:lnTo>
                  <a:pt x="802465" y="722188"/>
                </a:lnTo>
                <a:lnTo>
                  <a:pt x="0" y="722188"/>
                </a:lnTo>
                <a:lnTo>
                  <a:pt x="0" y="0"/>
                </a:lnTo>
                <a:close/>
              </a:path>
            </a:pathLst>
          </a:custGeom>
          <a:blipFill>
            <a:blip r:embed="rId14"/>
            <a:stretch>
              <a:fillRect l="-30958" r="-29749"/>
            </a:stretch>
          </a:blipFill>
        </p:spPr>
        <p:txBody>
          <a:bodyPr/>
          <a:lstStyle/>
          <a:p>
            <a:endParaRPr lang="en-IN" sz="1200"/>
          </a:p>
        </p:txBody>
      </p:sp>
      <p:sp>
        <p:nvSpPr>
          <p:cNvPr id="28" name="Freeform 11">
            <a:extLst>
              <a:ext uri="{FF2B5EF4-FFF2-40B4-BE49-F238E27FC236}">
                <a16:creationId xmlns:a16="http://schemas.microsoft.com/office/drawing/2014/main" id="{69EAD283-0F30-8A15-21BE-FEEB988717D0}"/>
              </a:ext>
            </a:extLst>
          </p:cNvPr>
          <p:cNvSpPr/>
          <p:nvPr/>
        </p:nvSpPr>
        <p:spPr>
          <a:xfrm>
            <a:off x="3232008" y="580234"/>
            <a:ext cx="442063" cy="325669"/>
          </a:xfrm>
          <a:custGeom>
            <a:avLst/>
            <a:gdLst/>
            <a:ahLst/>
            <a:cxnLst/>
            <a:rect l="l" t="t" r="r" b="b"/>
            <a:pathLst>
              <a:path w="844521" h="622161">
                <a:moveTo>
                  <a:pt x="0" y="0"/>
                </a:moveTo>
                <a:lnTo>
                  <a:pt x="844521" y="0"/>
                </a:lnTo>
                <a:lnTo>
                  <a:pt x="844521" y="622161"/>
                </a:lnTo>
                <a:lnTo>
                  <a:pt x="0" y="622161"/>
                </a:lnTo>
                <a:lnTo>
                  <a:pt x="0" y="0"/>
                </a:lnTo>
                <a:close/>
              </a:path>
            </a:pathLst>
          </a:custGeom>
          <a:blipFill>
            <a:blip r:embed="rId15"/>
            <a:stretch>
              <a:fillRect l="-44427" t="-16573" r="-42210" b="-16635"/>
            </a:stretch>
          </a:blipFill>
        </p:spPr>
        <p:txBody>
          <a:bodyPr/>
          <a:lstStyle/>
          <a:p>
            <a:endParaRPr lang="en-IN" sz="1200"/>
          </a:p>
        </p:txBody>
      </p:sp>
      <p:sp>
        <p:nvSpPr>
          <p:cNvPr id="29" name="Freeform 12">
            <a:extLst>
              <a:ext uri="{FF2B5EF4-FFF2-40B4-BE49-F238E27FC236}">
                <a16:creationId xmlns:a16="http://schemas.microsoft.com/office/drawing/2014/main" id="{324C7A79-B980-C644-E3EC-4436D861E501}"/>
              </a:ext>
            </a:extLst>
          </p:cNvPr>
          <p:cNvSpPr/>
          <p:nvPr/>
        </p:nvSpPr>
        <p:spPr>
          <a:xfrm>
            <a:off x="3925399" y="582160"/>
            <a:ext cx="303413" cy="303413"/>
          </a:xfrm>
          <a:custGeom>
            <a:avLst/>
            <a:gdLst/>
            <a:ahLst/>
            <a:cxnLst/>
            <a:rect l="l" t="t" r="r" b="b"/>
            <a:pathLst>
              <a:path w="512813" h="512813">
                <a:moveTo>
                  <a:pt x="0" y="0"/>
                </a:moveTo>
                <a:lnTo>
                  <a:pt x="512812" y="0"/>
                </a:lnTo>
                <a:lnTo>
                  <a:pt x="512812" y="512813"/>
                </a:lnTo>
                <a:lnTo>
                  <a:pt x="0" y="512813"/>
                </a:lnTo>
                <a:lnTo>
                  <a:pt x="0" y="0"/>
                </a:lnTo>
                <a:close/>
              </a:path>
            </a:pathLst>
          </a:custGeom>
          <a:blipFill>
            <a:blip r:embed="rId16"/>
            <a:stretch>
              <a:fillRect/>
            </a:stretch>
          </a:blipFill>
        </p:spPr>
        <p:txBody>
          <a:bodyPr/>
          <a:lstStyle/>
          <a:p>
            <a:endParaRPr lang="en-IN" sz="1200"/>
          </a:p>
        </p:txBody>
      </p:sp>
      <p:sp>
        <p:nvSpPr>
          <p:cNvPr id="30" name="Arrow: Notched Right 29">
            <a:extLst>
              <a:ext uri="{FF2B5EF4-FFF2-40B4-BE49-F238E27FC236}">
                <a16:creationId xmlns:a16="http://schemas.microsoft.com/office/drawing/2014/main" id="{A572F53E-0760-1CC4-3492-BE32FEB1A1F8}"/>
              </a:ext>
            </a:extLst>
          </p:cNvPr>
          <p:cNvSpPr/>
          <p:nvPr/>
        </p:nvSpPr>
        <p:spPr>
          <a:xfrm>
            <a:off x="1871622" y="552249"/>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31" name="Arrow: Notched Right 30">
            <a:extLst>
              <a:ext uri="{FF2B5EF4-FFF2-40B4-BE49-F238E27FC236}">
                <a16:creationId xmlns:a16="http://schemas.microsoft.com/office/drawing/2014/main" id="{9923C910-76B1-5F18-B007-25CE4D341C40}"/>
              </a:ext>
            </a:extLst>
          </p:cNvPr>
          <p:cNvSpPr/>
          <p:nvPr/>
        </p:nvSpPr>
        <p:spPr>
          <a:xfrm rot="5400000">
            <a:off x="3501483" y="1069188"/>
            <a:ext cx="426985" cy="280821"/>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grpSp>
        <p:nvGrpSpPr>
          <p:cNvPr id="32" name="Group 31">
            <a:extLst>
              <a:ext uri="{FF2B5EF4-FFF2-40B4-BE49-F238E27FC236}">
                <a16:creationId xmlns:a16="http://schemas.microsoft.com/office/drawing/2014/main" id="{9014A833-0829-12F3-AEC7-7175A4A94502}"/>
              </a:ext>
            </a:extLst>
          </p:cNvPr>
          <p:cNvGrpSpPr/>
          <p:nvPr/>
        </p:nvGrpSpPr>
        <p:grpSpPr>
          <a:xfrm>
            <a:off x="5990286" y="1476140"/>
            <a:ext cx="2444750" cy="2132236"/>
            <a:chOff x="4648200" y="2247900"/>
            <a:chExt cx="2667000" cy="2483979"/>
          </a:xfrm>
        </p:grpSpPr>
        <p:sp>
          <p:nvSpPr>
            <p:cNvPr id="33" name="Rectangle: Rounded Corners 32">
              <a:extLst>
                <a:ext uri="{FF2B5EF4-FFF2-40B4-BE49-F238E27FC236}">
                  <a16:creationId xmlns:a16="http://schemas.microsoft.com/office/drawing/2014/main" id="{BE78A31E-5050-90AC-F4C6-1F53D7682219}"/>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34" name="Straight Connector 33">
              <a:extLst>
                <a:ext uri="{FF2B5EF4-FFF2-40B4-BE49-F238E27FC236}">
                  <a16:creationId xmlns:a16="http://schemas.microsoft.com/office/drawing/2014/main" id="{585ABAD5-373A-5729-9A9B-AD2B1FFA5103}"/>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39BC4AE7-C275-27E9-E97B-9E673C134F7C}"/>
              </a:ext>
            </a:extLst>
          </p:cNvPr>
          <p:cNvGrpSpPr/>
          <p:nvPr/>
        </p:nvGrpSpPr>
        <p:grpSpPr>
          <a:xfrm>
            <a:off x="9057220" y="1505403"/>
            <a:ext cx="2444750" cy="2075086"/>
            <a:chOff x="4648200" y="2247900"/>
            <a:chExt cx="2667000" cy="2483979"/>
          </a:xfrm>
        </p:grpSpPr>
        <p:sp>
          <p:nvSpPr>
            <p:cNvPr id="36" name="Rectangle: Rounded Corners 35">
              <a:extLst>
                <a:ext uri="{FF2B5EF4-FFF2-40B4-BE49-F238E27FC236}">
                  <a16:creationId xmlns:a16="http://schemas.microsoft.com/office/drawing/2014/main" id="{6CF58EAE-7F6E-DF04-0296-BD625CB9A86C}"/>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37" name="Straight Connector 36">
              <a:extLst>
                <a:ext uri="{FF2B5EF4-FFF2-40B4-BE49-F238E27FC236}">
                  <a16:creationId xmlns:a16="http://schemas.microsoft.com/office/drawing/2014/main" id="{59882E57-9DB1-EAF2-C8E1-284BD93C7BC7}"/>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38" name="Arrow: Notched Right 37">
            <a:extLst>
              <a:ext uri="{FF2B5EF4-FFF2-40B4-BE49-F238E27FC236}">
                <a16:creationId xmlns:a16="http://schemas.microsoft.com/office/drawing/2014/main" id="{DC00CF0F-6C4A-A825-06E7-147068542E84}"/>
              </a:ext>
            </a:extLst>
          </p:cNvPr>
          <p:cNvSpPr/>
          <p:nvPr/>
        </p:nvSpPr>
        <p:spPr>
          <a:xfrm>
            <a:off x="8531402" y="2473987"/>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39" name="Arrow: Notched Right 38">
            <a:extLst>
              <a:ext uri="{FF2B5EF4-FFF2-40B4-BE49-F238E27FC236}">
                <a16:creationId xmlns:a16="http://schemas.microsoft.com/office/drawing/2014/main" id="{41448089-890B-46D8-42E6-9E52BDF337D2}"/>
              </a:ext>
            </a:extLst>
          </p:cNvPr>
          <p:cNvSpPr/>
          <p:nvPr/>
        </p:nvSpPr>
        <p:spPr>
          <a:xfrm rot="5400000">
            <a:off x="10051729" y="3838585"/>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grpSp>
        <p:nvGrpSpPr>
          <p:cNvPr id="40" name="Group 39">
            <a:extLst>
              <a:ext uri="{FF2B5EF4-FFF2-40B4-BE49-F238E27FC236}">
                <a16:creationId xmlns:a16="http://schemas.microsoft.com/office/drawing/2014/main" id="{FA1FCE61-193C-1678-8A86-C723781F78DB}"/>
              </a:ext>
            </a:extLst>
          </p:cNvPr>
          <p:cNvGrpSpPr/>
          <p:nvPr/>
        </p:nvGrpSpPr>
        <p:grpSpPr>
          <a:xfrm>
            <a:off x="9139502" y="4283147"/>
            <a:ext cx="2263775" cy="2075086"/>
            <a:chOff x="4648200" y="2247900"/>
            <a:chExt cx="2667000" cy="2483979"/>
          </a:xfrm>
        </p:grpSpPr>
        <p:sp>
          <p:nvSpPr>
            <p:cNvPr id="41" name="Rectangle: Rounded Corners 40">
              <a:extLst>
                <a:ext uri="{FF2B5EF4-FFF2-40B4-BE49-F238E27FC236}">
                  <a16:creationId xmlns:a16="http://schemas.microsoft.com/office/drawing/2014/main" id="{579A73A3-14AF-5206-8F93-22102A290D78}"/>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42" name="Straight Connector 41">
              <a:extLst>
                <a:ext uri="{FF2B5EF4-FFF2-40B4-BE49-F238E27FC236}">
                  <a16:creationId xmlns:a16="http://schemas.microsoft.com/office/drawing/2014/main" id="{C9A69E9A-F698-388B-EE5B-99766D91566B}"/>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79069351-542A-7955-0AA1-FDC5F84B4468}"/>
              </a:ext>
            </a:extLst>
          </p:cNvPr>
          <p:cNvGrpSpPr/>
          <p:nvPr/>
        </p:nvGrpSpPr>
        <p:grpSpPr>
          <a:xfrm>
            <a:off x="6009334" y="4283146"/>
            <a:ext cx="2368550" cy="2075085"/>
            <a:chOff x="4648200" y="2247900"/>
            <a:chExt cx="2667000" cy="2483979"/>
          </a:xfrm>
        </p:grpSpPr>
        <p:sp>
          <p:nvSpPr>
            <p:cNvPr id="44" name="Rectangle: Rounded Corners 43">
              <a:extLst>
                <a:ext uri="{FF2B5EF4-FFF2-40B4-BE49-F238E27FC236}">
                  <a16:creationId xmlns:a16="http://schemas.microsoft.com/office/drawing/2014/main" id="{864946C5-34A0-42A9-249D-3706B7D30B87}"/>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45" name="Straight Connector 44">
              <a:extLst>
                <a:ext uri="{FF2B5EF4-FFF2-40B4-BE49-F238E27FC236}">
                  <a16:creationId xmlns:a16="http://schemas.microsoft.com/office/drawing/2014/main" id="{807655B0-C76C-089F-DCE2-51647D6406FA}"/>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43A90817-3E55-BE8A-C825-C5AB08045611}"/>
              </a:ext>
            </a:extLst>
          </p:cNvPr>
          <p:cNvGrpSpPr/>
          <p:nvPr/>
        </p:nvGrpSpPr>
        <p:grpSpPr>
          <a:xfrm>
            <a:off x="3128080" y="4283146"/>
            <a:ext cx="2254249" cy="2075085"/>
            <a:chOff x="4648200" y="2247900"/>
            <a:chExt cx="2667000" cy="2483979"/>
          </a:xfrm>
        </p:grpSpPr>
        <p:sp>
          <p:nvSpPr>
            <p:cNvPr id="47" name="Rectangle: Rounded Corners 46">
              <a:extLst>
                <a:ext uri="{FF2B5EF4-FFF2-40B4-BE49-F238E27FC236}">
                  <a16:creationId xmlns:a16="http://schemas.microsoft.com/office/drawing/2014/main" id="{452929AC-E82D-C2F0-BC12-9B2C5486BDDA}"/>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48" name="Straight Connector 47">
              <a:extLst>
                <a:ext uri="{FF2B5EF4-FFF2-40B4-BE49-F238E27FC236}">
                  <a16:creationId xmlns:a16="http://schemas.microsoft.com/office/drawing/2014/main" id="{4C4A7A95-B5D2-81DB-0081-F48F4595303B}"/>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7EAF2D4A-EA5C-EBEC-7823-ACB747E5DAE9}"/>
              </a:ext>
            </a:extLst>
          </p:cNvPr>
          <p:cNvGrpSpPr/>
          <p:nvPr/>
        </p:nvGrpSpPr>
        <p:grpSpPr>
          <a:xfrm>
            <a:off x="308334" y="4235520"/>
            <a:ext cx="2235200" cy="2122711"/>
            <a:chOff x="4648200" y="2247900"/>
            <a:chExt cx="2667000" cy="2483979"/>
          </a:xfrm>
        </p:grpSpPr>
        <p:sp>
          <p:nvSpPr>
            <p:cNvPr id="50" name="Rectangle: Rounded Corners 49">
              <a:extLst>
                <a:ext uri="{FF2B5EF4-FFF2-40B4-BE49-F238E27FC236}">
                  <a16:creationId xmlns:a16="http://schemas.microsoft.com/office/drawing/2014/main" id="{DA61DB8E-43E8-514B-FF20-33A9150F7AEA}"/>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51" name="Straight Connector 50">
              <a:extLst>
                <a:ext uri="{FF2B5EF4-FFF2-40B4-BE49-F238E27FC236}">
                  <a16:creationId xmlns:a16="http://schemas.microsoft.com/office/drawing/2014/main" id="{E27396FD-A74D-1601-35E6-38F89FA9F006}"/>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2C66C6CE-CB82-EEDE-946B-8ECA2CB3FD18}"/>
              </a:ext>
            </a:extLst>
          </p:cNvPr>
          <p:cNvSpPr txBox="1"/>
          <p:nvPr/>
        </p:nvSpPr>
        <p:spPr>
          <a:xfrm>
            <a:off x="6890308" y="1983798"/>
            <a:ext cx="2073275" cy="1185133"/>
          </a:xfrm>
          <a:prstGeom prst="rect">
            <a:avLst/>
          </a:prstGeom>
          <a:noFill/>
        </p:spPr>
        <p:txBody>
          <a:bodyPr wrap="square" lIns="60960" tIns="30480" rIns="60960" bIns="30480" anchor="t">
            <a:spAutoFit/>
          </a:bodyPr>
          <a:lstStyle/>
          <a:p>
            <a:pPr marL="135473" lvl="1">
              <a:lnSpc>
                <a:spcPts val="1760"/>
              </a:lnSpc>
            </a:pPr>
            <a:r>
              <a:rPr lang="en-US" sz="800">
                <a:solidFill>
                  <a:srgbClr val="000000"/>
                </a:solidFill>
                <a:latin typeface="Canva Sans"/>
                <a:sym typeface="Canva Sans"/>
              </a:rPr>
              <a:t>Dashboard Catalog</a:t>
            </a:r>
            <a:endParaRPr lang="en-US" sz="800">
              <a:ea typeface="Calibri"/>
              <a:cs typeface="Calibri"/>
            </a:endParaRPr>
          </a:p>
          <a:p>
            <a:pPr marL="135473" lvl="1">
              <a:lnSpc>
                <a:spcPts val="1760"/>
              </a:lnSpc>
            </a:pPr>
            <a:endParaRPr lang="en-US" sz="800">
              <a:solidFill>
                <a:srgbClr val="000000"/>
              </a:solidFill>
              <a:latin typeface="Canva Sans"/>
              <a:ea typeface="Canva Sans"/>
              <a:cs typeface="Canva Sans"/>
            </a:endParaRPr>
          </a:p>
          <a:p>
            <a:pPr marL="135473" lvl="1">
              <a:lnSpc>
                <a:spcPts val="1760"/>
              </a:lnSpc>
            </a:pPr>
            <a:r>
              <a:rPr lang="en-US" sz="800">
                <a:solidFill>
                  <a:srgbClr val="000000"/>
                </a:solidFill>
                <a:latin typeface="Canva Sans"/>
                <a:ea typeface="Canva Sans"/>
                <a:cs typeface="Canva Sans"/>
                <a:sym typeface="Canva Sans"/>
              </a:rPr>
              <a:t>Vector Search</a:t>
            </a:r>
            <a:endParaRPr lang="en-US" sz="800">
              <a:solidFill>
                <a:srgbClr val="000000"/>
              </a:solidFill>
              <a:latin typeface="Canva Sans"/>
              <a:ea typeface="Canva Sans"/>
              <a:cs typeface="Canva Sans"/>
            </a:endParaRPr>
          </a:p>
          <a:p>
            <a:pPr marL="135473" lvl="1">
              <a:lnSpc>
                <a:spcPts val="1760"/>
              </a:lnSpc>
            </a:pPr>
            <a:endParaRPr lang="en-US" sz="800">
              <a:solidFill>
                <a:srgbClr val="000000"/>
              </a:solidFill>
              <a:latin typeface="Canva Sans"/>
              <a:ea typeface="Canva Sans"/>
              <a:cs typeface="Canva Sans"/>
            </a:endParaRPr>
          </a:p>
          <a:p>
            <a:pPr marL="135473" lvl="1">
              <a:lnSpc>
                <a:spcPts val="1760"/>
              </a:lnSpc>
            </a:pPr>
            <a:r>
              <a:rPr lang="en-US" sz="800">
                <a:solidFill>
                  <a:srgbClr val="000000"/>
                </a:solidFill>
                <a:latin typeface="Canva Sans"/>
                <a:sym typeface="Canva Sans"/>
              </a:rPr>
              <a:t>Refresh Co-ordination</a:t>
            </a:r>
            <a:endParaRPr lang="en-US" sz="800">
              <a:ea typeface="Calibri"/>
              <a:cs typeface="Calibri"/>
            </a:endParaRPr>
          </a:p>
        </p:txBody>
      </p:sp>
      <p:sp>
        <p:nvSpPr>
          <p:cNvPr id="53" name="Freeform 19" descr="A close up of a logo&#10;&#10;AI-generated content may be incorrect.">
            <a:extLst>
              <a:ext uri="{FF2B5EF4-FFF2-40B4-BE49-F238E27FC236}">
                <a16:creationId xmlns:a16="http://schemas.microsoft.com/office/drawing/2014/main" id="{5C65AF44-9654-4AF3-BD75-B0FB237B36FC}"/>
              </a:ext>
            </a:extLst>
          </p:cNvPr>
          <p:cNvSpPr/>
          <p:nvPr/>
        </p:nvSpPr>
        <p:spPr>
          <a:xfrm>
            <a:off x="6268015" y="1983941"/>
            <a:ext cx="448036" cy="338531"/>
          </a:xfrm>
          <a:custGeom>
            <a:avLst/>
            <a:gdLst/>
            <a:ahLst/>
            <a:cxnLst/>
            <a:rect l="l" t="t" r="r" b="b"/>
            <a:pathLst>
              <a:path w="1314992" h="736396">
                <a:moveTo>
                  <a:pt x="0" y="0"/>
                </a:moveTo>
                <a:lnTo>
                  <a:pt x="1314993" y="0"/>
                </a:lnTo>
                <a:lnTo>
                  <a:pt x="1314993" y="736396"/>
                </a:lnTo>
                <a:lnTo>
                  <a:pt x="0" y="736396"/>
                </a:lnTo>
                <a:lnTo>
                  <a:pt x="0" y="0"/>
                </a:lnTo>
                <a:close/>
              </a:path>
            </a:pathLst>
          </a:custGeom>
          <a:blipFill>
            <a:blip r:embed="rId17"/>
            <a:stretch>
              <a:fillRect/>
            </a:stretch>
          </a:blipFill>
        </p:spPr>
        <p:txBody>
          <a:bodyPr/>
          <a:lstStyle/>
          <a:p>
            <a:endParaRPr lang="en-IN" sz="1200"/>
          </a:p>
        </p:txBody>
      </p:sp>
      <p:sp>
        <p:nvSpPr>
          <p:cNvPr id="54" name="Freeform 18" descr="A computer screen with a pie chart&#10;&#10;AI-generated content may be incorrect.">
            <a:extLst>
              <a:ext uri="{FF2B5EF4-FFF2-40B4-BE49-F238E27FC236}">
                <a16:creationId xmlns:a16="http://schemas.microsoft.com/office/drawing/2014/main" id="{3A2C2187-4192-7061-6DFA-E09ED328A086}"/>
              </a:ext>
            </a:extLst>
          </p:cNvPr>
          <p:cNvSpPr/>
          <p:nvPr/>
        </p:nvSpPr>
        <p:spPr>
          <a:xfrm>
            <a:off x="6220753" y="2411198"/>
            <a:ext cx="528837" cy="462163"/>
          </a:xfrm>
          <a:custGeom>
            <a:avLst/>
            <a:gdLst/>
            <a:ahLst/>
            <a:cxnLst/>
            <a:rect l="l" t="t" r="r" b="b"/>
            <a:pathLst>
              <a:path w="1221881" h="1221881">
                <a:moveTo>
                  <a:pt x="0" y="0"/>
                </a:moveTo>
                <a:lnTo>
                  <a:pt x="1221880" y="0"/>
                </a:lnTo>
                <a:lnTo>
                  <a:pt x="1221880" y="1221880"/>
                </a:lnTo>
                <a:lnTo>
                  <a:pt x="0" y="1221880"/>
                </a:lnTo>
                <a:lnTo>
                  <a:pt x="0" y="0"/>
                </a:lnTo>
                <a:close/>
              </a:path>
            </a:pathLst>
          </a:custGeom>
          <a:blipFill>
            <a:blip r:embed="rId18"/>
            <a:stretch>
              <a:fillRect/>
            </a:stretch>
          </a:blipFill>
        </p:spPr>
        <p:txBody>
          <a:bodyPr/>
          <a:lstStyle/>
          <a:p>
            <a:endParaRPr lang="en-IN" sz="1200"/>
          </a:p>
        </p:txBody>
      </p:sp>
      <p:sp>
        <p:nvSpPr>
          <p:cNvPr id="55" name="Freeform 20" descr="A green and blue arrows&#10;&#10;AI-generated content may be incorrect.">
            <a:extLst>
              <a:ext uri="{FF2B5EF4-FFF2-40B4-BE49-F238E27FC236}">
                <a16:creationId xmlns:a16="http://schemas.microsoft.com/office/drawing/2014/main" id="{89C21F20-858F-293D-9EED-54E91733E5DA}"/>
              </a:ext>
            </a:extLst>
          </p:cNvPr>
          <p:cNvSpPr/>
          <p:nvPr/>
        </p:nvSpPr>
        <p:spPr>
          <a:xfrm>
            <a:off x="6319540" y="2901238"/>
            <a:ext cx="374128" cy="440803"/>
          </a:xfrm>
          <a:custGeom>
            <a:avLst/>
            <a:gdLst/>
            <a:ahLst/>
            <a:cxnLst/>
            <a:rect l="l" t="t" r="r" b="b"/>
            <a:pathLst>
              <a:path w="875517" h="875517">
                <a:moveTo>
                  <a:pt x="0" y="0"/>
                </a:moveTo>
                <a:lnTo>
                  <a:pt x="875517" y="0"/>
                </a:lnTo>
                <a:lnTo>
                  <a:pt x="875517" y="875517"/>
                </a:lnTo>
                <a:lnTo>
                  <a:pt x="0" y="875517"/>
                </a:lnTo>
                <a:lnTo>
                  <a:pt x="0" y="0"/>
                </a:lnTo>
                <a:close/>
              </a:path>
            </a:pathLst>
          </a:custGeom>
          <a:blipFill>
            <a:blip r:embed="rId19"/>
            <a:stretch>
              <a:fillRect/>
            </a:stretch>
          </a:blipFill>
        </p:spPr>
        <p:txBody>
          <a:bodyPr/>
          <a:lstStyle/>
          <a:p>
            <a:endParaRPr lang="en-IN" sz="1200"/>
          </a:p>
        </p:txBody>
      </p:sp>
      <p:sp>
        <p:nvSpPr>
          <p:cNvPr id="56" name="TextBox 55">
            <a:extLst>
              <a:ext uri="{FF2B5EF4-FFF2-40B4-BE49-F238E27FC236}">
                <a16:creationId xmlns:a16="http://schemas.microsoft.com/office/drawing/2014/main" id="{00230581-145D-6CA1-E0B0-D232C00443D7}"/>
              </a:ext>
            </a:extLst>
          </p:cNvPr>
          <p:cNvSpPr txBox="1"/>
          <p:nvPr/>
        </p:nvSpPr>
        <p:spPr>
          <a:xfrm>
            <a:off x="10009414" y="2016579"/>
            <a:ext cx="1781175" cy="1762342"/>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Arial"/>
                <a:cs typeface="Arial"/>
              </a:rPr>
              <a:t>Intent Classification​</a:t>
            </a:r>
            <a:endParaRPr lang="en-US" sz="933">
              <a:ea typeface="Calibri"/>
              <a:cs typeface="Calibri"/>
            </a:endParaRP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Dashboard Handler​</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Agent Router​</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Conversation Memory​</a:t>
            </a:r>
          </a:p>
          <a:p>
            <a:pPr algn="ctr">
              <a:lnSpc>
                <a:spcPct val="150000"/>
              </a:lnSpc>
            </a:pPr>
            <a:endParaRPr lang="en-US" sz="933">
              <a:latin typeface="Canva Sans"/>
            </a:endParaRPr>
          </a:p>
        </p:txBody>
      </p:sp>
      <p:pic>
        <p:nvPicPr>
          <p:cNvPr id="57" name="Picture 56" descr="A magnifying glass with a question mark&#10;&#10;AI-generated content may be incorrect.">
            <a:extLst>
              <a:ext uri="{FF2B5EF4-FFF2-40B4-BE49-F238E27FC236}">
                <a16:creationId xmlns:a16="http://schemas.microsoft.com/office/drawing/2014/main" id="{8AC6AA6A-D5C1-E467-366C-E80D002F8D25}"/>
              </a:ext>
            </a:extLst>
          </p:cNvPr>
          <p:cNvPicPr>
            <a:picLocks noChangeAspect="1"/>
          </p:cNvPicPr>
          <p:nvPr/>
        </p:nvPicPr>
        <p:blipFill>
          <a:blip r:embed="rId20"/>
          <a:stretch>
            <a:fillRect/>
          </a:stretch>
        </p:blipFill>
        <p:spPr>
          <a:xfrm>
            <a:off x="9517290" y="2019754"/>
            <a:ext cx="374650" cy="403225"/>
          </a:xfrm>
          <a:prstGeom prst="rect">
            <a:avLst/>
          </a:prstGeom>
        </p:spPr>
      </p:pic>
      <p:pic>
        <p:nvPicPr>
          <p:cNvPr id="58" name="Picture 57" descr="A computer screen with a pie chart and graph&#10;&#10;AI-generated content may be incorrect.">
            <a:extLst>
              <a:ext uri="{FF2B5EF4-FFF2-40B4-BE49-F238E27FC236}">
                <a16:creationId xmlns:a16="http://schemas.microsoft.com/office/drawing/2014/main" id="{6E8F7979-AB05-D040-2FD5-C54E9AB600EB}"/>
              </a:ext>
            </a:extLst>
          </p:cNvPr>
          <p:cNvPicPr>
            <a:picLocks noChangeAspect="1"/>
          </p:cNvPicPr>
          <p:nvPr/>
        </p:nvPicPr>
        <p:blipFill>
          <a:blip r:embed="rId21"/>
          <a:stretch>
            <a:fillRect/>
          </a:stretch>
        </p:blipFill>
        <p:spPr>
          <a:xfrm>
            <a:off x="9536340" y="2553154"/>
            <a:ext cx="346075" cy="384175"/>
          </a:xfrm>
          <a:prstGeom prst="rect">
            <a:avLst/>
          </a:prstGeom>
        </p:spPr>
      </p:pic>
      <p:pic>
        <p:nvPicPr>
          <p:cNvPr id="59" name="Picture 58">
            <a:extLst>
              <a:ext uri="{FF2B5EF4-FFF2-40B4-BE49-F238E27FC236}">
                <a16:creationId xmlns:a16="http://schemas.microsoft.com/office/drawing/2014/main" id="{1BCF61C7-934E-1345-67D2-10FCB6B64D4A}"/>
              </a:ext>
            </a:extLst>
          </p:cNvPr>
          <p:cNvPicPr>
            <a:picLocks noChangeAspect="1"/>
          </p:cNvPicPr>
          <p:nvPr/>
        </p:nvPicPr>
        <p:blipFill>
          <a:blip r:embed="rId22"/>
          <a:stretch>
            <a:fillRect/>
          </a:stretch>
        </p:blipFill>
        <p:spPr>
          <a:xfrm>
            <a:off x="9517289" y="3124654"/>
            <a:ext cx="327025" cy="374650"/>
          </a:xfrm>
          <a:prstGeom prst="rect">
            <a:avLst/>
          </a:prstGeom>
        </p:spPr>
      </p:pic>
      <p:sp>
        <p:nvSpPr>
          <p:cNvPr id="60" name="TextBox 59">
            <a:extLst>
              <a:ext uri="{FF2B5EF4-FFF2-40B4-BE49-F238E27FC236}">
                <a16:creationId xmlns:a16="http://schemas.microsoft.com/office/drawing/2014/main" id="{F6997A86-772D-A77F-89AD-240B443B0EA4}"/>
              </a:ext>
            </a:extLst>
          </p:cNvPr>
          <p:cNvSpPr txBox="1"/>
          <p:nvPr/>
        </p:nvSpPr>
        <p:spPr>
          <a:xfrm>
            <a:off x="1046389" y="4921705"/>
            <a:ext cx="1781175" cy="1331583"/>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Calibri"/>
                <a:cs typeface="Arial"/>
              </a:rPr>
              <a:t>Data Warehouse</a:t>
            </a: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Vector Database​</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Object Storage​</a:t>
            </a:r>
          </a:p>
          <a:p>
            <a:pPr algn="ctr">
              <a:lnSpc>
                <a:spcPct val="150000"/>
              </a:lnSpc>
            </a:pPr>
            <a:endParaRPr lang="en-US" sz="933">
              <a:latin typeface="Canva Sans"/>
            </a:endParaRPr>
          </a:p>
        </p:txBody>
      </p:sp>
      <p:sp>
        <p:nvSpPr>
          <p:cNvPr id="61" name="TextBox 60">
            <a:extLst>
              <a:ext uri="{FF2B5EF4-FFF2-40B4-BE49-F238E27FC236}">
                <a16:creationId xmlns:a16="http://schemas.microsoft.com/office/drawing/2014/main" id="{F932CF97-FEA7-B232-04E8-7DC53BB80D00}"/>
              </a:ext>
            </a:extLst>
          </p:cNvPr>
          <p:cNvSpPr txBox="1"/>
          <p:nvPr/>
        </p:nvSpPr>
        <p:spPr>
          <a:xfrm>
            <a:off x="3856264" y="4921704"/>
            <a:ext cx="1781175" cy="1331583"/>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Calibri"/>
                <a:cs typeface="Arial"/>
              </a:rPr>
              <a:t>ETL/ELT Pipeline</a:t>
            </a: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Data Transformation​</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Real-Time Streaming​</a:t>
            </a:r>
          </a:p>
          <a:p>
            <a:pPr algn="ctr">
              <a:lnSpc>
                <a:spcPct val="150000"/>
              </a:lnSpc>
            </a:pPr>
            <a:endParaRPr lang="en-US" sz="933">
              <a:latin typeface="Canva Sans"/>
            </a:endParaRPr>
          </a:p>
        </p:txBody>
      </p:sp>
      <p:sp>
        <p:nvSpPr>
          <p:cNvPr id="62" name="TextBox 61">
            <a:extLst>
              <a:ext uri="{FF2B5EF4-FFF2-40B4-BE49-F238E27FC236}">
                <a16:creationId xmlns:a16="http://schemas.microsoft.com/office/drawing/2014/main" id="{D8896D1A-2BE3-CE51-283A-4F8C7FD372FF}"/>
              </a:ext>
            </a:extLst>
          </p:cNvPr>
          <p:cNvSpPr txBox="1"/>
          <p:nvPr/>
        </p:nvSpPr>
        <p:spPr>
          <a:xfrm>
            <a:off x="6894739" y="4921704"/>
            <a:ext cx="1781175" cy="1116203"/>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Calibri"/>
                <a:cs typeface="Arial"/>
              </a:rPr>
              <a:t>GPT – 4 (Open AI)</a:t>
            </a: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Claude (Anthropic)​</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DBRX (Data Bricks)</a:t>
            </a:r>
            <a:endParaRPr lang="en-US" sz="933">
              <a:latin typeface="Canva Sans"/>
              <a:cs typeface="Arial"/>
            </a:endParaRPr>
          </a:p>
        </p:txBody>
      </p:sp>
      <p:sp>
        <p:nvSpPr>
          <p:cNvPr id="63" name="TextBox 62">
            <a:extLst>
              <a:ext uri="{FF2B5EF4-FFF2-40B4-BE49-F238E27FC236}">
                <a16:creationId xmlns:a16="http://schemas.microsoft.com/office/drawing/2014/main" id="{94863F0E-E2A4-A2AE-7BBB-C2E8E1C6CE7C}"/>
              </a:ext>
            </a:extLst>
          </p:cNvPr>
          <p:cNvSpPr txBox="1"/>
          <p:nvPr/>
        </p:nvSpPr>
        <p:spPr>
          <a:xfrm>
            <a:off x="9723664" y="4816929"/>
            <a:ext cx="1781175" cy="1331583"/>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Arial"/>
                <a:cs typeface="Arial"/>
              </a:rPr>
              <a:t>SQL Analyst Agent​</a:t>
            </a:r>
            <a:endParaRPr lang="en-US" sz="933">
              <a:ea typeface="Calibri"/>
              <a:cs typeface="Calibri"/>
            </a:endParaRP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Knowledge Base Agent​</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Competitive intelligence Agent​</a:t>
            </a:r>
          </a:p>
          <a:p>
            <a:pPr algn="ctr">
              <a:lnSpc>
                <a:spcPct val="150000"/>
              </a:lnSpc>
            </a:pPr>
            <a:endParaRPr lang="en-US" sz="933">
              <a:latin typeface="Canva Sans"/>
            </a:endParaRPr>
          </a:p>
        </p:txBody>
      </p:sp>
      <p:sp>
        <p:nvSpPr>
          <p:cNvPr id="1024" name="TextBox 1023">
            <a:extLst>
              <a:ext uri="{FF2B5EF4-FFF2-40B4-BE49-F238E27FC236}">
                <a16:creationId xmlns:a16="http://schemas.microsoft.com/office/drawing/2014/main" id="{F5B741CF-05D6-3D81-D40F-A22F5859BA13}"/>
              </a:ext>
            </a:extLst>
          </p:cNvPr>
          <p:cNvSpPr txBox="1"/>
          <p:nvPr/>
        </p:nvSpPr>
        <p:spPr>
          <a:xfrm>
            <a:off x="6012088" y="1561231"/>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Dashboard Intelligence</a:t>
            </a:r>
            <a:endParaRPr lang="en-US" sz="1200"/>
          </a:p>
        </p:txBody>
      </p:sp>
      <p:sp>
        <p:nvSpPr>
          <p:cNvPr id="1025" name="TextBox 1024">
            <a:extLst>
              <a:ext uri="{FF2B5EF4-FFF2-40B4-BE49-F238E27FC236}">
                <a16:creationId xmlns:a16="http://schemas.microsoft.com/office/drawing/2014/main" id="{5B5527C6-4B79-510A-970C-B1394BBFF696}"/>
              </a:ext>
            </a:extLst>
          </p:cNvPr>
          <p:cNvSpPr txBox="1"/>
          <p:nvPr/>
        </p:nvSpPr>
        <p:spPr>
          <a:xfrm>
            <a:off x="9136289" y="1561232"/>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rPr>
              <a:t>Orchestrator &amp; Context Handler</a:t>
            </a:r>
          </a:p>
        </p:txBody>
      </p:sp>
      <p:sp>
        <p:nvSpPr>
          <p:cNvPr id="1027" name="TextBox 1026">
            <a:extLst>
              <a:ext uri="{FF2B5EF4-FFF2-40B4-BE49-F238E27FC236}">
                <a16:creationId xmlns:a16="http://schemas.microsoft.com/office/drawing/2014/main" id="{173EA12A-74FD-FE17-CB03-1D1C2E763006}"/>
              </a:ext>
            </a:extLst>
          </p:cNvPr>
          <p:cNvSpPr txBox="1"/>
          <p:nvPr/>
        </p:nvSpPr>
        <p:spPr>
          <a:xfrm>
            <a:off x="9136288" y="4333007"/>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AI Agents</a:t>
            </a:r>
            <a:endParaRPr lang="en-US" sz="1200"/>
          </a:p>
        </p:txBody>
      </p:sp>
      <p:sp>
        <p:nvSpPr>
          <p:cNvPr id="1028" name="TextBox 1027">
            <a:extLst>
              <a:ext uri="{FF2B5EF4-FFF2-40B4-BE49-F238E27FC236}">
                <a16:creationId xmlns:a16="http://schemas.microsoft.com/office/drawing/2014/main" id="{D384A8A6-0604-0D41-9281-E53E5A0AF938}"/>
              </a:ext>
            </a:extLst>
          </p:cNvPr>
          <p:cNvSpPr txBox="1"/>
          <p:nvPr/>
        </p:nvSpPr>
        <p:spPr>
          <a:xfrm>
            <a:off x="5993039" y="4333007"/>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LLM Foundation Model</a:t>
            </a:r>
            <a:endParaRPr lang="en-US" sz="1200"/>
          </a:p>
        </p:txBody>
      </p:sp>
      <p:sp>
        <p:nvSpPr>
          <p:cNvPr id="1029" name="TextBox 1028">
            <a:extLst>
              <a:ext uri="{FF2B5EF4-FFF2-40B4-BE49-F238E27FC236}">
                <a16:creationId xmlns:a16="http://schemas.microsoft.com/office/drawing/2014/main" id="{E9CD5E50-0E85-D196-701A-ED3B02399C2C}"/>
              </a:ext>
            </a:extLst>
          </p:cNvPr>
          <p:cNvSpPr txBox="1"/>
          <p:nvPr/>
        </p:nvSpPr>
        <p:spPr>
          <a:xfrm>
            <a:off x="3106964" y="4333007"/>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Data Integration &amp; Processing</a:t>
            </a:r>
            <a:endParaRPr lang="en-US" sz="1200"/>
          </a:p>
        </p:txBody>
      </p:sp>
      <p:sp>
        <p:nvSpPr>
          <p:cNvPr id="1030" name="TextBox 1029">
            <a:extLst>
              <a:ext uri="{FF2B5EF4-FFF2-40B4-BE49-F238E27FC236}">
                <a16:creationId xmlns:a16="http://schemas.microsoft.com/office/drawing/2014/main" id="{128F3F6D-ED96-0BA1-B42E-552E40F2FE57}"/>
              </a:ext>
            </a:extLst>
          </p:cNvPr>
          <p:cNvSpPr txBox="1"/>
          <p:nvPr/>
        </p:nvSpPr>
        <p:spPr>
          <a:xfrm>
            <a:off x="306614" y="4285382"/>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Foundation Infrastructure</a:t>
            </a:r>
            <a:endParaRPr lang="en-US" sz="1200"/>
          </a:p>
        </p:txBody>
      </p:sp>
      <p:sp>
        <p:nvSpPr>
          <p:cNvPr id="1031" name="Arrow: Notched Right 1030">
            <a:extLst>
              <a:ext uri="{FF2B5EF4-FFF2-40B4-BE49-F238E27FC236}">
                <a16:creationId xmlns:a16="http://schemas.microsoft.com/office/drawing/2014/main" id="{CA4E8DDD-6C97-7AA9-33F1-60D5A765B25A}"/>
              </a:ext>
            </a:extLst>
          </p:cNvPr>
          <p:cNvSpPr/>
          <p:nvPr/>
        </p:nvSpPr>
        <p:spPr>
          <a:xfrm>
            <a:off x="5464467" y="2501875"/>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1032" name="Arrow: Notched Right 1031">
            <a:extLst>
              <a:ext uri="{FF2B5EF4-FFF2-40B4-BE49-F238E27FC236}">
                <a16:creationId xmlns:a16="http://schemas.microsoft.com/office/drawing/2014/main" id="{13652C23-2673-C8E0-2AE8-B946126DC70F}"/>
              </a:ext>
            </a:extLst>
          </p:cNvPr>
          <p:cNvSpPr/>
          <p:nvPr/>
        </p:nvSpPr>
        <p:spPr>
          <a:xfrm rot="10800000">
            <a:off x="5483517" y="5292699"/>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1033" name="Arrow: Notched Right 1032">
            <a:extLst>
              <a:ext uri="{FF2B5EF4-FFF2-40B4-BE49-F238E27FC236}">
                <a16:creationId xmlns:a16="http://schemas.microsoft.com/office/drawing/2014/main" id="{800FB02C-C0F5-058D-27B3-F31FF59C5325}"/>
              </a:ext>
            </a:extLst>
          </p:cNvPr>
          <p:cNvSpPr/>
          <p:nvPr/>
        </p:nvSpPr>
        <p:spPr>
          <a:xfrm rot="10800000">
            <a:off x="2616492" y="5264125"/>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1034" name="Arrow: Notched Right 1033">
            <a:extLst>
              <a:ext uri="{FF2B5EF4-FFF2-40B4-BE49-F238E27FC236}">
                <a16:creationId xmlns:a16="http://schemas.microsoft.com/office/drawing/2014/main" id="{E793C942-82A9-BC1D-C2EF-8C4B22A53EB1}"/>
              </a:ext>
            </a:extLst>
          </p:cNvPr>
          <p:cNvSpPr/>
          <p:nvPr/>
        </p:nvSpPr>
        <p:spPr>
          <a:xfrm rot="10800000">
            <a:off x="8541042" y="5311749"/>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pic>
        <p:nvPicPr>
          <p:cNvPr id="1035" name="Picture 1034" descr="A blue cylinder with a yellow sign&#10;&#10;AI-generated content may be incorrect.">
            <a:extLst>
              <a:ext uri="{FF2B5EF4-FFF2-40B4-BE49-F238E27FC236}">
                <a16:creationId xmlns:a16="http://schemas.microsoft.com/office/drawing/2014/main" id="{ADD39990-04F3-E4BF-CE39-B48EE339DD56}"/>
              </a:ext>
            </a:extLst>
          </p:cNvPr>
          <p:cNvPicPr>
            <a:picLocks noChangeAspect="1"/>
          </p:cNvPicPr>
          <p:nvPr/>
        </p:nvPicPr>
        <p:blipFill>
          <a:blip r:embed="rId23"/>
          <a:stretch>
            <a:fillRect/>
          </a:stretch>
        </p:blipFill>
        <p:spPr>
          <a:xfrm>
            <a:off x="9298214" y="4753428"/>
            <a:ext cx="479425" cy="412751"/>
          </a:xfrm>
          <a:prstGeom prst="rect">
            <a:avLst/>
          </a:prstGeom>
        </p:spPr>
      </p:pic>
      <p:pic>
        <p:nvPicPr>
          <p:cNvPr id="1036" name="Picture 1035" descr="A person wearing a headset&#10;&#10;AI-generated content may be incorrect.">
            <a:extLst>
              <a:ext uri="{FF2B5EF4-FFF2-40B4-BE49-F238E27FC236}">
                <a16:creationId xmlns:a16="http://schemas.microsoft.com/office/drawing/2014/main" id="{5995CF87-5C93-6818-2876-1005092AEAA2}"/>
              </a:ext>
            </a:extLst>
          </p:cNvPr>
          <p:cNvPicPr>
            <a:picLocks noChangeAspect="1"/>
          </p:cNvPicPr>
          <p:nvPr/>
        </p:nvPicPr>
        <p:blipFill>
          <a:blip r:embed="rId24"/>
          <a:stretch>
            <a:fillRect/>
          </a:stretch>
        </p:blipFill>
        <p:spPr>
          <a:xfrm>
            <a:off x="9288689" y="5296354"/>
            <a:ext cx="498475" cy="422275"/>
          </a:xfrm>
          <a:prstGeom prst="rect">
            <a:avLst/>
          </a:prstGeom>
        </p:spPr>
      </p:pic>
      <p:pic>
        <p:nvPicPr>
          <p:cNvPr id="1037" name="Picture 1036" descr="A cartoon of a robot&#10;&#10;AI-generated content may be incorrect.">
            <a:extLst>
              <a:ext uri="{FF2B5EF4-FFF2-40B4-BE49-F238E27FC236}">
                <a16:creationId xmlns:a16="http://schemas.microsoft.com/office/drawing/2014/main" id="{C5B79E3A-4EA9-0472-D1C2-8AC13E414C47}"/>
              </a:ext>
            </a:extLst>
          </p:cNvPr>
          <p:cNvPicPr>
            <a:picLocks noChangeAspect="1"/>
          </p:cNvPicPr>
          <p:nvPr/>
        </p:nvPicPr>
        <p:blipFill>
          <a:blip r:embed="rId25"/>
          <a:stretch>
            <a:fillRect/>
          </a:stretch>
        </p:blipFill>
        <p:spPr>
          <a:xfrm>
            <a:off x="9336314" y="5724979"/>
            <a:ext cx="403225" cy="441325"/>
          </a:xfrm>
          <a:prstGeom prst="rect">
            <a:avLst/>
          </a:prstGeom>
        </p:spPr>
      </p:pic>
      <p:sp>
        <p:nvSpPr>
          <p:cNvPr id="1038" name="Freeform 28">
            <a:extLst>
              <a:ext uri="{FF2B5EF4-FFF2-40B4-BE49-F238E27FC236}">
                <a16:creationId xmlns:a16="http://schemas.microsoft.com/office/drawing/2014/main" id="{A1BC801E-8040-FEC6-5DA6-DAAF33D46A71}"/>
              </a:ext>
            </a:extLst>
          </p:cNvPr>
          <p:cNvSpPr/>
          <p:nvPr/>
        </p:nvSpPr>
        <p:spPr>
          <a:xfrm>
            <a:off x="6224658" y="4889040"/>
            <a:ext cx="326394" cy="287791"/>
          </a:xfrm>
          <a:custGeom>
            <a:avLst/>
            <a:gdLst/>
            <a:ahLst/>
            <a:cxnLst/>
            <a:rect l="l" t="t" r="r" b="b"/>
            <a:pathLst>
              <a:path w="946791" h="874598">
                <a:moveTo>
                  <a:pt x="0" y="0"/>
                </a:moveTo>
                <a:lnTo>
                  <a:pt x="946791" y="0"/>
                </a:lnTo>
                <a:lnTo>
                  <a:pt x="946791" y="874598"/>
                </a:lnTo>
                <a:lnTo>
                  <a:pt x="0" y="874598"/>
                </a:lnTo>
                <a:lnTo>
                  <a:pt x="0" y="0"/>
                </a:lnTo>
                <a:close/>
              </a:path>
            </a:pathLst>
          </a:custGeom>
          <a:blipFill>
            <a:blip r:embed="rId26"/>
            <a:stretch>
              <a:fillRect/>
            </a:stretch>
          </a:blipFill>
        </p:spPr>
        <p:txBody>
          <a:bodyPr/>
          <a:lstStyle/>
          <a:p>
            <a:endParaRPr lang="en-IN" sz="1200"/>
          </a:p>
        </p:txBody>
      </p:sp>
      <p:sp>
        <p:nvSpPr>
          <p:cNvPr id="1039" name="Freeform 29">
            <a:extLst>
              <a:ext uri="{FF2B5EF4-FFF2-40B4-BE49-F238E27FC236}">
                <a16:creationId xmlns:a16="http://schemas.microsoft.com/office/drawing/2014/main" id="{D66C3C51-F638-8328-6CEC-2D683481E634}"/>
              </a:ext>
            </a:extLst>
          </p:cNvPr>
          <p:cNvSpPr/>
          <p:nvPr/>
        </p:nvSpPr>
        <p:spPr>
          <a:xfrm>
            <a:off x="6176402" y="5383797"/>
            <a:ext cx="635094" cy="206351"/>
          </a:xfrm>
          <a:custGeom>
            <a:avLst/>
            <a:gdLst/>
            <a:ahLst/>
            <a:cxnLst/>
            <a:rect l="l" t="t" r="r" b="b"/>
            <a:pathLst>
              <a:path w="1452703" h="366676">
                <a:moveTo>
                  <a:pt x="0" y="0"/>
                </a:moveTo>
                <a:lnTo>
                  <a:pt x="1452702" y="0"/>
                </a:lnTo>
                <a:lnTo>
                  <a:pt x="1452702" y="366676"/>
                </a:lnTo>
                <a:lnTo>
                  <a:pt x="0" y="366676"/>
                </a:lnTo>
                <a:lnTo>
                  <a:pt x="0" y="0"/>
                </a:lnTo>
                <a:close/>
              </a:path>
            </a:pathLst>
          </a:custGeom>
          <a:blipFill>
            <a:blip r:embed="rId27"/>
            <a:stretch>
              <a:fillRect l="-9693" t="-111291" r="-52538" b="-126661"/>
            </a:stretch>
          </a:blipFill>
        </p:spPr>
        <p:txBody>
          <a:bodyPr/>
          <a:lstStyle/>
          <a:p>
            <a:endParaRPr lang="en-IN" sz="1200"/>
          </a:p>
        </p:txBody>
      </p:sp>
      <p:sp>
        <p:nvSpPr>
          <p:cNvPr id="1040" name="Freeform 30">
            <a:extLst>
              <a:ext uri="{FF2B5EF4-FFF2-40B4-BE49-F238E27FC236}">
                <a16:creationId xmlns:a16="http://schemas.microsoft.com/office/drawing/2014/main" id="{FC50284C-2890-18B0-BC97-2C269A2DADAF}"/>
              </a:ext>
            </a:extLst>
          </p:cNvPr>
          <p:cNvSpPr/>
          <p:nvPr/>
        </p:nvSpPr>
        <p:spPr>
          <a:xfrm>
            <a:off x="6189698" y="5755272"/>
            <a:ext cx="638793" cy="284493"/>
          </a:xfrm>
          <a:custGeom>
            <a:avLst/>
            <a:gdLst/>
            <a:ahLst/>
            <a:cxnLst/>
            <a:rect l="l" t="t" r="r" b="b"/>
            <a:pathLst>
              <a:path w="2086901" h="826790">
                <a:moveTo>
                  <a:pt x="0" y="0"/>
                </a:moveTo>
                <a:lnTo>
                  <a:pt x="2086902" y="0"/>
                </a:lnTo>
                <a:lnTo>
                  <a:pt x="2086902" y="826789"/>
                </a:lnTo>
                <a:lnTo>
                  <a:pt x="0" y="826789"/>
                </a:lnTo>
                <a:lnTo>
                  <a:pt x="0" y="0"/>
                </a:lnTo>
                <a:close/>
              </a:path>
            </a:pathLst>
          </a:custGeom>
          <a:blipFill>
            <a:blip r:embed="rId28"/>
            <a:stretch>
              <a:fillRect t="-27817" b="-29494"/>
            </a:stretch>
          </a:blipFill>
        </p:spPr>
        <p:txBody>
          <a:bodyPr/>
          <a:lstStyle/>
          <a:p>
            <a:endParaRPr lang="en-IN" sz="1200"/>
          </a:p>
        </p:txBody>
      </p:sp>
      <p:sp>
        <p:nvSpPr>
          <p:cNvPr id="1041" name="Freeform 31">
            <a:extLst>
              <a:ext uri="{FF2B5EF4-FFF2-40B4-BE49-F238E27FC236}">
                <a16:creationId xmlns:a16="http://schemas.microsoft.com/office/drawing/2014/main" id="{26DC2A1E-812B-ED74-DBD4-83B49EB48139}"/>
              </a:ext>
            </a:extLst>
          </p:cNvPr>
          <p:cNvSpPr/>
          <p:nvPr/>
        </p:nvSpPr>
        <p:spPr>
          <a:xfrm>
            <a:off x="3333845" y="4886315"/>
            <a:ext cx="508288" cy="341579"/>
          </a:xfrm>
          <a:custGeom>
            <a:avLst/>
            <a:gdLst/>
            <a:ahLst/>
            <a:cxnLst/>
            <a:rect l="l" t="t" r="r" b="b"/>
            <a:pathLst>
              <a:path w="1219632" h="698106">
                <a:moveTo>
                  <a:pt x="0" y="0"/>
                </a:moveTo>
                <a:lnTo>
                  <a:pt x="1219632" y="0"/>
                </a:lnTo>
                <a:lnTo>
                  <a:pt x="1219632" y="698106"/>
                </a:lnTo>
                <a:lnTo>
                  <a:pt x="0" y="698106"/>
                </a:lnTo>
                <a:lnTo>
                  <a:pt x="0" y="0"/>
                </a:lnTo>
                <a:close/>
              </a:path>
            </a:pathLst>
          </a:custGeom>
          <a:blipFill>
            <a:blip r:embed="rId29"/>
            <a:stretch>
              <a:fillRect/>
            </a:stretch>
          </a:blipFill>
        </p:spPr>
        <p:txBody>
          <a:bodyPr/>
          <a:lstStyle/>
          <a:p>
            <a:endParaRPr lang="en-IN" sz="1200"/>
          </a:p>
        </p:txBody>
      </p:sp>
      <p:sp>
        <p:nvSpPr>
          <p:cNvPr id="1042" name="Freeform 32">
            <a:extLst>
              <a:ext uri="{FF2B5EF4-FFF2-40B4-BE49-F238E27FC236}">
                <a16:creationId xmlns:a16="http://schemas.microsoft.com/office/drawing/2014/main" id="{B7347961-CFAE-632B-9B85-971CE664D601}"/>
              </a:ext>
            </a:extLst>
          </p:cNvPr>
          <p:cNvSpPr/>
          <p:nvPr/>
        </p:nvSpPr>
        <p:spPr>
          <a:xfrm>
            <a:off x="3451731" y="5329840"/>
            <a:ext cx="316806" cy="336204"/>
          </a:xfrm>
          <a:custGeom>
            <a:avLst/>
            <a:gdLst/>
            <a:ahLst/>
            <a:cxnLst/>
            <a:rect l="l" t="t" r="r" b="b"/>
            <a:pathLst>
              <a:path w="903834" h="761480">
                <a:moveTo>
                  <a:pt x="0" y="0"/>
                </a:moveTo>
                <a:lnTo>
                  <a:pt x="903834" y="0"/>
                </a:lnTo>
                <a:lnTo>
                  <a:pt x="903834" y="761480"/>
                </a:lnTo>
                <a:lnTo>
                  <a:pt x="0" y="761480"/>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IN" sz="1200"/>
          </a:p>
        </p:txBody>
      </p:sp>
      <p:sp>
        <p:nvSpPr>
          <p:cNvPr id="1043" name="Freeform 33">
            <a:extLst>
              <a:ext uri="{FF2B5EF4-FFF2-40B4-BE49-F238E27FC236}">
                <a16:creationId xmlns:a16="http://schemas.microsoft.com/office/drawing/2014/main" id="{AC788A65-542F-22A2-811F-8354F58C95B9}"/>
              </a:ext>
            </a:extLst>
          </p:cNvPr>
          <p:cNvSpPr/>
          <p:nvPr/>
        </p:nvSpPr>
        <p:spPr>
          <a:xfrm>
            <a:off x="3392515" y="5755272"/>
            <a:ext cx="427670" cy="358447"/>
          </a:xfrm>
          <a:custGeom>
            <a:avLst/>
            <a:gdLst/>
            <a:ahLst/>
            <a:cxnLst/>
            <a:rect l="l" t="t" r="r" b="b"/>
            <a:pathLst>
              <a:path w="812955" h="751983">
                <a:moveTo>
                  <a:pt x="0" y="0"/>
                </a:moveTo>
                <a:lnTo>
                  <a:pt x="812955" y="0"/>
                </a:lnTo>
                <a:lnTo>
                  <a:pt x="812955" y="751983"/>
                </a:lnTo>
                <a:lnTo>
                  <a:pt x="0" y="751983"/>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IN" sz="1200"/>
          </a:p>
        </p:txBody>
      </p:sp>
      <p:sp>
        <p:nvSpPr>
          <p:cNvPr id="1044" name="Freeform 34">
            <a:extLst>
              <a:ext uri="{FF2B5EF4-FFF2-40B4-BE49-F238E27FC236}">
                <a16:creationId xmlns:a16="http://schemas.microsoft.com/office/drawing/2014/main" id="{46F36B58-FC4D-D170-19F8-E61309436671}"/>
              </a:ext>
            </a:extLst>
          </p:cNvPr>
          <p:cNvSpPr/>
          <p:nvPr/>
        </p:nvSpPr>
        <p:spPr>
          <a:xfrm>
            <a:off x="604561" y="4838690"/>
            <a:ext cx="323127" cy="333985"/>
          </a:xfrm>
          <a:custGeom>
            <a:avLst/>
            <a:gdLst/>
            <a:ahLst/>
            <a:cxnLst/>
            <a:rect l="l" t="t" r="r" b="b"/>
            <a:pathLst>
              <a:path w="756153" h="743865">
                <a:moveTo>
                  <a:pt x="0" y="0"/>
                </a:moveTo>
                <a:lnTo>
                  <a:pt x="756153" y="0"/>
                </a:lnTo>
                <a:lnTo>
                  <a:pt x="756153" y="743866"/>
                </a:lnTo>
                <a:lnTo>
                  <a:pt x="0" y="743866"/>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IN" sz="1200"/>
          </a:p>
        </p:txBody>
      </p:sp>
      <p:sp>
        <p:nvSpPr>
          <p:cNvPr id="1045" name="Freeform 35">
            <a:extLst>
              <a:ext uri="{FF2B5EF4-FFF2-40B4-BE49-F238E27FC236}">
                <a16:creationId xmlns:a16="http://schemas.microsoft.com/office/drawing/2014/main" id="{E385ECDF-7D7D-C2A5-7DAB-2693A5C9126B}"/>
              </a:ext>
            </a:extLst>
          </p:cNvPr>
          <p:cNvSpPr/>
          <p:nvPr/>
        </p:nvSpPr>
        <p:spPr>
          <a:xfrm>
            <a:off x="505465" y="5296042"/>
            <a:ext cx="427586" cy="381773"/>
          </a:xfrm>
          <a:custGeom>
            <a:avLst/>
            <a:gdLst/>
            <a:ahLst/>
            <a:cxnLst/>
            <a:rect l="l" t="t" r="r" b="b"/>
            <a:pathLst>
              <a:path w="841403" h="829834">
                <a:moveTo>
                  <a:pt x="0" y="0"/>
                </a:moveTo>
                <a:lnTo>
                  <a:pt x="841404" y="0"/>
                </a:lnTo>
                <a:lnTo>
                  <a:pt x="841404" y="829834"/>
                </a:lnTo>
                <a:lnTo>
                  <a:pt x="0" y="829834"/>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IN" sz="1200"/>
          </a:p>
        </p:txBody>
      </p:sp>
      <p:sp>
        <p:nvSpPr>
          <p:cNvPr id="1046" name="Freeform 36">
            <a:extLst>
              <a:ext uri="{FF2B5EF4-FFF2-40B4-BE49-F238E27FC236}">
                <a16:creationId xmlns:a16="http://schemas.microsoft.com/office/drawing/2014/main" id="{7372E460-1518-6CB3-E1AA-314CFA9A4493}"/>
              </a:ext>
            </a:extLst>
          </p:cNvPr>
          <p:cNvSpPr/>
          <p:nvPr/>
        </p:nvSpPr>
        <p:spPr>
          <a:xfrm>
            <a:off x="660154" y="5765250"/>
            <a:ext cx="202687" cy="262745"/>
          </a:xfrm>
          <a:custGeom>
            <a:avLst/>
            <a:gdLst/>
            <a:ahLst/>
            <a:cxnLst/>
            <a:rect l="l" t="t" r="r" b="b"/>
            <a:pathLst>
              <a:path w="475480" h="579854">
                <a:moveTo>
                  <a:pt x="0" y="0"/>
                </a:moveTo>
                <a:lnTo>
                  <a:pt x="475480" y="0"/>
                </a:lnTo>
                <a:lnTo>
                  <a:pt x="475480" y="579854"/>
                </a:lnTo>
                <a:lnTo>
                  <a:pt x="0" y="579854"/>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IN" sz="1200"/>
          </a:p>
        </p:txBody>
      </p:sp>
    </p:spTree>
    <p:extLst>
      <p:ext uri="{BB962C8B-B14F-4D97-AF65-F5344CB8AC3E}">
        <p14:creationId xmlns:p14="http://schemas.microsoft.com/office/powerpoint/2010/main" val="3886068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E5773-4028-C713-0702-B4C2CCCA9BB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2CC1F8B-4833-D6FB-23D3-EC219AD301EB}"/>
              </a:ext>
            </a:extLst>
          </p:cNvPr>
          <p:cNvSpPr/>
          <p:nvPr/>
        </p:nvSpPr>
        <p:spPr>
          <a:xfrm>
            <a:off x="1778750" y="2020277"/>
            <a:ext cx="8192564" cy="1323439"/>
          </a:xfrm>
          <a:prstGeom prst="rect">
            <a:avLst/>
          </a:prstGeom>
          <a:noFill/>
        </p:spPr>
        <p:txBody>
          <a:bodyPr wrap="square" lIns="91440" tIns="45720" rIns="91440" bIns="45720">
            <a:spAutoFit/>
          </a:bodyPr>
          <a:lstStyle/>
          <a:p>
            <a:pPr algn="ctr"/>
            <a:r>
              <a:rPr lang="en-US" sz="8000" b="0" cap="none" spc="0" dirty="0">
                <a:ln w="0"/>
                <a:solidFill>
                  <a:schemeClr val="accent1"/>
                </a:solidFill>
                <a:effectLst>
                  <a:outerShdw blurRad="38100" dist="25400" dir="5400000" algn="ctr" rotWithShape="0">
                    <a:srgbClr val="6E747A">
                      <a:alpha val="43000"/>
                    </a:srgbClr>
                  </a:outerShdw>
                </a:effectLst>
              </a:rPr>
              <a:t>!!!  THANK YOU  !!!</a:t>
            </a:r>
          </a:p>
        </p:txBody>
      </p:sp>
    </p:spTree>
    <p:extLst>
      <p:ext uri="{BB962C8B-B14F-4D97-AF65-F5344CB8AC3E}">
        <p14:creationId xmlns:p14="http://schemas.microsoft.com/office/powerpoint/2010/main" val="12637828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6D7F827-CD9E-4377-B7F6-3C6787ACE3F7}">
  <we:reference id="22ff87a5-132f-4d52-9e97-94d888e4dd91" version="3.4.0.0" store="EXCatalog" storeType="EXCatalog"/>
  <we:alternateReferences>
    <we:reference id="WA104380050" version="3.4.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4714317-7c85-4776-b82c-bc70ff87e97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97DC824D5524B42908F003D4CEEEEDC" ma:contentTypeVersion="11" ma:contentTypeDescription="Create a new document." ma:contentTypeScope="" ma:versionID="eeb0cf4ab9a921baa5fd9bf1ce51d6f1">
  <xsd:schema xmlns:xsd="http://www.w3.org/2001/XMLSchema" xmlns:xs="http://www.w3.org/2001/XMLSchema" xmlns:p="http://schemas.microsoft.com/office/2006/metadata/properties" xmlns:ns2="64714317-7c85-4776-b82c-bc70ff87e979" targetNamespace="http://schemas.microsoft.com/office/2006/metadata/properties" ma:root="true" ma:fieldsID="24abceb2f449eaba462ae4593277061a" ns2:_="">
    <xsd:import namespace="64714317-7c85-4776-b82c-bc70ff87e9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714317-7c85-4776-b82c-bc70ff87e9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4e461e5-cd6a-4f6b-80bc-40b8a76cfefa"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FE3A53-A3DD-4E0D-B2B4-31933E4E144B}">
  <ds:schemaRefs>
    <ds:schemaRef ds:uri="http://schemas.microsoft.com/sharepoint/v3/contenttype/forms"/>
  </ds:schemaRefs>
</ds:datastoreItem>
</file>

<file path=customXml/itemProps2.xml><?xml version="1.0" encoding="utf-8"?>
<ds:datastoreItem xmlns:ds="http://schemas.openxmlformats.org/officeDocument/2006/customXml" ds:itemID="{8B129B7B-1278-441E-9202-55B0B949E7E4}">
  <ds:schemaRefs>
    <ds:schemaRef ds:uri="64714317-7c85-4776-b82c-bc70ff87e97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7E6A00E-85B9-4F63-A63D-891084BB968F}">
  <ds:schemaRefs>
    <ds:schemaRef ds:uri="64714317-7c85-4776-b82c-bc70ff87e9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9ec212c2-2f63-4e82-a59a-5e479388ba2a}" enabled="0" method="" siteId="{9ec212c2-2f63-4e82-a59a-5e479388ba2a}" removed="1"/>
</clbl:labelList>
</file>

<file path=docProps/app.xml><?xml version="1.0" encoding="utf-8"?>
<Properties xmlns="http://schemas.openxmlformats.org/officeDocument/2006/extended-properties" xmlns:vt="http://schemas.openxmlformats.org/officeDocument/2006/docPropsVTypes">
  <Template/>
  <TotalTime>2</TotalTime>
  <Words>611</Words>
  <Application>Microsoft Office PowerPoint</Application>
  <PresentationFormat>Widescreen</PresentationFormat>
  <Paragraphs>103</Paragraphs>
  <Slides>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Arial</vt:lpstr>
      <vt:lpstr>Arial,Sans-Serif</vt:lpstr>
      <vt:lpstr>Calibri</vt:lpstr>
      <vt:lpstr>Calibri Light</vt:lpstr>
      <vt:lpstr>Canva Sans</vt:lpstr>
      <vt:lpstr>Canva Sans Bold</vt:lpstr>
      <vt:lpstr>Segoe UI</vt:lpstr>
      <vt:lpstr>Verdana</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Vengat Rajan</dc:creator>
  <cp:lastModifiedBy>Prabhat Swain</cp:lastModifiedBy>
  <cp:revision>1</cp:revision>
  <dcterms:created xsi:type="dcterms:W3CDTF">2023-09-19T14:29:49Z</dcterms:created>
  <dcterms:modified xsi:type="dcterms:W3CDTF">2026-01-07T17:19:23Z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2024-07-31T19:21:51Z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c9d4bea6-0ccd-43fa-8879-92b16e027b63</vt:lpwstr>
  </property>
  <property fmtid="{D5CDD505-2E9C-101B-9397-08002B2CF9AE}" pid="8" name="MSIP_Label_c8f49a32-fde3-48a5-9266-b5b0972a22dc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Cisco Confidential</vt:lpwstr>
  </property>
  <property fmtid="{D5CDD505-2E9C-101B-9397-08002B2CF9AE}" pid="11" name="ContentTypeId">
    <vt:lpwstr>0x010100897DC824D5524B42908F003D4CEEEEDC</vt:lpwstr>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xd_Signature">
    <vt:bool>false</vt:bool>
  </property>
</Properties>
</file>