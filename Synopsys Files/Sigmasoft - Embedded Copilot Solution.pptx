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147481896" r:id="rId5"/>
    <p:sldId id="2147481003" r:id="rId6"/>
    <p:sldId id="2147481806" r:id="rId7"/>
    <p:sldId id="2147481898" r:id="rId8"/>
    <p:sldId id="2147481817" r:id="rId9"/>
    <p:sldId id="214748189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E2F9629-3694-75C8-8AFA-10DE243F2749}" name="Vengat Rajan" initials="VR" userId="Vengat Raj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51D0"/>
    <a:srgbClr val="203864"/>
    <a:srgbClr val="660066"/>
    <a:srgbClr val="F8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29C5A1-6E27-4EAE-A533-0B74B52BA2EB}" v="216" dt="2026-01-07T17:15:56.5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9CBA9D-5EC2-496E-B54B-C3A6E0C1AB33}" type="datetimeFigureOut">
              <a:rPr lang="en-IN" smtClean="0"/>
              <a:t>07-01-2026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E2482-3EA6-4E8B-98A6-E1F8514F7D32}" type="slidenum">
              <a:rPr lang="en-IN" smtClean="0"/>
              <a:t>‹#›</a:t>
            </a:fld>
            <a:endParaRPr lang="en-IN"/>
          </a:p>
        </p:txBody>
      </p:sp>
    </p:spTree>
    <p:extLst>
      <p:ext uri="{BB962C8B-B14F-4D97-AF65-F5344CB8AC3E}">
        <p14:creationId xmlns:p14="http://schemas.microsoft.com/office/powerpoint/2010/main" val="56271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64125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Data &amp; Analytics team has extensive experience in Data platform implementations, Cloud migration, data quality, Reporting &amp; Analytics. </a:t>
            </a:r>
          </a:p>
          <a:p>
            <a:endParaRPr lang="en-US"/>
          </a:p>
          <a:p>
            <a:r>
              <a:rPr lang="en-US"/>
              <a:t>Our team recently concluded a 10-week data architecture modernization study for one of the largest global Hitech Storage companies. </a:t>
            </a:r>
          </a:p>
          <a:p>
            <a:r>
              <a:rPr lang="en-US"/>
              <a:t>	Our data and Gen AI experts created a blueprint for the path ahead for the client organization.</a:t>
            </a:r>
          </a:p>
          <a:p>
            <a:r>
              <a:rPr lang="en-US"/>
              <a:t>	The blueprint detailed the architecture options to build connected data architecture across enterprise functions and factories to enable futuristic Gen AI use cases to 	derive intelligent suggestions from the data insights.</a:t>
            </a:r>
          </a:p>
          <a:p>
            <a:r>
              <a:rPr lang="en-US"/>
              <a:t>Earlier this year, we completed Tableau ton prem to Tableau Cloud migration for a VOIP communication company.</a:t>
            </a:r>
          </a:p>
          <a:p>
            <a:r>
              <a:rPr lang="en-US"/>
              <a:t>	VP of the client organization appreciated the comprehensive effort leading to a frictionless transition.</a:t>
            </a:r>
          </a:p>
          <a:p>
            <a:endParaRPr lang="en-US"/>
          </a:p>
          <a:p>
            <a:r>
              <a:rPr lang="en-US"/>
              <a:t>We have delivered a number of visualization and dashboarding engagements for a number of customers on Tableau and </a:t>
            </a:r>
            <a:r>
              <a:rPr lang="en-US" err="1"/>
              <a:t>PowerBI</a:t>
            </a:r>
            <a:r>
              <a:rPr lang="en-US"/>
              <a:t>  – from SCM cockpit, </a:t>
            </a:r>
            <a:r>
              <a:rPr lang="en-US" err="1"/>
              <a:t>Secuirty</a:t>
            </a:r>
            <a:r>
              <a:rPr lang="en-US"/>
              <a:t> Guardrails Dashboard to a name a few.</a:t>
            </a:r>
          </a:p>
          <a:p>
            <a:endParaRPr lang="en-US"/>
          </a:p>
          <a:p>
            <a:r>
              <a:rPr lang="en-US"/>
              <a:t>As part of practice, our team developed a number of accelerators to deliver value by automations and ready frameworks for faster project delivery</a:t>
            </a:r>
          </a:p>
          <a:p>
            <a:endParaRPr lang="en-US"/>
          </a:p>
          <a:p>
            <a:r>
              <a:rPr lang="en-US"/>
              <a:t>We have partnerships with many modern data technology providers – Snowflake, AWS, DBT to name a few.</a:t>
            </a:r>
          </a:p>
          <a:p>
            <a:endParaRPr lang="en-US"/>
          </a:p>
          <a:p>
            <a:endParaRPr lang="en-US"/>
          </a:p>
          <a:p>
            <a:br>
              <a:rPr lang="en-US"/>
            </a:br>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5915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5153-5FD4-43EE-C8EF-888D2F3D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C37712-B58A-0FE2-31DD-7DD18CB5BD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6479E-B0B4-0B40-9D84-755E209C716E}"/>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3E878ADB-44F9-9ED3-AE67-58B2DA52B2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0026F-5E7D-0FE8-96D6-1336A7C80538}"/>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80090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4BC9-34CB-4E1E-21AE-A723B519C6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4A1643-79C2-0831-2F26-E4DB44869B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8AB279-E680-93D8-3F4A-2F47A70DA722}"/>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C907B6B4-EDA4-5096-EECB-9AB1B69B9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C3F1F-E2B3-9BC4-F4CB-622D6316ED4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3904366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A89F-3F38-28F9-B4A1-3CAD9D1445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588F22-1C98-1AEE-F29A-74C8A03FF5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0B96C1-E2C0-9848-758C-CF8B312AA40D}"/>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8691B340-F70D-D180-5959-C974FC6090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653BD9-CCFF-EE1C-2527-DCFA8DFBE32B}"/>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2564439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F0FC5-93E9-6EC9-4E4B-F7B88206D3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345E0B-BC8C-9649-2CC3-D7D3E8A351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CD9F1A-D257-F029-542A-1D4E9EDB2F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020920-2E12-3F73-0849-677140CA9795}"/>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18F6E7F6-9A7B-BD01-35EF-6324B0DDA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9AD500-0350-CDE5-CC27-9D9ED853FD98}"/>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1266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43203-6232-1FD3-7F22-DCEF2313C2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02174D-C3E5-F3D2-97BC-E40BA4903B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6E6D60-CDB6-9C38-0A33-48B86F6E4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B2F2DE-616A-B40A-DA03-093F6F135D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6E0F4B-B96A-06A3-189F-82EAE34B7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017A13-DB32-25F0-9565-D5E9D5AA3164}"/>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8" name="Footer Placeholder 7">
            <a:extLst>
              <a:ext uri="{FF2B5EF4-FFF2-40B4-BE49-F238E27FC236}">
                <a16:creationId xmlns:a16="http://schemas.microsoft.com/office/drawing/2014/main" id="{7611F63B-C7B1-B761-7758-E97D78E56E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C9178F-120A-28B2-31E9-1E0C19A94E05}"/>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217199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6921-106E-5ECD-E487-7959EAB132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DAEFC1-0C22-9827-D106-5D7E25D69588}"/>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4" name="Footer Placeholder 3">
            <a:extLst>
              <a:ext uri="{FF2B5EF4-FFF2-40B4-BE49-F238E27FC236}">
                <a16:creationId xmlns:a16="http://schemas.microsoft.com/office/drawing/2014/main" id="{5B9DEA5C-C7F5-EB9D-C8C5-B7028F90A9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93AB10-B3DA-D7E3-C3B9-87856BA819EA}"/>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4686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AB752B-219F-4E53-0A60-96862C3A7066}"/>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3" name="Footer Placeholder 2">
            <a:extLst>
              <a:ext uri="{FF2B5EF4-FFF2-40B4-BE49-F238E27FC236}">
                <a16:creationId xmlns:a16="http://schemas.microsoft.com/office/drawing/2014/main" id="{D76307BD-42FF-2530-E3A0-893BBAE8A2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30F2BF-45E4-4197-4DDA-C351B0D0CB1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07032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5B295-09CE-58A0-8B04-AF66DFCB4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4DFBE5-70C2-963A-F309-72C48F62A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2F75D4-4908-0A3A-5A6C-237FD76C6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EBBECA-9ECE-EE89-57F9-AFE0B9999DB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483BEC21-8033-38BD-B48A-71F95A06B5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E15C3C-480E-B7F3-3CED-DF6862664C3F}"/>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546403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DE27-F253-78CA-FD2A-54DB75CED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E78C9A-2F1B-CE69-2244-CBF30BD4E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7B781-3AEA-D640-6EB1-F66743C91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3E31F2-3E50-36A2-C3B4-6D94BA63C26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6" name="Footer Placeholder 5">
            <a:extLst>
              <a:ext uri="{FF2B5EF4-FFF2-40B4-BE49-F238E27FC236}">
                <a16:creationId xmlns:a16="http://schemas.microsoft.com/office/drawing/2014/main" id="{D5456851-47D3-DBBD-BE9D-CD2CB4EA6C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5CB06B-BE57-7EE2-B2CB-2821C9DC4582}"/>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324957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02973-26BB-5D22-AAE3-DC8C9EDDD6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0F6FE8-31B9-815E-4103-9DE48F1D13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538F26-3F8F-D85D-BF21-C5B69C0FAC72}"/>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033D8A95-A54C-D850-E263-6D7C4A26F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F85252-4B1B-391E-942E-1AEB1A11B06A}"/>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1708230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B39DE7-0DF2-7BA1-3F7D-97A6FE8487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28517F-9187-A2EF-BDC3-3BF8B145E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76663-0406-6377-BFC9-EB653B60BBC9}"/>
              </a:ext>
            </a:extLst>
          </p:cNvPr>
          <p:cNvSpPr>
            <a:spLocks noGrp="1"/>
          </p:cNvSpPr>
          <p:nvPr>
            <p:ph type="dt" sz="half" idx="10"/>
          </p:nvPr>
        </p:nvSpPr>
        <p:spPr/>
        <p:txBody>
          <a:body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97851B0C-ADC0-C9AF-BB4A-50FE773E71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E25539-5534-5FE6-C9A7-54932E9A90D9}"/>
              </a:ext>
            </a:extLst>
          </p:cNvPr>
          <p:cNvSpPr>
            <a:spLocks noGrp="1"/>
          </p:cNvSpPr>
          <p:nvPr>
            <p:ph type="sldNum" sz="quarter" idx="12"/>
          </p:nvPr>
        </p:nvSpPr>
        <p:spPr/>
        <p:txBody>
          <a:bodyPr/>
          <a:lstStyle/>
          <a:p>
            <a:fld id="{98767E83-DFC4-4C8A-9F52-D831ECCE6665}" type="slidenum">
              <a:rPr lang="en-IN" smtClean="0"/>
              <a:t>‹#›</a:t>
            </a:fld>
            <a:endParaRPr lang="en-IN"/>
          </a:p>
        </p:txBody>
      </p:sp>
    </p:spTree>
    <p:extLst>
      <p:ext uri="{BB962C8B-B14F-4D97-AF65-F5344CB8AC3E}">
        <p14:creationId xmlns:p14="http://schemas.microsoft.com/office/powerpoint/2010/main" val="91021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IMAGE AND CONTENTS LAYOUT_02">
    <p:bg>
      <p:bgPr>
        <a:solidFill>
          <a:schemeClr val="bg1"/>
        </a:solidFill>
        <a:effectLst/>
      </p:bgPr>
    </p:bg>
    <p:spTree>
      <p:nvGrpSpPr>
        <p:cNvPr id="1" name=""/>
        <p:cNvGrpSpPr/>
        <p:nvPr/>
      </p:nvGrpSpPr>
      <p:grpSpPr>
        <a:xfrm>
          <a:off x="0" y="0"/>
          <a:ext cx="0" cy="0"/>
          <a:chOff x="0" y="0"/>
          <a:chExt cx="0" cy="0"/>
        </a:xfrm>
      </p:grpSpPr>
      <p:sp>
        <p:nvSpPr>
          <p:cNvPr id="4" name="그림 개체 틀 2"/>
          <p:cNvSpPr>
            <a:spLocks noGrp="1"/>
          </p:cNvSpPr>
          <p:nvPr>
            <p:ph type="pic" sz="quarter" idx="10" hasCustomPrompt="1"/>
          </p:nvPr>
        </p:nvSpPr>
        <p:spPr>
          <a:xfrm>
            <a:off x="5591176" y="1"/>
            <a:ext cx="6605602" cy="6866390"/>
          </a:xfrm>
          <a:custGeom>
            <a:avLst/>
            <a:gdLst>
              <a:gd name="connsiteX0" fmla="*/ 0 w 4427984"/>
              <a:gd name="connsiteY0" fmla="*/ 0 h 6866389"/>
              <a:gd name="connsiteX1" fmla="*/ 4427984 w 4427984"/>
              <a:gd name="connsiteY1" fmla="*/ 0 h 6866389"/>
              <a:gd name="connsiteX2" fmla="*/ 4427984 w 4427984"/>
              <a:gd name="connsiteY2" fmla="*/ 6866389 h 6866389"/>
              <a:gd name="connsiteX3" fmla="*/ 0 w 4427984"/>
              <a:gd name="connsiteY3" fmla="*/ 6866389 h 6866389"/>
              <a:gd name="connsiteX4" fmla="*/ 0 w 4427984"/>
              <a:gd name="connsiteY4" fmla="*/ 0 h 6866389"/>
              <a:gd name="connsiteX0" fmla="*/ 595618 w 4427984"/>
              <a:gd name="connsiteY0" fmla="*/ 0 h 6883167"/>
              <a:gd name="connsiteX1" fmla="*/ 4427984 w 4427984"/>
              <a:gd name="connsiteY1" fmla="*/ 16778 h 6883167"/>
              <a:gd name="connsiteX2" fmla="*/ 4427984 w 4427984"/>
              <a:gd name="connsiteY2" fmla="*/ 6883167 h 6883167"/>
              <a:gd name="connsiteX3" fmla="*/ 0 w 4427984"/>
              <a:gd name="connsiteY3" fmla="*/ 6883167 h 6883167"/>
              <a:gd name="connsiteX4" fmla="*/ 595618 w 4427984"/>
              <a:gd name="connsiteY4" fmla="*/ 0 h 6883167"/>
              <a:gd name="connsiteX0" fmla="*/ 1258348 w 5090714"/>
              <a:gd name="connsiteY0" fmla="*/ 0 h 6883167"/>
              <a:gd name="connsiteX1" fmla="*/ 5090714 w 5090714"/>
              <a:gd name="connsiteY1" fmla="*/ 16778 h 6883167"/>
              <a:gd name="connsiteX2" fmla="*/ 5090714 w 5090714"/>
              <a:gd name="connsiteY2" fmla="*/ 6883167 h 6883167"/>
              <a:gd name="connsiteX3" fmla="*/ 0 w 5090714"/>
              <a:gd name="connsiteY3" fmla="*/ 6874779 h 6883167"/>
              <a:gd name="connsiteX4" fmla="*/ 1258348 w 5090714"/>
              <a:gd name="connsiteY4" fmla="*/ 0 h 6883167"/>
              <a:gd name="connsiteX0" fmla="*/ 1493240 w 5090714"/>
              <a:gd name="connsiteY0" fmla="*/ 0 h 6883167"/>
              <a:gd name="connsiteX1" fmla="*/ 5090714 w 5090714"/>
              <a:gd name="connsiteY1" fmla="*/ 16778 h 6883167"/>
              <a:gd name="connsiteX2" fmla="*/ 5090714 w 5090714"/>
              <a:gd name="connsiteY2" fmla="*/ 6883167 h 6883167"/>
              <a:gd name="connsiteX3" fmla="*/ 0 w 5090714"/>
              <a:gd name="connsiteY3" fmla="*/ 6874779 h 6883167"/>
              <a:gd name="connsiteX4" fmla="*/ 1493240 w 5090714"/>
              <a:gd name="connsiteY4" fmla="*/ 0 h 6883167"/>
              <a:gd name="connsiteX0" fmla="*/ 1459684 w 5090714"/>
              <a:gd name="connsiteY0" fmla="*/ 0 h 6866389"/>
              <a:gd name="connsiteX1" fmla="*/ 5090714 w 5090714"/>
              <a:gd name="connsiteY1" fmla="*/ 0 h 6866389"/>
              <a:gd name="connsiteX2" fmla="*/ 5090714 w 5090714"/>
              <a:gd name="connsiteY2" fmla="*/ 6866389 h 6866389"/>
              <a:gd name="connsiteX3" fmla="*/ 0 w 5090714"/>
              <a:gd name="connsiteY3" fmla="*/ 6858001 h 6866389"/>
              <a:gd name="connsiteX4" fmla="*/ 1459684 w 5090714"/>
              <a:gd name="connsiteY4" fmla="*/ 0 h 6866389"/>
              <a:gd name="connsiteX0" fmla="*/ 1711354 w 5090714"/>
              <a:gd name="connsiteY0" fmla="*/ 0 h 6874778"/>
              <a:gd name="connsiteX1" fmla="*/ 5090714 w 5090714"/>
              <a:gd name="connsiteY1" fmla="*/ 8389 h 6874778"/>
              <a:gd name="connsiteX2" fmla="*/ 5090714 w 5090714"/>
              <a:gd name="connsiteY2" fmla="*/ 6874778 h 6874778"/>
              <a:gd name="connsiteX3" fmla="*/ 0 w 5090714"/>
              <a:gd name="connsiteY3" fmla="*/ 6866390 h 6874778"/>
              <a:gd name="connsiteX4" fmla="*/ 1711354 w 5090714"/>
              <a:gd name="connsiteY4" fmla="*/ 0 h 6874778"/>
              <a:gd name="connsiteX0" fmla="*/ 1937857 w 5317217"/>
              <a:gd name="connsiteY0" fmla="*/ 0 h 6874779"/>
              <a:gd name="connsiteX1" fmla="*/ 5317217 w 5317217"/>
              <a:gd name="connsiteY1" fmla="*/ 8389 h 6874779"/>
              <a:gd name="connsiteX2" fmla="*/ 5317217 w 5317217"/>
              <a:gd name="connsiteY2" fmla="*/ 6874778 h 6874779"/>
              <a:gd name="connsiteX3" fmla="*/ 0 w 5317217"/>
              <a:gd name="connsiteY3" fmla="*/ 6874779 h 6874779"/>
              <a:gd name="connsiteX4" fmla="*/ 1937857 w 5317217"/>
              <a:gd name="connsiteY4" fmla="*/ 0 h 6874779"/>
              <a:gd name="connsiteX0" fmla="*/ 1280632 w 5317217"/>
              <a:gd name="connsiteY0" fmla="*/ 10661 h 6866390"/>
              <a:gd name="connsiteX1" fmla="*/ 5317217 w 5317217"/>
              <a:gd name="connsiteY1" fmla="*/ 0 h 6866390"/>
              <a:gd name="connsiteX2" fmla="*/ 5317217 w 5317217"/>
              <a:gd name="connsiteY2" fmla="*/ 6866389 h 6866390"/>
              <a:gd name="connsiteX3" fmla="*/ 0 w 5317217"/>
              <a:gd name="connsiteY3" fmla="*/ 6866390 h 6866390"/>
              <a:gd name="connsiteX4" fmla="*/ 1280632 w 5317217"/>
              <a:gd name="connsiteY4" fmla="*/ 10661 h 6866390"/>
              <a:gd name="connsiteX0" fmla="*/ 1280632 w 5317217"/>
              <a:gd name="connsiteY0" fmla="*/ 1136 h 6866390"/>
              <a:gd name="connsiteX1" fmla="*/ 5317217 w 5317217"/>
              <a:gd name="connsiteY1" fmla="*/ 0 h 6866390"/>
              <a:gd name="connsiteX2" fmla="*/ 5317217 w 5317217"/>
              <a:gd name="connsiteY2" fmla="*/ 6866389 h 6866390"/>
              <a:gd name="connsiteX3" fmla="*/ 0 w 5317217"/>
              <a:gd name="connsiteY3" fmla="*/ 6866390 h 6866390"/>
              <a:gd name="connsiteX4" fmla="*/ 1280632 w 5317217"/>
              <a:gd name="connsiteY4" fmla="*/ 1136 h 6866390"/>
              <a:gd name="connsiteX0" fmla="*/ 1413982 w 5450567"/>
              <a:gd name="connsiteY0" fmla="*/ 1136 h 6866390"/>
              <a:gd name="connsiteX1" fmla="*/ 5450567 w 5450567"/>
              <a:gd name="connsiteY1" fmla="*/ 0 h 6866390"/>
              <a:gd name="connsiteX2" fmla="*/ 5450567 w 5450567"/>
              <a:gd name="connsiteY2" fmla="*/ 6866389 h 6866390"/>
              <a:gd name="connsiteX3" fmla="*/ 0 w 5450567"/>
              <a:gd name="connsiteY3" fmla="*/ 6866390 h 6866390"/>
              <a:gd name="connsiteX4" fmla="*/ 1413982 w 5450567"/>
              <a:gd name="connsiteY4" fmla="*/ 1136 h 6866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567" h="6866390">
                <a:moveTo>
                  <a:pt x="1413982" y="1136"/>
                </a:moveTo>
                <a:lnTo>
                  <a:pt x="5450567" y="0"/>
                </a:lnTo>
                <a:lnTo>
                  <a:pt x="5450567" y="6866389"/>
                </a:lnTo>
                <a:lnTo>
                  <a:pt x="0" y="6866390"/>
                </a:lnTo>
                <a:lnTo>
                  <a:pt x="1413982" y="1136"/>
                </a:lnTo>
                <a:close/>
              </a:path>
            </a:pathLst>
          </a:cu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defRPr>
            </a:lvl1pPr>
          </a:lstStyle>
          <a:p>
            <a:r>
              <a:rPr lang="en-US" altLang="ko-KR"/>
              <a:t>Place Your Picture Here</a:t>
            </a:r>
            <a:endParaRPr lang="ko-KR" altLang="en-US"/>
          </a:p>
        </p:txBody>
      </p:sp>
      <p:sp>
        <p:nvSpPr>
          <p:cNvPr id="2" name="Rectangle 1">
            <a:extLst>
              <a:ext uri="{FF2B5EF4-FFF2-40B4-BE49-F238E27FC236}">
                <a16:creationId xmlns:a16="http://schemas.microsoft.com/office/drawing/2014/main" id="{3D507953-9EC6-499C-FC4E-E166E8C9FC0F}"/>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62FF81B9-56FB-6F65-2022-9307430E850D}"/>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719419C-A108-EB46-1DA8-4A96C5CF0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189117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
        <p:nvSpPr>
          <p:cNvPr id="3" name="Rectangle 2">
            <a:extLst>
              <a:ext uri="{FF2B5EF4-FFF2-40B4-BE49-F238E27FC236}">
                <a16:creationId xmlns:a16="http://schemas.microsoft.com/office/drawing/2014/main" id="{CA396A33-F5DC-687B-6B06-B50E7455074B}"/>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A1ED26C-FDA3-D1DA-1068-1C47294CC0EF}"/>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2BA5740-BCBB-308C-6A30-2C779FACF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069116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 - Content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07953-9EC6-499C-FC4E-E166E8C9FC0F}"/>
              </a:ext>
            </a:extLst>
          </p:cNvPr>
          <p:cNvSpPr/>
          <p:nvPr userDrawn="1"/>
        </p:nvSpPr>
        <p:spPr>
          <a:xfrm>
            <a:off x="1" y="6481092"/>
            <a:ext cx="12192000" cy="376908"/>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719419C-A108-EB46-1DA8-4A96C5CF0A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8017" y="6554239"/>
            <a:ext cx="1355351" cy="257517"/>
          </a:xfrm>
          <a:prstGeom prst="rect">
            <a:avLst/>
          </a:prstGeom>
        </p:spPr>
      </p:pic>
      <p:sp>
        <p:nvSpPr>
          <p:cNvPr id="8" name="TextBox 7">
            <a:extLst>
              <a:ext uri="{FF2B5EF4-FFF2-40B4-BE49-F238E27FC236}">
                <a16:creationId xmlns:a16="http://schemas.microsoft.com/office/drawing/2014/main" id="{8D33BDF6-E95B-A824-2CE8-05503F8910BA}"/>
              </a:ext>
            </a:extLst>
          </p:cNvPr>
          <p:cNvSpPr txBox="1"/>
          <p:nvPr userDrawn="1"/>
        </p:nvSpPr>
        <p:spPr>
          <a:xfrm>
            <a:off x="5229251" y="6542131"/>
            <a:ext cx="1385316" cy="246221"/>
          </a:xfrm>
          <a:prstGeom prst="rect">
            <a:avLst/>
          </a:prstGeom>
          <a:noFill/>
        </p:spPr>
        <p:txBody>
          <a:bodyPr wrap="none" rtlCol="0">
            <a:spAutoFit/>
          </a:bodyPr>
          <a:lstStyle/>
          <a:p>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Sigmasoft Confidential</a:t>
            </a:r>
          </a:p>
        </p:txBody>
      </p:sp>
    </p:spTree>
    <p:extLst>
      <p:ext uri="{BB962C8B-B14F-4D97-AF65-F5344CB8AC3E}">
        <p14:creationId xmlns:p14="http://schemas.microsoft.com/office/powerpoint/2010/main" val="369672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F9D36-FE02-1AD4-8A16-12FFA341F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72C169-5FEA-928F-08F7-AD967B03E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7EEF5-CAD6-C806-AED1-89CC432C73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6A5EE4-90A1-43ED-B66C-DA8EFDC659B9}" type="datetimeFigureOut">
              <a:rPr lang="en-IN" smtClean="0"/>
              <a:t>07-01-2026</a:t>
            </a:fld>
            <a:endParaRPr lang="en-IN"/>
          </a:p>
        </p:txBody>
      </p:sp>
      <p:sp>
        <p:nvSpPr>
          <p:cNvPr id="5" name="Footer Placeholder 4">
            <a:extLst>
              <a:ext uri="{FF2B5EF4-FFF2-40B4-BE49-F238E27FC236}">
                <a16:creationId xmlns:a16="http://schemas.microsoft.com/office/drawing/2014/main" id="{A720D0C1-6819-5D1C-6D42-2F4BD61908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1A2DE6C-7655-0BEA-5196-A846146AF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767E83-DFC4-4C8A-9F52-D831ECCE6665}" type="slidenum">
              <a:rPr lang="en-IN" smtClean="0"/>
              <a:t>‹#›</a:t>
            </a:fld>
            <a:endParaRPr lang="en-IN"/>
          </a:p>
        </p:txBody>
      </p:sp>
      <p:sp>
        <p:nvSpPr>
          <p:cNvPr id="8" name="TextBox 7">
            <a:extLst>
              <a:ext uri="{FF2B5EF4-FFF2-40B4-BE49-F238E27FC236}">
                <a16:creationId xmlns:a16="http://schemas.microsoft.com/office/drawing/2014/main" id="{89151CDA-1CE7-8040-9BE3-2C26971551EB}"/>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841210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9" Type="http://schemas.openxmlformats.org/officeDocument/2006/relationships/image" Target="../media/image41.svg"/><Relationship Id="rId21" Type="http://schemas.openxmlformats.org/officeDocument/2006/relationships/image" Target="../media/image23.png"/><Relationship Id="rId34" Type="http://schemas.openxmlformats.org/officeDocument/2006/relationships/image" Target="../media/image36.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35.svg"/><Relationship Id="rId38" Type="http://schemas.openxmlformats.org/officeDocument/2006/relationships/image" Target="../media/image40.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sv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36" Type="http://schemas.openxmlformats.org/officeDocument/2006/relationships/image" Target="../media/image38.png"/><Relationship Id="rId10" Type="http://schemas.openxmlformats.org/officeDocument/2006/relationships/image" Target="../media/image12.svg"/><Relationship Id="rId19" Type="http://schemas.openxmlformats.org/officeDocument/2006/relationships/image" Target="../media/image21.png"/><Relationship Id="rId31" Type="http://schemas.openxmlformats.org/officeDocument/2006/relationships/image" Target="../media/image33.sv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 Id="rId35" Type="http://schemas.openxmlformats.org/officeDocument/2006/relationships/image" Target="../media/image37.svg"/><Relationship Id="rId8" Type="http://schemas.openxmlformats.org/officeDocument/2006/relationships/image" Target="../media/image10.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AF7A-7CD9-5F27-9980-39CC88DF815A}"/>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1225E09-6400-1403-7767-E9BAA500B56D}"/>
              </a:ext>
            </a:extLst>
          </p:cNvPr>
          <p:cNvGrpSpPr/>
          <p:nvPr/>
        </p:nvGrpSpPr>
        <p:grpSpPr>
          <a:xfrm>
            <a:off x="5162763" y="2837202"/>
            <a:ext cx="6738876" cy="2000548"/>
            <a:chOff x="5162763" y="2837202"/>
            <a:chExt cx="6738876" cy="2000548"/>
          </a:xfrm>
        </p:grpSpPr>
        <p:sp>
          <p:nvSpPr>
            <p:cNvPr id="31" name="TextBox 30">
              <a:extLst>
                <a:ext uri="{FF2B5EF4-FFF2-40B4-BE49-F238E27FC236}">
                  <a16:creationId xmlns:a16="http://schemas.microsoft.com/office/drawing/2014/main" id="{93B55FA3-F3D1-9EF4-6C41-36DE2CAE69AF}"/>
                </a:ext>
              </a:extLst>
            </p:cNvPr>
            <p:cNvSpPr txBox="1"/>
            <p:nvPr/>
          </p:nvSpPr>
          <p:spPr>
            <a:xfrm>
              <a:off x="5162763" y="2837202"/>
              <a:ext cx="6738876" cy="2000548"/>
            </a:xfrm>
            <a:prstGeom prst="rect">
              <a:avLst/>
            </a:prstGeom>
            <a:noFill/>
          </p:spPr>
          <p:txBody>
            <a:bodyPr wrap="square" rtlCol="0">
              <a:spAutoFit/>
            </a:bodyPr>
            <a:lstStyle/>
            <a:p>
              <a:r>
                <a:rPr lang="en-US" sz="3200" b="1">
                  <a:effectLst/>
                  <a:latin typeface="Calibri" panose="020F0502020204030204" pitchFamily="34" charset="0"/>
                  <a:ea typeface="Calibri" panose="020F0502020204030204" pitchFamily="34" charset="0"/>
                  <a:cs typeface="Times New Roman" panose="02020603050405020304" pitchFamily="18" charset="0"/>
                </a:rPr>
                <a:t> </a:t>
              </a:r>
            </a:p>
            <a:p>
              <a:r>
                <a:rPr lang="en-US" sz="3200" b="1">
                  <a:effectLst/>
                  <a:latin typeface="Calibri" panose="020F0502020204030204" pitchFamily="34" charset="0"/>
                  <a:ea typeface="Calibri" panose="020F0502020204030204" pitchFamily="34" charset="0"/>
                  <a:cs typeface="Times New Roman" panose="02020603050405020304" pitchFamily="18" charset="0"/>
                </a:rPr>
                <a:t>Dashboard Embedded Copilot Solution </a:t>
              </a:r>
              <a:endParaRPr lang="en-US" sz="1400">
                <a:latin typeface="Arial"/>
                <a:cs typeface="Arial"/>
              </a:endParaRPr>
            </a:p>
            <a:p>
              <a:r>
                <a:rPr lang="en-US" sz="1400">
                  <a:latin typeface="Arial" panose="020B0604020202020204" pitchFamily="34" charset="0"/>
                  <a:cs typeface="Arial" panose="020B0604020202020204" pitchFamily="34" charset="0"/>
                </a:rPr>
                <a:t>Unified </a:t>
              </a:r>
              <a:r>
                <a:rPr lang="en-IN" sz="1400">
                  <a:latin typeface="Arial" panose="020B0604020202020204" pitchFamily="34" charset="0"/>
                  <a:cs typeface="Arial" panose="020B0604020202020204" pitchFamily="34" charset="0"/>
                </a:rPr>
                <a:t>AI-powered copilot that blends Data, Dashboards &amp; actions into “one stop” for Insights</a:t>
              </a:r>
              <a:endParaRPr lang="en-US" sz="1400">
                <a:latin typeface="Arial" panose="020B0604020202020204" pitchFamily="34" charset="0"/>
                <a:cs typeface="Arial" panose="020B0604020202020204" pitchFamily="34" charset="0"/>
              </a:endParaRPr>
            </a:p>
            <a:p>
              <a:endParaRPr lang="en-US" sz="3200" b="1">
                <a:latin typeface="Calibri" panose="020F0502020204030204" pitchFamily="34" charset="0"/>
                <a:ea typeface="Calibri" panose="020F0502020204030204" pitchFamily="34" charset="0"/>
                <a:cs typeface="Times New Roman" panose="02020603050405020304" pitchFamily="18" charset="0"/>
              </a:endParaRPr>
            </a:p>
          </p:txBody>
        </p:sp>
        <p:pic>
          <p:nvPicPr>
            <p:cNvPr id="43" name="Picture 42">
              <a:extLst>
                <a:ext uri="{FF2B5EF4-FFF2-40B4-BE49-F238E27FC236}">
                  <a16:creationId xmlns:a16="http://schemas.microsoft.com/office/drawing/2014/main" id="{20C3DB9A-465F-1511-3428-5C06BEA7E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776" y="2837202"/>
              <a:ext cx="2407968" cy="457514"/>
            </a:xfrm>
            <a:prstGeom prst="rect">
              <a:avLst/>
            </a:prstGeom>
          </p:spPr>
        </p:pic>
      </p:grpSp>
      <p:sp>
        <p:nvSpPr>
          <p:cNvPr id="3" name="Freeform 2">
            <a:extLst>
              <a:ext uri="{FF2B5EF4-FFF2-40B4-BE49-F238E27FC236}">
                <a16:creationId xmlns:a16="http://schemas.microsoft.com/office/drawing/2014/main" id="{3F6E0103-E168-6F6F-0484-AE228763B0E7}"/>
              </a:ext>
            </a:extLst>
          </p:cNvPr>
          <p:cNvSpPr/>
          <p:nvPr/>
        </p:nvSpPr>
        <p:spPr>
          <a:xfrm>
            <a:off x="1390337" y="2316179"/>
            <a:ext cx="4087205" cy="2225641"/>
          </a:xfrm>
          <a:custGeom>
            <a:avLst/>
            <a:gdLst/>
            <a:ahLst/>
            <a:cxnLst/>
            <a:rect l="l" t="t" r="r" b="b"/>
            <a:pathLst>
              <a:path w="12352120" h="8229600">
                <a:moveTo>
                  <a:pt x="0" y="0"/>
                </a:moveTo>
                <a:lnTo>
                  <a:pt x="12352120" y="0"/>
                </a:lnTo>
                <a:lnTo>
                  <a:pt x="12352120" y="8229600"/>
                </a:lnTo>
                <a:lnTo>
                  <a:pt x="0" y="8229600"/>
                </a:lnTo>
                <a:lnTo>
                  <a:pt x="0" y="0"/>
                </a:lnTo>
                <a:close/>
              </a:path>
            </a:pathLst>
          </a:custGeom>
          <a:blipFill>
            <a:blip r:embed="rId4"/>
            <a:stretch>
              <a:fillRect/>
            </a:stretch>
          </a:blipFill>
          <a:effectLst>
            <a:softEdge rad="609600"/>
          </a:effectLst>
        </p:spPr>
        <p:txBody>
          <a:bodyPr/>
          <a:lstStyle/>
          <a:p>
            <a:endParaRPr lang="en-IN"/>
          </a:p>
        </p:txBody>
      </p:sp>
    </p:spTree>
    <p:extLst>
      <p:ext uri="{BB962C8B-B14F-4D97-AF65-F5344CB8AC3E}">
        <p14:creationId xmlns:p14="http://schemas.microsoft.com/office/powerpoint/2010/main" val="2103191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BE79C-52FC-B64D-61CA-503B77A841A2}"/>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230A3A5A-E4AD-61F0-8383-0C98C716D715}"/>
              </a:ext>
            </a:extLst>
          </p:cNvPr>
          <p:cNvSpPr/>
          <p:nvPr/>
        </p:nvSpPr>
        <p:spPr>
          <a:xfrm>
            <a:off x="3548744" y="130628"/>
            <a:ext cx="3679370" cy="558701"/>
          </a:xfrm>
          <a:prstGeom prst="rect">
            <a:avLst/>
          </a:prstGeom>
          <a:noFill/>
          <a:ln/>
        </p:spPr>
        <p:txBody>
          <a:bodyPr wrap="square" lIns="0" tIns="0" rIns="0" bIns="0" rtlCol="0" anchor="t"/>
          <a:lstStyle/>
          <a:p>
            <a:pPr marL="0" indent="0">
              <a:lnSpc>
                <a:spcPts val="3240"/>
              </a:lnSpc>
              <a:buNone/>
            </a:pPr>
            <a:r>
              <a:rPr lang="en-US" sz="3200" b="1">
                <a:solidFill>
                  <a:schemeClr val="accent1"/>
                </a:solidFill>
                <a:latin typeface="Segoe UI" pitchFamily="34" charset="0"/>
                <a:ea typeface="Segoe UI" pitchFamily="34" charset="-122"/>
                <a:cs typeface="Segoe UI" pitchFamily="34" charset="-120"/>
              </a:rPr>
              <a:t>Meeting Summary</a:t>
            </a:r>
            <a:endParaRPr lang="en-US" sz="3200" b="1">
              <a:solidFill>
                <a:schemeClr val="accent1"/>
              </a:solidFill>
            </a:endParaRPr>
          </a:p>
        </p:txBody>
      </p:sp>
      <p:sp>
        <p:nvSpPr>
          <p:cNvPr id="7" name="Text 4">
            <a:extLst>
              <a:ext uri="{FF2B5EF4-FFF2-40B4-BE49-F238E27FC236}">
                <a16:creationId xmlns:a16="http://schemas.microsoft.com/office/drawing/2014/main" id="{649BB1C4-B0DE-12FB-63EC-9BCAEEE2EB5E}"/>
              </a:ext>
            </a:extLst>
          </p:cNvPr>
          <p:cNvSpPr/>
          <p:nvPr/>
        </p:nvSpPr>
        <p:spPr>
          <a:xfrm>
            <a:off x="743474" y="872189"/>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Core Solution Overview</a:t>
            </a:r>
            <a:endParaRPr lang="en-US" sz="1600">
              <a:solidFill>
                <a:schemeClr val="tx2"/>
              </a:solidFill>
            </a:endParaRPr>
          </a:p>
        </p:txBody>
      </p:sp>
      <p:sp>
        <p:nvSpPr>
          <p:cNvPr id="8" name="Text 5">
            <a:extLst>
              <a:ext uri="{FF2B5EF4-FFF2-40B4-BE49-F238E27FC236}">
                <a16:creationId xmlns:a16="http://schemas.microsoft.com/office/drawing/2014/main" id="{8D11BDA3-6977-1F5F-B6C1-C77FFD7270FA}"/>
              </a:ext>
            </a:extLst>
          </p:cNvPr>
          <p:cNvSpPr/>
          <p:nvPr/>
        </p:nvSpPr>
        <p:spPr>
          <a:xfrm>
            <a:off x="743471" y="1072084"/>
            <a:ext cx="10468812" cy="17769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Unified AI-powered copilot blending structured data (Snowflake) with unstructured knowledge (PDFs, PowerPoints) in Salesforce, Teams, Slack, Outlook</a:t>
            </a:r>
            <a:endParaRPr lang="en-US" sz="1600"/>
          </a:p>
        </p:txBody>
      </p:sp>
      <p:sp>
        <p:nvSpPr>
          <p:cNvPr id="9" name="Text 6">
            <a:extLst>
              <a:ext uri="{FF2B5EF4-FFF2-40B4-BE49-F238E27FC236}">
                <a16:creationId xmlns:a16="http://schemas.microsoft.com/office/drawing/2014/main" id="{CE55E6F7-E882-33F9-34F4-952E9A2550BD}"/>
              </a:ext>
            </a:extLst>
          </p:cNvPr>
          <p:cNvSpPr/>
          <p:nvPr/>
        </p:nvSpPr>
        <p:spPr>
          <a:xfrm>
            <a:off x="743473" y="1673530"/>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Data Integration Architecture</a:t>
            </a:r>
            <a:endParaRPr lang="en-US" sz="1600">
              <a:solidFill>
                <a:schemeClr val="tx2"/>
              </a:solidFill>
            </a:endParaRPr>
          </a:p>
        </p:txBody>
      </p:sp>
      <p:sp>
        <p:nvSpPr>
          <p:cNvPr id="10" name="Text 7">
            <a:extLst>
              <a:ext uri="{FF2B5EF4-FFF2-40B4-BE49-F238E27FC236}">
                <a16:creationId xmlns:a16="http://schemas.microsoft.com/office/drawing/2014/main" id="{3EB4CC1C-B862-5292-8F4F-799FE036AFE6}"/>
              </a:ext>
            </a:extLst>
          </p:cNvPr>
          <p:cNvSpPr/>
          <p:nvPr/>
        </p:nvSpPr>
        <p:spPr>
          <a:xfrm>
            <a:off x="743471" y="1874927"/>
            <a:ext cx="10675640" cy="40520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Three-layer strategy: Structured data (Snowflake), Unstructured knowledge (documentation), External intelligence (public data, reports)</a:t>
            </a:r>
            <a:endParaRPr lang="en-US" sz="1600"/>
          </a:p>
        </p:txBody>
      </p:sp>
      <p:sp>
        <p:nvSpPr>
          <p:cNvPr id="11" name="Text 8">
            <a:extLst>
              <a:ext uri="{FF2B5EF4-FFF2-40B4-BE49-F238E27FC236}">
                <a16:creationId xmlns:a16="http://schemas.microsoft.com/office/drawing/2014/main" id="{4CCC32B3-4050-7AD7-2392-BF7862BFC635}"/>
              </a:ext>
            </a:extLst>
          </p:cNvPr>
          <p:cNvSpPr/>
          <p:nvPr/>
        </p:nvSpPr>
        <p:spPr>
          <a:xfrm>
            <a:off x="743472" y="2551865"/>
            <a:ext cx="767139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ea typeface="Segoe UI" pitchFamily="34" charset="-122"/>
                <a:cs typeface="Segoe UI" pitchFamily="34" charset="-120"/>
              </a:rPr>
              <a:t>Technical Foundation &amp; Use Cases</a:t>
            </a:r>
            <a:endParaRPr lang="en-US" sz="1600">
              <a:solidFill>
                <a:schemeClr val="tx2"/>
              </a:solidFill>
            </a:endParaRPr>
          </a:p>
        </p:txBody>
      </p:sp>
      <p:sp>
        <p:nvSpPr>
          <p:cNvPr id="12" name="Text 9">
            <a:extLst>
              <a:ext uri="{FF2B5EF4-FFF2-40B4-BE49-F238E27FC236}">
                <a16:creationId xmlns:a16="http://schemas.microsoft.com/office/drawing/2014/main" id="{4E60E6D6-BE61-4351-EC94-5456869E96C5}"/>
              </a:ext>
            </a:extLst>
          </p:cNvPr>
          <p:cNvSpPr/>
          <p:nvPr/>
        </p:nvSpPr>
        <p:spPr>
          <a:xfrm>
            <a:off x="743471" y="2703883"/>
            <a:ext cx="10675640" cy="405209"/>
          </a:xfrm>
          <a:prstGeom prst="rect">
            <a:avLst/>
          </a:prstGeom>
          <a:noFill/>
          <a:ln/>
        </p:spPr>
        <p:txBody>
          <a:bodyPr wrap="square" lIns="0" tIns="0" rIns="0" bIns="0" rtlCol="0" anchor="t"/>
          <a:lstStyle/>
          <a:p>
            <a:pPr marL="0" indent="0">
              <a:lnSpc>
                <a:spcPts val="1596"/>
              </a:lnSpc>
              <a:buNone/>
            </a:pPr>
            <a:r>
              <a:rPr lang="en-US" sz="1600">
                <a:latin typeface="Segoe UI" pitchFamily="34" charset="0"/>
                <a:ea typeface="Segoe UI" pitchFamily="34" charset="-122"/>
                <a:cs typeface="Segoe UI" pitchFamily="34" charset="-120"/>
              </a:rPr>
              <a:t>Snowflake Cortex (Search, Analyst, Agent) enables natural language queries; complements BI dashboards for KPIs and detailed analysis</a:t>
            </a:r>
            <a:endParaRPr lang="en-US" sz="1600"/>
          </a:p>
        </p:txBody>
      </p:sp>
      <p:sp>
        <p:nvSpPr>
          <p:cNvPr id="14" name="Text 4">
            <a:extLst>
              <a:ext uri="{FF2B5EF4-FFF2-40B4-BE49-F238E27FC236}">
                <a16:creationId xmlns:a16="http://schemas.microsoft.com/office/drawing/2014/main" id="{AF034DBC-BB6E-74A2-D6F3-779B3D7D4E17}"/>
              </a:ext>
            </a:extLst>
          </p:cNvPr>
          <p:cNvSpPr/>
          <p:nvPr/>
        </p:nvSpPr>
        <p:spPr>
          <a:xfrm>
            <a:off x="743474" y="3429000"/>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User</a:t>
            </a:r>
            <a:r>
              <a:rPr lang="en-IN" sz="1600" b="1">
                <a:solidFill>
                  <a:schemeClr val="tx2"/>
                </a:solidFill>
              </a:rPr>
              <a:t> </a:t>
            </a:r>
            <a:r>
              <a:rPr lang="en-IN" sz="1600" b="1">
                <a:solidFill>
                  <a:schemeClr val="tx2"/>
                </a:solidFill>
                <a:latin typeface="Segoe UI" pitchFamily="34" charset="0"/>
                <a:cs typeface="Segoe UI" pitchFamily="34" charset="-120"/>
              </a:rPr>
              <a:t>Interface</a:t>
            </a:r>
            <a:r>
              <a:rPr lang="en-IN" sz="1600" b="1">
                <a:solidFill>
                  <a:schemeClr val="tx2"/>
                </a:solidFill>
              </a:rPr>
              <a:t> </a:t>
            </a:r>
            <a:r>
              <a:rPr lang="en-IN" sz="1600" b="1">
                <a:solidFill>
                  <a:schemeClr val="tx2"/>
                </a:solidFill>
                <a:latin typeface="Segoe UI" pitchFamily="34" charset="0"/>
                <a:cs typeface="Segoe UI" pitchFamily="34" charset="-120"/>
              </a:rPr>
              <a:t>Strategy</a:t>
            </a:r>
            <a:endParaRPr lang="en-US" sz="1600" b="1">
              <a:solidFill>
                <a:schemeClr val="tx2"/>
              </a:solidFill>
              <a:latin typeface="Segoe UI" pitchFamily="34" charset="0"/>
              <a:cs typeface="Segoe UI" pitchFamily="34" charset="-120"/>
            </a:endParaRPr>
          </a:p>
        </p:txBody>
      </p:sp>
      <p:sp>
        <p:nvSpPr>
          <p:cNvPr id="15" name="Text 5">
            <a:extLst>
              <a:ext uri="{FF2B5EF4-FFF2-40B4-BE49-F238E27FC236}">
                <a16:creationId xmlns:a16="http://schemas.microsoft.com/office/drawing/2014/main" id="{873C20AE-0B36-EF64-D751-41347045C0FF}"/>
              </a:ext>
            </a:extLst>
          </p:cNvPr>
          <p:cNvSpPr/>
          <p:nvPr/>
        </p:nvSpPr>
        <p:spPr>
          <a:xfrm>
            <a:off x="743472" y="3618323"/>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Extends traditional Customer 360 dashboard (Tableau with multiple daily refreshes) by enabling conversational queries directly within existing sales workflows​</a:t>
            </a:r>
          </a:p>
        </p:txBody>
      </p:sp>
      <p:sp>
        <p:nvSpPr>
          <p:cNvPr id="16" name="Text 4">
            <a:extLst>
              <a:ext uri="{FF2B5EF4-FFF2-40B4-BE49-F238E27FC236}">
                <a16:creationId xmlns:a16="http://schemas.microsoft.com/office/drawing/2014/main" id="{A6D4EDF1-3799-FBB6-E02D-A1ED13C95E33}"/>
              </a:ext>
            </a:extLst>
          </p:cNvPr>
          <p:cNvSpPr/>
          <p:nvPr/>
        </p:nvSpPr>
        <p:spPr>
          <a:xfrm>
            <a:off x="743472" y="4243984"/>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 Cases &amp; Value Proposition</a:t>
            </a:r>
            <a:endParaRPr lang="en-US" sz="1600" b="1">
              <a:solidFill>
                <a:schemeClr val="tx2"/>
              </a:solidFill>
              <a:latin typeface="Segoe UI" pitchFamily="34" charset="0"/>
              <a:cs typeface="Segoe UI" pitchFamily="34" charset="-120"/>
            </a:endParaRPr>
          </a:p>
        </p:txBody>
      </p:sp>
      <p:sp>
        <p:nvSpPr>
          <p:cNvPr id="17" name="Text 5">
            <a:extLst>
              <a:ext uri="{FF2B5EF4-FFF2-40B4-BE49-F238E27FC236}">
                <a16:creationId xmlns:a16="http://schemas.microsoft.com/office/drawing/2014/main" id="{B6C1E2D8-CF21-067C-C8C7-5FEE28C09242}"/>
              </a:ext>
            </a:extLst>
          </p:cNvPr>
          <p:cNvSpPr/>
          <p:nvPr/>
        </p:nvSpPr>
        <p:spPr>
          <a:xfrm>
            <a:off x="743472" y="4391516"/>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Enables natural language queries like "Tell me about product XYZ" or "Who are the top customers in Country for 2025?" while complementing BI dashboards—dashboards provide KPIs, copilot handles detailed questions and complex filtering​</a:t>
            </a:r>
          </a:p>
        </p:txBody>
      </p:sp>
      <p:sp>
        <p:nvSpPr>
          <p:cNvPr id="22" name="Text 4">
            <a:extLst>
              <a:ext uri="{FF2B5EF4-FFF2-40B4-BE49-F238E27FC236}">
                <a16:creationId xmlns:a16="http://schemas.microsoft.com/office/drawing/2014/main" id="{7FCC7E34-8044-8D32-2C05-BAD56E1C7BA4}"/>
              </a:ext>
            </a:extLst>
          </p:cNvPr>
          <p:cNvSpPr/>
          <p:nvPr/>
        </p:nvSpPr>
        <p:spPr>
          <a:xfrm>
            <a:off x="743472" y="5202600"/>
            <a:ext cx="7671399" cy="182860"/>
          </a:xfrm>
          <a:prstGeom prst="rect">
            <a:avLst/>
          </a:prstGeom>
          <a:noFill/>
          <a:ln/>
        </p:spPr>
        <p:txBody>
          <a:bodyPr wrap="square" lIns="0" tIns="0" rIns="0" bIns="0" rtlCol="0" anchor="t"/>
          <a:lstStyle/>
          <a:p>
            <a:pPr>
              <a:lnSpc>
                <a:spcPts val="1440"/>
              </a:lnSpc>
            </a:pPr>
            <a:r>
              <a:rPr lang="en-IN" sz="1600" b="1">
                <a:solidFill>
                  <a:schemeClr val="tx2"/>
                </a:solidFill>
                <a:latin typeface="Segoe UI" pitchFamily="34" charset="0"/>
                <a:cs typeface="Segoe UI" pitchFamily="34" charset="-120"/>
              </a:rPr>
              <a:t>User</a:t>
            </a:r>
            <a:r>
              <a:rPr lang="en-IN" sz="1600" b="1"/>
              <a:t> </a:t>
            </a:r>
            <a:r>
              <a:rPr lang="en-IN" sz="1600" b="1">
                <a:solidFill>
                  <a:schemeClr val="tx2"/>
                </a:solidFill>
                <a:latin typeface="Segoe UI" pitchFamily="34" charset="0"/>
                <a:cs typeface="Segoe UI" pitchFamily="34" charset="-120"/>
              </a:rPr>
              <a:t>Experience</a:t>
            </a:r>
            <a:r>
              <a:rPr lang="en-IN" sz="1600" b="1"/>
              <a:t> </a:t>
            </a:r>
            <a:r>
              <a:rPr lang="en-IN" sz="1600" b="1">
                <a:solidFill>
                  <a:schemeClr val="tx2"/>
                </a:solidFill>
                <a:latin typeface="Segoe UI" pitchFamily="34" charset="0"/>
                <a:cs typeface="Segoe UI" pitchFamily="34" charset="-120"/>
              </a:rPr>
              <a:t>Considerations</a:t>
            </a:r>
            <a:endParaRPr lang="en-US" sz="1600" b="1">
              <a:solidFill>
                <a:schemeClr val="tx2"/>
              </a:solidFill>
              <a:latin typeface="Segoe UI" pitchFamily="34" charset="0"/>
              <a:cs typeface="Segoe UI" pitchFamily="34" charset="-120"/>
            </a:endParaRPr>
          </a:p>
        </p:txBody>
      </p:sp>
      <p:sp>
        <p:nvSpPr>
          <p:cNvPr id="23" name="Text 5">
            <a:extLst>
              <a:ext uri="{FF2B5EF4-FFF2-40B4-BE49-F238E27FC236}">
                <a16:creationId xmlns:a16="http://schemas.microsoft.com/office/drawing/2014/main" id="{972EEE96-3C61-F1E3-2D6E-6512D56277FD}"/>
              </a:ext>
            </a:extLst>
          </p:cNvPr>
          <p:cNvSpPr/>
          <p:nvPr/>
        </p:nvSpPr>
        <p:spPr>
          <a:xfrm>
            <a:off x="743472" y="5385460"/>
            <a:ext cx="10675639" cy="282137"/>
          </a:xfrm>
          <a:prstGeom prst="rect">
            <a:avLst/>
          </a:prstGeom>
          <a:noFill/>
          <a:ln/>
        </p:spPr>
        <p:txBody>
          <a:bodyPr wrap="square" lIns="0" tIns="0" rIns="0" bIns="0" rtlCol="0" anchor="t"/>
          <a:lstStyle/>
          <a:p>
            <a:pPr>
              <a:lnSpc>
                <a:spcPts val="1596"/>
              </a:lnSpc>
            </a:pPr>
            <a:r>
              <a:rPr lang="en-US" sz="1600">
                <a:latin typeface="Segoe UI" pitchFamily="34" charset="0"/>
                <a:cs typeface="Segoe UI" pitchFamily="34" charset="-120"/>
              </a:rPr>
              <a:t>Implements role-based security for authorized data access, integrates with existing tech stacks (Power BI, Tableau) without requiring new technology, and offers flexible UI options via Stream lit or direct platform embedding​</a:t>
            </a:r>
          </a:p>
        </p:txBody>
      </p:sp>
    </p:spTree>
    <p:extLst>
      <p:ext uri="{BB962C8B-B14F-4D97-AF65-F5344CB8AC3E}">
        <p14:creationId xmlns:p14="http://schemas.microsoft.com/office/powerpoint/2010/main" val="42242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7061-0E0B-D20D-89E0-83C40C258E07}"/>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60759CF6-649A-9B3A-4E82-B2A0216F7DFF}"/>
              </a:ext>
            </a:extLst>
          </p:cNvPr>
          <p:cNvSpPr/>
          <p:nvPr/>
        </p:nvSpPr>
        <p:spPr>
          <a:xfrm>
            <a:off x="2950029" y="128183"/>
            <a:ext cx="6063343" cy="558701"/>
          </a:xfrm>
          <a:prstGeom prst="rect">
            <a:avLst/>
          </a:prstGeom>
          <a:noFill/>
          <a:ln/>
        </p:spPr>
        <p:txBody>
          <a:bodyPr wrap="square" lIns="0" tIns="0" rIns="0" bIns="0" rtlCol="0" anchor="t"/>
          <a:lstStyle/>
          <a:p>
            <a:pPr>
              <a:lnSpc>
                <a:spcPts val="3240"/>
              </a:lnSpc>
            </a:pPr>
            <a:r>
              <a:rPr lang="en-US" sz="3200" b="1">
                <a:solidFill>
                  <a:schemeClr val="accent1"/>
                </a:solidFill>
                <a:latin typeface="Segoe UI" pitchFamily="34" charset="0"/>
                <a:cs typeface="Segoe UI" pitchFamily="34" charset="-120"/>
              </a:rPr>
              <a:t>Next Steps &amp; Discussion Points</a:t>
            </a:r>
          </a:p>
        </p:txBody>
      </p:sp>
      <p:sp>
        <p:nvSpPr>
          <p:cNvPr id="42" name="Text 6">
            <a:extLst>
              <a:ext uri="{FF2B5EF4-FFF2-40B4-BE49-F238E27FC236}">
                <a16:creationId xmlns:a16="http://schemas.microsoft.com/office/drawing/2014/main" id="{B72D1177-45E4-9447-D8A6-1AEF4F7667B1}"/>
              </a:ext>
            </a:extLst>
          </p:cNvPr>
          <p:cNvSpPr/>
          <p:nvPr/>
        </p:nvSpPr>
        <p:spPr>
          <a:xfrm>
            <a:off x="1709864" y="1364145"/>
            <a:ext cx="1741051" cy="27424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POC</a:t>
            </a:r>
            <a:r>
              <a:rPr lang="en-US" sz="1600" b="1">
                <a:latin typeface="Segoe UI" panose="020B0502040204020203" pitchFamily="34" charset="0"/>
                <a:ea typeface="Segoe UI" pitchFamily="34" charset="-122"/>
                <a:cs typeface="Segoe UI" panose="020B0502040204020203" pitchFamily="34" charset="0"/>
              </a:rPr>
              <a:t> </a:t>
            </a:r>
            <a:r>
              <a:rPr lang="en-US" sz="1600" b="1">
                <a:solidFill>
                  <a:schemeClr val="tx2"/>
                </a:solidFill>
                <a:latin typeface="Segoe UI" pitchFamily="34" charset="0"/>
                <a:cs typeface="Segoe UI" pitchFamily="34" charset="-120"/>
              </a:rPr>
              <a:t>&amp; Technical</a:t>
            </a:r>
          </a:p>
        </p:txBody>
      </p:sp>
      <p:sp>
        <p:nvSpPr>
          <p:cNvPr id="43" name="Text 7">
            <a:extLst>
              <a:ext uri="{FF2B5EF4-FFF2-40B4-BE49-F238E27FC236}">
                <a16:creationId xmlns:a16="http://schemas.microsoft.com/office/drawing/2014/main" id="{7BBF8AAA-7EE3-6BA4-736E-81B5086FA1D7}"/>
              </a:ext>
            </a:extLst>
          </p:cNvPr>
          <p:cNvSpPr/>
          <p:nvPr/>
        </p:nvSpPr>
        <p:spPr>
          <a:xfrm>
            <a:off x="1740425" y="1638385"/>
            <a:ext cx="3397632"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Define POC timeline &amp; use cases</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Agent orchestration logic</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Performance benchmarks</a:t>
            </a:r>
            <a:endParaRPr lang="en-US" sz="1600">
              <a:latin typeface="Segoe UI" panose="020B0502040204020203" pitchFamily="34" charset="0"/>
              <a:cs typeface="Segoe UI" panose="020B0502040204020203" pitchFamily="34" charset="0"/>
            </a:endParaRPr>
          </a:p>
        </p:txBody>
      </p:sp>
      <p:sp>
        <p:nvSpPr>
          <p:cNvPr id="44" name="Text 8">
            <a:extLst>
              <a:ext uri="{FF2B5EF4-FFF2-40B4-BE49-F238E27FC236}">
                <a16:creationId xmlns:a16="http://schemas.microsoft.com/office/drawing/2014/main" id="{B73A697B-E2DA-DAE5-E776-BF91FE96E949}"/>
              </a:ext>
            </a:extLst>
          </p:cNvPr>
          <p:cNvSpPr/>
          <p:nvPr/>
        </p:nvSpPr>
        <p:spPr>
          <a:xfrm>
            <a:off x="5748465" y="1364144"/>
            <a:ext cx="2835066" cy="215517"/>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Implementation &amp; Adoption</a:t>
            </a:r>
          </a:p>
        </p:txBody>
      </p:sp>
      <p:sp>
        <p:nvSpPr>
          <p:cNvPr id="48" name="Text 9">
            <a:extLst>
              <a:ext uri="{FF2B5EF4-FFF2-40B4-BE49-F238E27FC236}">
                <a16:creationId xmlns:a16="http://schemas.microsoft.com/office/drawing/2014/main" id="{41DD5EB7-640B-FD6A-5455-A4DC748DF28E}"/>
              </a:ext>
            </a:extLst>
          </p:cNvPr>
          <p:cNvSpPr/>
          <p:nvPr/>
        </p:nvSpPr>
        <p:spPr>
          <a:xfrm>
            <a:off x="5779024" y="1638385"/>
            <a:ext cx="4181405"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Integration points &amp; licensing</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Specific team custom training approach</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Success metrics definition</a:t>
            </a:r>
            <a:endParaRPr lang="en-US" sz="1600">
              <a:latin typeface="Segoe UI" panose="020B0502040204020203" pitchFamily="34" charset="0"/>
              <a:cs typeface="Segoe UI" panose="020B0502040204020203" pitchFamily="34" charset="0"/>
            </a:endParaRPr>
          </a:p>
        </p:txBody>
      </p:sp>
      <p:sp>
        <p:nvSpPr>
          <p:cNvPr id="49" name="Text 10">
            <a:extLst>
              <a:ext uri="{FF2B5EF4-FFF2-40B4-BE49-F238E27FC236}">
                <a16:creationId xmlns:a16="http://schemas.microsoft.com/office/drawing/2014/main" id="{09F52D19-4A28-702F-1CBF-E3FBE5C2B1BA}"/>
              </a:ext>
            </a:extLst>
          </p:cNvPr>
          <p:cNvSpPr/>
          <p:nvPr/>
        </p:nvSpPr>
        <p:spPr>
          <a:xfrm>
            <a:off x="1709864" y="3043224"/>
            <a:ext cx="2426707" cy="213072"/>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Technical Architecture</a:t>
            </a:r>
          </a:p>
        </p:txBody>
      </p:sp>
      <p:sp>
        <p:nvSpPr>
          <p:cNvPr id="55" name="Text 11">
            <a:extLst>
              <a:ext uri="{FF2B5EF4-FFF2-40B4-BE49-F238E27FC236}">
                <a16:creationId xmlns:a16="http://schemas.microsoft.com/office/drawing/2014/main" id="{8EB5C2F6-25EF-AE2C-0835-ABCAC23A1873}"/>
              </a:ext>
            </a:extLst>
          </p:cNvPr>
          <p:cNvSpPr/>
          <p:nvPr/>
        </p:nvSpPr>
        <p:spPr>
          <a:xfrm>
            <a:off x="1740425" y="3437882"/>
            <a:ext cx="3560917"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Agent orchestration review</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Response times &amp; accuracy</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Snowflake refresh cycles</a:t>
            </a:r>
            <a:endParaRPr lang="en-US" sz="1600">
              <a:latin typeface="Segoe UI" panose="020B0502040204020203" pitchFamily="34" charset="0"/>
              <a:cs typeface="Segoe UI" panose="020B0502040204020203" pitchFamily="34" charset="0"/>
            </a:endParaRPr>
          </a:p>
        </p:txBody>
      </p:sp>
      <p:sp>
        <p:nvSpPr>
          <p:cNvPr id="56" name="Text 12">
            <a:extLst>
              <a:ext uri="{FF2B5EF4-FFF2-40B4-BE49-F238E27FC236}">
                <a16:creationId xmlns:a16="http://schemas.microsoft.com/office/drawing/2014/main" id="{EFA35EC8-B621-FB6C-5AEA-9D8DD0AB95B9}"/>
              </a:ext>
            </a:extLst>
          </p:cNvPr>
          <p:cNvSpPr/>
          <p:nvPr/>
        </p:nvSpPr>
        <p:spPr>
          <a:xfrm>
            <a:off x="5946504" y="3079693"/>
            <a:ext cx="2201659" cy="182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Change Management</a:t>
            </a:r>
          </a:p>
        </p:txBody>
      </p:sp>
      <p:sp>
        <p:nvSpPr>
          <p:cNvPr id="57" name="Text 13">
            <a:extLst>
              <a:ext uri="{FF2B5EF4-FFF2-40B4-BE49-F238E27FC236}">
                <a16:creationId xmlns:a16="http://schemas.microsoft.com/office/drawing/2014/main" id="{39FC502B-22D1-079C-D7F4-2958B8FA8DC4}"/>
              </a:ext>
            </a:extLst>
          </p:cNvPr>
          <p:cNvSpPr/>
          <p:nvPr/>
        </p:nvSpPr>
        <p:spPr>
          <a:xfrm>
            <a:off x="5977065" y="3353933"/>
            <a:ext cx="3713316"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Training approaches &amp; enablement</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Adoption &amp; accuracy metrics</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Best practices review</a:t>
            </a:r>
            <a:endParaRPr lang="en-US" sz="1600">
              <a:latin typeface="Segoe UI" panose="020B0502040204020203" pitchFamily="34" charset="0"/>
              <a:cs typeface="Segoe UI" panose="020B0502040204020203" pitchFamily="34" charset="0"/>
            </a:endParaRPr>
          </a:p>
        </p:txBody>
      </p:sp>
      <p:sp>
        <p:nvSpPr>
          <p:cNvPr id="59" name="Text 14">
            <a:extLst>
              <a:ext uri="{FF2B5EF4-FFF2-40B4-BE49-F238E27FC236}">
                <a16:creationId xmlns:a16="http://schemas.microsoft.com/office/drawing/2014/main" id="{2307D0C4-09CD-0FDA-D257-ECCB4D13FDAE}"/>
              </a:ext>
            </a:extLst>
          </p:cNvPr>
          <p:cNvSpPr/>
          <p:nvPr/>
        </p:nvSpPr>
        <p:spPr>
          <a:xfrm>
            <a:off x="1709865" y="4722303"/>
            <a:ext cx="2220050" cy="220860"/>
          </a:xfrm>
          <a:prstGeom prst="rect">
            <a:avLst/>
          </a:prstGeom>
          <a:noFill/>
          <a:ln/>
        </p:spPr>
        <p:txBody>
          <a:bodyPr wrap="square" lIns="0" tIns="0" rIns="0" bIns="0" rtlCol="0" anchor="t"/>
          <a:lstStyle/>
          <a:p>
            <a:pPr marL="0" indent="0">
              <a:lnSpc>
                <a:spcPts val="1440"/>
              </a:lnSpc>
              <a:buNone/>
            </a:pPr>
            <a:r>
              <a:rPr lang="en-US" sz="1600" b="1">
                <a:solidFill>
                  <a:schemeClr val="tx2"/>
                </a:solidFill>
                <a:latin typeface="Segoe UI" pitchFamily="34" charset="0"/>
                <a:cs typeface="Segoe UI" pitchFamily="34" charset="-120"/>
              </a:rPr>
              <a:t>Security &amp; Compliance</a:t>
            </a:r>
          </a:p>
        </p:txBody>
      </p:sp>
      <p:sp>
        <p:nvSpPr>
          <p:cNvPr id="60" name="Text 15">
            <a:extLst>
              <a:ext uri="{FF2B5EF4-FFF2-40B4-BE49-F238E27FC236}">
                <a16:creationId xmlns:a16="http://schemas.microsoft.com/office/drawing/2014/main" id="{B233E870-D593-E77C-1E01-53BA51248FCF}"/>
              </a:ext>
            </a:extLst>
          </p:cNvPr>
          <p:cNvSpPr/>
          <p:nvPr/>
        </p:nvSpPr>
        <p:spPr>
          <a:xfrm>
            <a:off x="1740425" y="4996543"/>
            <a:ext cx="7623028" cy="886718"/>
          </a:xfrm>
          <a:prstGeom prst="rect">
            <a:avLst/>
          </a:prstGeom>
          <a:noFill/>
          <a:ln/>
        </p:spPr>
        <p:txBody>
          <a:bodyPr wrap="square" lIns="0" tIns="0" rIns="0" bIns="0" rtlCol="0" anchor="t"/>
          <a:lstStyle/>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Sensitive data handling &amp; competitive intelligence protection</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Audit trail capabilities &amp; GDPR compliance</a:t>
            </a:r>
            <a:endParaRPr lang="en-US" sz="1600">
              <a:latin typeface="Segoe UI" panose="020B0502040204020203" pitchFamily="34" charset="0"/>
              <a:cs typeface="Segoe UI" panose="020B0502040204020203" pitchFamily="34" charset="0"/>
            </a:endParaRPr>
          </a:p>
          <a:p>
            <a:pPr marL="342900" indent="-342900">
              <a:lnSpc>
                <a:spcPts val="1728"/>
              </a:lnSpc>
              <a:buSzPct val="100000"/>
              <a:buChar char="•"/>
            </a:pPr>
            <a:r>
              <a:rPr lang="en-US" sz="1600">
                <a:latin typeface="Segoe UI" panose="020B0502040204020203" pitchFamily="34" charset="0"/>
                <a:ea typeface="Segoe UI" pitchFamily="34" charset="-122"/>
                <a:cs typeface="Segoe UI" panose="020B0502040204020203" pitchFamily="34" charset="0"/>
              </a:rPr>
              <a:t>Data residency &amp; security requirements</a:t>
            </a:r>
            <a:endParaRPr lang="en-US" sz="16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08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B16E9-3932-3377-FB2B-08380DC318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86588D-CF9B-F791-CA08-E3CE915CFC89}"/>
              </a:ext>
            </a:extLst>
          </p:cNvPr>
          <p:cNvSpPr txBox="1"/>
          <p:nvPr/>
        </p:nvSpPr>
        <p:spPr>
          <a:xfrm>
            <a:off x="4932589" y="194196"/>
            <a:ext cx="7486649" cy="505203"/>
          </a:xfrm>
          <a:prstGeom prst="rect">
            <a:avLst/>
          </a:prstGeom>
          <a:noFill/>
        </p:spPr>
        <p:txBody>
          <a:bodyPr wrap="square">
            <a:spAutoFit/>
          </a:bodyPr>
          <a:lstStyle/>
          <a:p>
            <a:pPr marL="0" indent="0">
              <a:lnSpc>
                <a:spcPts val="3240"/>
              </a:lnSpc>
              <a:buNone/>
            </a:pPr>
            <a:r>
              <a:rPr lang="en-US" sz="3200" b="1" dirty="0">
                <a:solidFill>
                  <a:schemeClr val="accent1"/>
                </a:solidFill>
                <a:latin typeface="Segoe UI" pitchFamily="34" charset="0"/>
                <a:cs typeface="Segoe UI" pitchFamily="34" charset="-120"/>
              </a:rPr>
              <a:t>Agnostic</a:t>
            </a:r>
            <a:r>
              <a:rPr lang="en-US" sz="3200" b="1" dirty="0">
                <a:solidFill>
                  <a:srgbClr val="00A8FF"/>
                </a:solidFill>
                <a:latin typeface="Segoe UI" pitchFamily="34" charset="0"/>
                <a:ea typeface="Segoe UI" pitchFamily="34" charset="-122"/>
                <a:cs typeface="Segoe UI" pitchFamily="34" charset="-120"/>
              </a:rPr>
              <a:t> </a:t>
            </a:r>
            <a:r>
              <a:rPr lang="en-US" sz="3200" b="1" dirty="0">
                <a:solidFill>
                  <a:schemeClr val="accent1"/>
                </a:solidFill>
                <a:latin typeface="Segoe UI" pitchFamily="34" charset="0"/>
                <a:cs typeface="Segoe UI" pitchFamily="34" charset="-120"/>
              </a:rPr>
              <a:t>Architectural Flow Diagram</a:t>
            </a:r>
          </a:p>
        </p:txBody>
      </p:sp>
      <p:sp>
        <p:nvSpPr>
          <p:cNvPr id="2" name="Freeform 2">
            <a:extLst>
              <a:ext uri="{FF2B5EF4-FFF2-40B4-BE49-F238E27FC236}">
                <a16:creationId xmlns:a16="http://schemas.microsoft.com/office/drawing/2014/main" id="{B140F413-5372-88AC-06C0-2E261F948BF0}"/>
              </a:ext>
            </a:extLst>
          </p:cNvPr>
          <p:cNvSpPr/>
          <p:nvPr/>
        </p:nvSpPr>
        <p:spPr>
          <a:xfrm>
            <a:off x="955255" y="424837"/>
            <a:ext cx="624901" cy="478049"/>
          </a:xfrm>
          <a:custGeom>
            <a:avLst/>
            <a:gdLst/>
            <a:ahLst/>
            <a:cxnLst/>
            <a:rect l="l" t="t" r="r" b="b"/>
            <a:pathLst>
              <a:path w="1582578" h="1210672">
                <a:moveTo>
                  <a:pt x="0" y="0"/>
                </a:moveTo>
                <a:lnTo>
                  <a:pt x="1582578" y="0"/>
                </a:lnTo>
                <a:lnTo>
                  <a:pt x="1582578" y="1210672"/>
                </a:lnTo>
                <a:lnTo>
                  <a:pt x="0" y="1210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200"/>
          </a:p>
        </p:txBody>
      </p:sp>
      <p:grpSp>
        <p:nvGrpSpPr>
          <p:cNvPr id="3" name="Group 2">
            <a:extLst>
              <a:ext uri="{FF2B5EF4-FFF2-40B4-BE49-F238E27FC236}">
                <a16:creationId xmlns:a16="http://schemas.microsoft.com/office/drawing/2014/main" id="{B9427235-E25E-7FF1-7407-954DA0366DF9}"/>
              </a:ext>
            </a:extLst>
          </p:cNvPr>
          <p:cNvGrpSpPr/>
          <p:nvPr/>
        </p:nvGrpSpPr>
        <p:grpSpPr>
          <a:xfrm>
            <a:off x="309790" y="1505403"/>
            <a:ext cx="2178050" cy="2132236"/>
            <a:chOff x="1066800" y="2247900"/>
            <a:chExt cx="2667000" cy="2483979"/>
          </a:xfrm>
        </p:grpSpPr>
        <p:sp>
          <p:nvSpPr>
            <p:cNvPr id="4" name="Rectangle: Rounded Corners 3">
              <a:extLst>
                <a:ext uri="{FF2B5EF4-FFF2-40B4-BE49-F238E27FC236}">
                  <a16:creationId xmlns:a16="http://schemas.microsoft.com/office/drawing/2014/main" id="{057D4B88-FEC4-8AA9-6730-447D2FF7ECA0}"/>
                </a:ext>
              </a:extLst>
            </p:cNvPr>
            <p:cNvSpPr/>
            <p:nvPr/>
          </p:nvSpPr>
          <p:spPr>
            <a:xfrm>
              <a:off x="10668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5" name="Straight Connector 4">
              <a:extLst>
                <a:ext uri="{FF2B5EF4-FFF2-40B4-BE49-F238E27FC236}">
                  <a16:creationId xmlns:a16="http://schemas.microsoft.com/office/drawing/2014/main" id="{0CEEDDC3-F468-CD0A-FDB7-A3F1EBC698E6}"/>
                </a:ext>
              </a:extLst>
            </p:cNvPr>
            <p:cNvCxnSpPr/>
            <p:nvPr/>
          </p:nvCxnSpPr>
          <p:spPr>
            <a:xfrm>
              <a:off x="10668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0115BB01-5340-EDD8-F756-4465AF1B4122}"/>
              </a:ext>
            </a:extLst>
          </p:cNvPr>
          <p:cNvSpPr txBox="1"/>
          <p:nvPr/>
        </p:nvSpPr>
        <p:spPr>
          <a:xfrm>
            <a:off x="509814" y="1561232"/>
            <a:ext cx="1778000" cy="301557"/>
          </a:xfrm>
          <a:prstGeom prst="rect">
            <a:avLst/>
          </a:prstGeom>
          <a:noFill/>
        </p:spPr>
        <p:txBody>
          <a:bodyPr wrap="square">
            <a:spAutoFit/>
          </a:bodyPr>
          <a:lstStyle/>
          <a:p>
            <a:pPr algn="ctr">
              <a:lnSpc>
                <a:spcPts val="1760"/>
              </a:lnSpc>
              <a:spcBef>
                <a:spcPct val="0"/>
              </a:spcBef>
            </a:pPr>
            <a:r>
              <a:rPr lang="en-US" sz="1067" b="1">
                <a:solidFill>
                  <a:srgbClr val="000000"/>
                </a:solidFill>
                <a:latin typeface="Canva Sans Bold"/>
                <a:ea typeface="Canva Sans Bold"/>
                <a:cs typeface="Canva Sans Bold"/>
                <a:sym typeface="Canva Sans Bold"/>
              </a:rPr>
              <a:t> Embedded Dashboard</a:t>
            </a:r>
          </a:p>
        </p:txBody>
      </p:sp>
      <p:sp>
        <p:nvSpPr>
          <p:cNvPr id="8" name="Freeform 5">
            <a:extLst>
              <a:ext uri="{FF2B5EF4-FFF2-40B4-BE49-F238E27FC236}">
                <a16:creationId xmlns:a16="http://schemas.microsoft.com/office/drawing/2014/main" id="{A612970F-3B81-B4AC-4065-72F53C69C421}"/>
              </a:ext>
            </a:extLst>
          </p:cNvPr>
          <p:cNvSpPr/>
          <p:nvPr/>
        </p:nvSpPr>
        <p:spPr>
          <a:xfrm>
            <a:off x="431725" y="1959592"/>
            <a:ext cx="663091" cy="387931"/>
          </a:xfrm>
          <a:custGeom>
            <a:avLst/>
            <a:gdLst/>
            <a:ahLst/>
            <a:cxnLst/>
            <a:rect l="l" t="t" r="r" b="b"/>
            <a:pathLst>
              <a:path w="994637" h="581897">
                <a:moveTo>
                  <a:pt x="0" y="0"/>
                </a:moveTo>
                <a:lnTo>
                  <a:pt x="994637" y="0"/>
                </a:lnTo>
                <a:lnTo>
                  <a:pt x="994637" y="581897"/>
                </a:lnTo>
                <a:lnTo>
                  <a:pt x="0" y="581897"/>
                </a:lnTo>
                <a:lnTo>
                  <a:pt x="0" y="0"/>
                </a:lnTo>
                <a:close/>
              </a:path>
            </a:pathLst>
          </a:custGeom>
          <a:blipFill>
            <a:blip r:embed="rId4"/>
            <a:stretch>
              <a:fillRect/>
            </a:stretch>
          </a:blipFill>
        </p:spPr>
        <p:txBody>
          <a:bodyPr/>
          <a:lstStyle/>
          <a:p>
            <a:endParaRPr lang="en-IN" sz="1200"/>
          </a:p>
        </p:txBody>
      </p:sp>
      <p:sp>
        <p:nvSpPr>
          <p:cNvPr id="9" name="Freeform 6">
            <a:extLst>
              <a:ext uri="{FF2B5EF4-FFF2-40B4-BE49-F238E27FC236}">
                <a16:creationId xmlns:a16="http://schemas.microsoft.com/office/drawing/2014/main" id="{F7C65276-D221-3652-B849-81AA1607BC20}"/>
              </a:ext>
            </a:extLst>
          </p:cNvPr>
          <p:cNvSpPr/>
          <p:nvPr/>
        </p:nvSpPr>
        <p:spPr>
          <a:xfrm>
            <a:off x="580301" y="2616175"/>
            <a:ext cx="270688" cy="276785"/>
          </a:xfrm>
          <a:custGeom>
            <a:avLst/>
            <a:gdLst/>
            <a:ahLst/>
            <a:cxnLst/>
            <a:rect l="l" t="t" r="r" b="b"/>
            <a:pathLst>
              <a:path w="406032" h="415177">
                <a:moveTo>
                  <a:pt x="0" y="0"/>
                </a:moveTo>
                <a:lnTo>
                  <a:pt x="406032" y="0"/>
                </a:lnTo>
                <a:lnTo>
                  <a:pt x="406032" y="415176"/>
                </a:lnTo>
                <a:lnTo>
                  <a:pt x="0" y="415176"/>
                </a:lnTo>
                <a:lnTo>
                  <a:pt x="0" y="0"/>
                </a:lnTo>
                <a:close/>
              </a:path>
            </a:pathLst>
          </a:custGeom>
          <a:blipFill>
            <a:blip r:embed="rId5"/>
            <a:stretch>
              <a:fillRect/>
            </a:stretch>
          </a:blipFill>
        </p:spPr>
        <p:txBody>
          <a:bodyPr/>
          <a:lstStyle/>
          <a:p>
            <a:endParaRPr lang="en-IN" sz="1200"/>
          </a:p>
        </p:txBody>
      </p:sp>
      <p:sp>
        <p:nvSpPr>
          <p:cNvPr id="10" name="Freeform 7">
            <a:extLst>
              <a:ext uri="{FF2B5EF4-FFF2-40B4-BE49-F238E27FC236}">
                <a16:creationId xmlns:a16="http://schemas.microsoft.com/office/drawing/2014/main" id="{54A292E6-36BF-C805-92E1-6FE551BEF48E}"/>
              </a:ext>
            </a:extLst>
          </p:cNvPr>
          <p:cNvSpPr/>
          <p:nvPr/>
        </p:nvSpPr>
        <p:spPr>
          <a:xfrm>
            <a:off x="429209" y="3078890"/>
            <a:ext cx="572871" cy="301219"/>
          </a:xfrm>
          <a:custGeom>
            <a:avLst/>
            <a:gdLst/>
            <a:ahLst/>
            <a:cxnLst/>
            <a:rect l="l" t="t" r="r" b="b"/>
            <a:pathLst>
              <a:path w="859306" h="451828">
                <a:moveTo>
                  <a:pt x="0" y="0"/>
                </a:moveTo>
                <a:lnTo>
                  <a:pt x="859305" y="0"/>
                </a:lnTo>
                <a:lnTo>
                  <a:pt x="859305" y="451829"/>
                </a:lnTo>
                <a:lnTo>
                  <a:pt x="0" y="451829"/>
                </a:lnTo>
                <a:lnTo>
                  <a:pt x="0" y="0"/>
                </a:lnTo>
                <a:close/>
              </a:path>
            </a:pathLst>
          </a:custGeom>
          <a:blipFill>
            <a:blip r:embed="rId6"/>
            <a:stretch>
              <a:fillRect/>
            </a:stretch>
          </a:blipFill>
        </p:spPr>
        <p:txBody>
          <a:bodyPr/>
          <a:lstStyle/>
          <a:p>
            <a:endParaRPr lang="en-IN" sz="1200"/>
          </a:p>
        </p:txBody>
      </p:sp>
      <p:sp>
        <p:nvSpPr>
          <p:cNvPr id="11" name="Freeform 8">
            <a:extLst>
              <a:ext uri="{FF2B5EF4-FFF2-40B4-BE49-F238E27FC236}">
                <a16:creationId xmlns:a16="http://schemas.microsoft.com/office/drawing/2014/main" id="{E1EB668B-C18B-AFDD-57DE-43B5ACFE2022}"/>
              </a:ext>
            </a:extLst>
          </p:cNvPr>
          <p:cNvSpPr/>
          <p:nvPr/>
        </p:nvSpPr>
        <p:spPr>
          <a:xfrm>
            <a:off x="1510780" y="2161760"/>
            <a:ext cx="551508" cy="308845"/>
          </a:xfrm>
          <a:custGeom>
            <a:avLst/>
            <a:gdLst/>
            <a:ahLst/>
            <a:cxnLst/>
            <a:rect l="l" t="t" r="r" b="b"/>
            <a:pathLst>
              <a:path w="827262" h="463267">
                <a:moveTo>
                  <a:pt x="0" y="0"/>
                </a:moveTo>
                <a:lnTo>
                  <a:pt x="827262" y="0"/>
                </a:lnTo>
                <a:lnTo>
                  <a:pt x="827262" y="463267"/>
                </a:lnTo>
                <a:lnTo>
                  <a:pt x="0" y="463267"/>
                </a:lnTo>
                <a:lnTo>
                  <a:pt x="0" y="0"/>
                </a:lnTo>
                <a:close/>
              </a:path>
            </a:pathLst>
          </a:custGeom>
          <a:blipFill>
            <a:blip r:embed="rId7"/>
            <a:stretch>
              <a:fillRect/>
            </a:stretch>
          </a:blipFill>
        </p:spPr>
        <p:txBody>
          <a:bodyPr/>
          <a:lstStyle/>
          <a:p>
            <a:endParaRPr lang="en-IN" sz="1200"/>
          </a:p>
        </p:txBody>
      </p:sp>
      <p:sp>
        <p:nvSpPr>
          <p:cNvPr id="12" name="Freeform 9">
            <a:extLst>
              <a:ext uri="{FF2B5EF4-FFF2-40B4-BE49-F238E27FC236}">
                <a16:creationId xmlns:a16="http://schemas.microsoft.com/office/drawing/2014/main" id="{BCD875AE-73F2-AD7E-5223-1AD359764D2E}"/>
              </a:ext>
            </a:extLst>
          </p:cNvPr>
          <p:cNvSpPr/>
          <p:nvPr/>
        </p:nvSpPr>
        <p:spPr>
          <a:xfrm>
            <a:off x="1451421" y="2807234"/>
            <a:ext cx="613075" cy="274511"/>
          </a:xfrm>
          <a:custGeom>
            <a:avLst/>
            <a:gdLst/>
            <a:ahLst/>
            <a:cxnLst/>
            <a:rect l="l" t="t" r="r" b="b"/>
            <a:pathLst>
              <a:path w="919612" h="411767">
                <a:moveTo>
                  <a:pt x="0" y="0"/>
                </a:moveTo>
                <a:lnTo>
                  <a:pt x="919612" y="0"/>
                </a:lnTo>
                <a:lnTo>
                  <a:pt x="919612" y="411767"/>
                </a:lnTo>
                <a:lnTo>
                  <a:pt x="0" y="411767"/>
                </a:lnTo>
                <a:lnTo>
                  <a:pt x="0" y="0"/>
                </a:lnTo>
                <a:close/>
              </a:path>
            </a:pathLst>
          </a:custGeom>
          <a:blipFill>
            <a:blip r:embed="rId8"/>
            <a:stretch>
              <a:fillRect/>
            </a:stretch>
          </a:blipFill>
        </p:spPr>
        <p:txBody>
          <a:bodyPr/>
          <a:lstStyle/>
          <a:p>
            <a:endParaRPr lang="en-IN" sz="1200"/>
          </a:p>
        </p:txBody>
      </p:sp>
      <p:grpSp>
        <p:nvGrpSpPr>
          <p:cNvPr id="13" name="Group 12">
            <a:extLst>
              <a:ext uri="{FF2B5EF4-FFF2-40B4-BE49-F238E27FC236}">
                <a16:creationId xmlns:a16="http://schemas.microsoft.com/office/drawing/2014/main" id="{00B13304-1BFE-E2FC-74F3-46A2603A9FDB}"/>
              </a:ext>
            </a:extLst>
          </p:cNvPr>
          <p:cNvGrpSpPr/>
          <p:nvPr/>
        </p:nvGrpSpPr>
        <p:grpSpPr>
          <a:xfrm>
            <a:off x="3126014" y="1495879"/>
            <a:ext cx="2244725" cy="2132236"/>
            <a:chOff x="4648200" y="2247900"/>
            <a:chExt cx="2667000" cy="2483979"/>
          </a:xfrm>
        </p:grpSpPr>
        <p:sp>
          <p:nvSpPr>
            <p:cNvPr id="14" name="Rectangle: Rounded Corners 13">
              <a:extLst>
                <a:ext uri="{FF2B5EF4-FFF2-40B4-BE49-F238E27FC236}">
                  <a16:creationId xmlns:a16="http://schemas.microsoft.com/office/drawing/2014/main" id="{C0B660CD-5C81-EA46-0269-98BBE8294133}"/>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15" name="Straight Connector 14">
              <a:extLst>
                <a:ext uri="{FF2B5EF4-FFF2-40B4-BE49-F238E27FC236}">
                  <a16:creationId xmlns:a16="http://schemas.microsoft.com/office/drawing/2014/main" id="{71D2EC42-7823-41EB-571C-807324604763}"/>
                </a:ext>
              </a:extLst>
            </p:cNvPr>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639C8D1E-DAC9-2C83-F398-A529D4098815}"/>
              </a:ext>
            </a:extLst>
          </p:cNvPr>
          <p:cNvSpPr txBox="1"/>
          <p:nvPr/>
        </p:nvSpPr>
        <p:spPr>
          <a:xfrm>
            <a:off x="3126014" y="156123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 Security and Access Control</a:t>
            </a:r>
          </a:p>
        </p:txBody>
      </p:sp>
      <p:sp>
        <p:nvSpPr>
          <p:cNvPr id="17" name="Freeform 14">
            <a:extLst>
              <a:ext uri="{FF2B5EF4-FFF2-40B4-BE49-F238E27FC236}">
                <a16:creationId xmlns:a16="http://schemas.microsoft.com/office/drawing/2014/main" id="{F1F9EEEB-8AF8-1FEA-7F3F-990C8783DEC8}"/>
              </a:ext>
            </a:extLst>
          </p:cNvPr>
          <p:cNvSpPr/>
          <p:nvPr/>
        </p:nvSpPr>
        <p:spPr>
          <a:xfrm>
            <a:off x="3211379" y="2084950"/>
            <a:ext cx="379047" cy="379047"/>
          </a:xfrm>
          <a:custGeom>
            <a:avLst/>
            <a:gdLst/>
            <a:ahLst/>
            <a:cxnLst/>
            <a:rect l="l" t="t" r="r" b="b"/>
            <a:pathLst>
              <a:path w="1330043" h="1330043">
                <a:moveTo>
                  <a:pt x="0" y="0"/>
                </a:moveTo>
                <a:lnTo>
                  <a:pt x="1330043" y="0"/>
                </a:lnTo>
                <a:lnTo>
                  <a:pt x="1330043" y="1330043"/>
                </a:lnTo>
                <a:lnTo>
                  <a:pt x="0" y="13300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sz="1200"/>
          </a:p>
        </p:txBody>
      </p:sp>
      <p:sp>
        <p:nvSpPr>
          <p:cNvPr id="18" name="TextBox 17">
            <a:extLst>
              <a:ext uri="{FF2B5EF4-FFF2-40B4-BE49-F238E27FC236}">
                <a16:creationId xmlns:a16="http://schemas.microsoft.com/office/drawing/2014/main" id="{E088BB39-A6F6-D2E0-71D1-AE1DE03D4D3E}"/>
              </a:ext>
            </a:extLst>
          </p:cNvPr>
          <p:cNvSpPr txBox="1"/>
          <p:nvPr/>
        </p:nvSpPr>
        <p:spPr>
          <a:xfrm>
            <a:off x="3851833" y="2117148"/>
            <a:ext cx="1778000" cy="1220334"/>
          </a:xfrm>
          <a:prstGeom prst="rect">
            <a:avLst/>
          </a:prstGeom>
          <a:noFill/>
        </p:spPr>
        <p:txBody>
          <a:bodyPr wrap="square">
            <a:spAutoFit/>
          </a:bodyPr>
          <a:lstStyle/>
          <a:p>
            <a:pPr marL="135727" lvl="1">
              <a:lnSpc>
                <a:spcPts val="1760"/>
              </a:lnSpc>
            </a:pPr>
            <a:r>
              <a:rPr lang="en-US" sz="933">
                <a:solidFill>
                  <a:srgbClr val="000000"/>
                </a:solidFill>
                <a:latin typeface="Canva Sans"/>
                <a:ea typeface="Canva Sans"/>
                <a:cs typeface="Canva Sans"/>
                <a:sym typeface="Canva Sans"/>
              </a:rPr>
              <a:t>Authentication</a:t>
            </a:r>
          </a:p>
          <a:p>
            <a:pPr marL="135727" lvl="1">
              <a:lnSpc>
                <a:spcPts val="1760"/>
              </a:lnSpc>
            </a:pPr>
            <a:endParaRPr lang="en-US" sz="933">
              <a:solidFill>
                <a:srgbClr val="000000"/>
              </a:solidFill>
              <a:latin typeface="Canva Sans"/>
              <a:ea typeface="Canva Sans"/>
              <a:cs typeface="Canva Sans"/>
              <a:sym typeface="Canva Sans"/>
            </a:endParaRPr>
          </a:p>
          <a:p>
            <a:pPr marL="135727" lvl="1">
              <a:lnSpc>
                <a:spcPts val="1760"/>
              </a:lnSpc>
            </a:pPr>
            <a:r>
              <a:rPr lang="en-US" sz="933">
                <a:solidFill>
                  <a:srgbClr val="000000"/>
                </a:solidFill>
                <a:latin typeface="Canva Sans"/>
                <a:ea typeface="Canva Sans"/>
                <a:cs typeface="Canva Sans"/>
                <a:sym typeface="Canva Sans"/>
              </a:rPr>
              <a:t>Authorization</a:t>
            </a:r>
          </a:p>
          <a:p>
            <a:pPr marL="135727" lvl="1">
              <a:lnSpc>
                <a:spcPts val="1760"/>
              </a:lnSpc>
            </a:pPr>
            <a:endParaRPr lang="en-US" sz="933">
              <a:solidFill>
                <a:srgbClr val="000000"/>
              </a:solidFill>
              <a:latin typeface="Canva Sans"/>
              <a:ea typeface="Canva Sans"/>
              <a:cs typeface="Canva Sans"/>
              <a:sym typeface="Canva Sans"/>
            </a:endParaRPr>
          </a:p>
          <a:p>
            <a:pPr marL="135727" lvl="1">
              <a:lnSpc>
                <a:spcPts val="1760"/>
              </a:lnSpc>
            </a:pPr>
            <a:r>
              <a:rPr lang="en-US" sz="933">
                <a:solidFill>
                  <a:srgbClr val="000000"/>
                </a:solidFill>
                <a:latin typeface="Canva Sans"/>
                <a:ea typeface="Canva Sans"/>
                <a:cs typeface="Canva Sans"/>
                <a:sym typeface="Canva Sans"/>
              </a:rPr>
              <a:t>RLS &amp; Audit Logging</a:t>
            </a:r>
          </a:p>
        </p:txBody>
      </p:sp>
      <p:sp>
        <p:nvSpPr>
          <p:cNvPr id="19" name="Freeform 16">
            <a:extLst>
              <a:ext uri="{FF2B5EF4-FFF2-40B4-BE49-F238E27FC236}">
                <a16:creationId xmlns:a16="http://schemas.microsoft.com/office/drawing/2014/main" id="{BCD67B8B-8B98-A0E7-5B38-E090159701FC}"/>
              </a:ext>
            </a:extLst>
          </p:cNvPr>
          <p:cNvSpPr/>
          <p:nvPr/>
        </p:nvSpPr>
        <p:spPr>
          <a:xfrm>
            <a:off x="3256387" y="2562859"/>
            <a:ext cx="289031" cy="270605"/>
          </a:xfrm>
          <a:custGeom>
            <a:avLst/>
            <a:gdLst/>
            <a:ahLst/>
            <a:cxnLst/>
            <a:rect l="l" t="t" r="r" b="b"/>
            <a:pathLst>
              <a:path w="990656" h="927502">
                <a:moveTo>
                  <a:pt x="0" y="0"/>
                </a:moveTo>
                <a:lnTo>
                  <a:pt x="990656" y="0"/>
                </a:lnTo>
                <a:lnTo>
                  <a:pt x="990656" y="927502"/>
                </a:lnTo>
                <a:lnTo>
                  <a:pt x="0" y="9275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N" sz="1200"/>
          </a:p>
        </p:txBody>
      </p:sp>
      <p:pic>
        <p:nvPicPr>
          <p:cNvPr id="20" name="Picture 19">
            <a:extLst>
              <a:ext uri="{FF2B5EF4-FFF2-40B4-BE49-F238E27FC236}">
                <a16:creationId xmlns:a16="http://schemas.microsoft.com/office/drawing/2014/main" id="{3D293BB2-CC37-D313-F66C-F5A42EA5DDBB}"/>
              </a:ext>
            </a:extLst>
          </p:cNvPr>
          <p:cNvPicPr>
            <a:picLocks noChangeAspect="1"/>
          </p:cNvPicPr>
          <p:nvPr/>
        </p:nvPicPr>
        <p:blipFill>
          <a:blip r:embed="rId13"/>
          <a:stretch>
            <a:fillRect/>
          </a:stretch>
        </p:blipFill>
        <p:spPr>
          <a:xfrm>
            <a:off x="3259347" y="2994699"/>
            <a:ext cx="302159" cy="302159"/>
          </a:xfrm>
          <a:prstGeom prst="rect">
            <a:avLst/>
          </a:prstGeom>
        </p:spPr>
      </p:pic>
      <p:sp>
        <p:nvSpPr>
          <p:cNvPr id="21" name="Arrow: Notched Right 20">
            <a:extLst>
              <a:ext uri="{FF2B5EF4-FFF2-40B4-BE49-F238E27FC236}">
                <a16:creationId xmlns:a16="http://schemas.microsoft.com/office/drawing/2014/main" id="{66F730D7-4BC2-B634-8CE4-9CAE7FE2327F}"/>
              </a:ext>
            </a:extLst>
          </p:cNvPr>
          <p:cNvSpPr/>
          <p:nvPr/>
        </p:nvSpPr>
        <p:spPr>
          <a:xfrm>
            <a:off x="2606968" y="248282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22" name="Arrow: Notched Right 21">
            <a:extLst>
              <a:ext uri="{FF2B5EF4-FFF2-40B4-BE49-F238E27FC236}">
                <a16:creationId xmlns:a16="http://schemas.microsoft.com/office/drawing/2014/main" id="{9DBB1049-148F-EE75-F697-7B206F4B66B2}"/>
              </a:ext>
            </a:extLst>
          </p:cNvPr>
          <p:cNvSpPr/>
          <p:nvPr/>
        </p:nvSpPr>
        <p:spPr>
          <a:xfrm rot="5400000">
            <a:off x="734973" y="1069063"/>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23" name="Group 22">
            <a:extLst>
              <a:ext uri="{FF2B5EF4-FFF2-40B4-BE49-F238E27FC236}">
                <a16:creationId xmlns:a16="http://schemas.microsoft.com/office/drawing/2014/main" id="{93840744-B999-50E0-102A-39BFD618EB4A}"/>
              </a:ext>
            </a:extLst>
          </p:cNvPr>
          <p:cNvGrpSpPr/>
          <p:nvPr/>
        </p:nvGrpSpPr>
        <p:grpSpPr>
          <a:xfrm>
            <a:off x="2564039" y="275395"/>
            <a:ext cx="1778000" cy="674722"/>
            <a:chOff x="4648200" y="2247900"/>
            <a:chExt cx="2667000" cy="1012083"/>
          </a:xfrm>
        </p:grpSpPr>
        <p:sp>
          <p:nvSpPr>
            <p:cNvPr id="24" name="Rectangle: Rounded Corners 23">
              <a:extLst>
                <a:ext uri="{FF2B5EF4-FFF2-40B4-BE49-F238E27FC236}">
                  <a16:creationId xmlns:a16="http://schemas.microsoft.com/office/drawing/2014/main" id="{499F177F-FC4C-5C1E-E2E4-63BCEF96D87B}"/>
                </a:ext>
              </a:extLst>
            </p:cNvPr>
            <p:cNvSpPr/>
            <p:nvPr/>
          </p:nvSpPr>
          <p:spPr>
            <a:xfrm>
              <a:off x="4648200" y="2247900"/>
              <a:ext cx="2667000" cy="1012083"/>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25" name="Straight Connector 24">
              <a:extLst>
                <a:ext uri="{FF2B5EF4-FFF2-40B4-BE49-F238E27FC236}">
                  <a16:creationId xmlns:a16="http://schemas.microsoft.com/office/drawing/2014/main" id="{71688964-7F7B-3AD4-DFEE-E4D8C18EA6F6}"/>
                </a:ext>
              </a:extLst>
            </p:cNvPr>
            <p:cNvCxnSpPr/>
            <p:nvPr/>
          </p:nvCxnSpPr>
          <p:spPr>
            <a:xfrm>
              <a:off x="4648200" y="2630826"/>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6913F9B6-EF91-CCFD-B7F1-A785BA1F6F27}"/>
              </a:ext>
            </a:extLst>
          </p:cNvPr>
          <p:cNvSpPr txBox="1"/>
          <p:nvPr/>
        </p:nvSpPr>
        <p:spPr>
          <a:xfrm>
            <a:off x="2564039" y="274702"/>
            <a:ext cx="1778000" cy="306109"/>
          </a:xfrm>
          <a:prstGeom prst="rect">
            <a:avLst/>
          </a:prstGeom>
          <a:noFill/>
        </p:spPr>
        <p:txBody>
          <a:bodyPr wrap="square">
            <a:spAutoFit/>
          </a:bodyPr>
          <a:lstStyle/>
          <a:p>
            <a:pPr algn="ctr">
              <a:lnSpc>
                <a:spcPts val="1760"/>
              </a:lnSpc>
              <a:spcBef>
                <a:spcPct val="0"/>
              </a:spcBef>
            </a:pPr>
            <a:r>
              <a:rPr lang="en-US" sz="1200" b="1">
                <a:solidFill>
                  <a:srgbClr val="000000"/>
                </a:solidFill>
                <a:latin typeface="Canva Sans Bold"/>
                <a:ea typeface="Canva Sans Bold"/>
                <a:cs typeface="Canva Sans Bold"/>
                <a:sym typeface="Canva Sans Bold"/>
              </a:rPr>
              <a:t> Traditional UI</a:t>
            </a:r>
          </a:p>
        </p:txBody>
      </p:sp>
      <p:sp>
        <p:nvSpPr>
          <p:cNvPr id="27" name="Freeform 10">
            <a:extLst>
              <a:ext uri="{FF2B5EF4-FFF2-40B4-BE49-F238E27FC236}">
                <a16:creationId xmlns:a16="http://schemas.microsoft.com/office/drawing/2014/main" id="{C42C58AE-E874-B5B1-F4E5-9B436A1AA0CC}"/>
              </a:ext>
            </a:extLst>
          </p:cNvPr>
          <p:cNvSpPr/>
          <p:nvPr/>
        </p:nvSpPr>
        <p:spPr>
          <a:xfrm rot="21539842">
            <a:off x="2660879" y="576762"/>
            <a:ext cx="357769" cy="321978"/>
          </a:xfrm>
          <a:custGeom>
            <a:avLst/>
            <a:gdLst/>
            <a:ahLst/>
            <a:cxnLst/>
            <a:rect l="l" t="t" r="r" b="b"/>
            <a:pathLst>
              <a:path w="802465" h="722188">
                <a:moveTo>
                  <a:pt x="0" y="0"/>
                </a:moveTo>
                <a:lnTo>
                  <a:pt x="802465" y="0"/>
                </a:lnTo>
                <a:lnTo>
                  <a:pt x="802465" y="722188"/>
                </a:lnTo>
                <a:lnTo>
                  <a:pt x="0" y="722188"/>
                </a:lnTo>
                <a:lnTo>
                  <a:pt x="0" y="0"/>
                </a:lnTo>
                <a:close/>
              </a:path>
            </a:pathLst>
          </a:custGeom>
          <a:blipFill>
            <a:blip r:embed="rId14"/>
            <a:stretch>
              <a:fillRect l="-30958" r="-29749"/>
            </a:stretch>
          </a:blipFill>
        </p:spPr>
        <p:txBody>
          <a:bodyPr/>
          <a:lstStyle/>
          <a:p>
            <a:endParaRPr lang="en-IN" sz="1200"/>
          </a:p>
        </p:txBody>
      </p:sp>
      <p:sp>
        <p:nvSpPr>
          <p:cNvPr id="28" name="Freeform 11">
            <a:extLst>
              <a:ext uri="{FF2B5EF4-FFF2-40B4-BE49-F238E27FC236}">
                <a16:creationId xmlns:a16="http://schemas.microsoft.com/office/drawing/2014/main" id="{69EAD283-0F30-8A15-21BE-FEEB988717D0}"/>
              </a:ext>
            </a:extLst>
          </p:cNvPr>
          <p:cNvSpPr/>
          <p:nvPr/>
        </p:nvSpPr>
        <p:spPr>
          <a:xfrm>
            <a:off x="3232008" y="580234"/>
            <a:ext cx="442063" cy="325669"/>
          </a:xfrm>
          <a:custGeom>
            <a:avLst/>
            <a:gdLst/>
            <a:ahLst/>
            <a:cxnLst/>
            <a:rect l="l" t="t" r="r" b="b"/>
            <a:pathLst>
              <a:path w="844521" h="622161">
                <a:moveTo>
                  <a:pt x="0" y="0"/>
                </a:moveTo>
                <a:lnTo>
                  <a:pt x="844521" y="0"/>
                </a:lnTo>
                <a:lnTo>
                  <a:pt x="844521" y="622161"/>
                </a:lnTo>
                <a:lnTo>
                  <a:pt x="0" y="622161"/>
                </a:lnTo>
                <a:lnTo>
                  <a:pt x="0" y="0"/>
                </a:lnTo>
                <a:close/>
              </a:path>
            </a:pathLst>
          </a:custGeom>
          <a:blipFill>
            <a:blip r:embed="rId15"/>
            <a:stretch>
              <a:fillRect l="-44427" t="-16573" r="-42210" b="-16635"/>
            </a:stretch>
          </a:blipFill>
        </p:spPr>
        <p:txBody>
          <a:bodyPr/>
          <a:lstStyle/>
          <a:p>
            <a:endParaRPr lang="en-IN" sz="1200"/>
          </a:p>
        </p:txBody>
      </p:sp>
      <p:sp>
        <p:nvSpPr>
          <p:cNvPr id="29" name="Freeform 12">
            <a:extLst>
              <a:ext uri="{FF2B5EF4-FFF2-40B4-BE49-F238E27FC236}">
                <a16:creationId xmlns:a16="http://schemas.microsoft.com/office/drawing/2014/main" id="{324C7A79-B980-C644-E3EC-4436D861E501}"/>
              </a:ext>
            </a:extLst>
          </p:cNvPr>
          <p:cNvSpPr/>
          <p:nvPr/>
        </p:nvSpPr>
        <p:spPr>
          <a:xfrm>
            <a:off x="3925399" y="582160"/>
            <a:ext cx="303413" cy="303413"/>
          </a:xfrm>
          <a:custGeom>
            <a:avLst/>
            <a:gdLst/>
            <a:ahLst/>
            <a:cxnLst/>
            <a:rect l="l" t="t" r="r" b="b"/>
            <a:pathLst>
              <a:path w="512813" h="512813">
                <a:moveTo>
                  <a:pt x="0" y="0"/>
                </a:moveTo>
                <a:lnTo>
                  <a:pt x="512812" y="0"/>
                </a:lnTo>
                <a:lnTo>
                  <a:pt x="512812" y="512813"/>
                </a:lnTo>
                <a:lnTo>
                  <a:pt x="0" y="512813"/>
                </a:lnTo>
                <a:lnTo>
                  <a:pt x="0" y="0"/>
                </a:lnTo>
                <a:close/>
              </a:path>
            </a:pathLst>
          </a:custGeom>
          <a:blipFill>
            <a:blip r:embed="rId16"/>
            <a:stretch>
              <a:fillRect/>
            </a:stretch>
          </a:blipFill>
        </p:spPr>
        <p:txBody>
          <a:bodyPr/>
          <a:lstStyle/>
          <a:p>
            <a:endParaRPr lang="en-IN" sz="1200"/>
          </a:p>
        </p:txBody>
      </p:sp>
      <p:sp>
        <p:nvSpPr>
          <p:cNvPr id="30" name="Arrow: Notched Right 29">
            <a:extLst>
              <a:ext uri="{FF2B5EF4-FFF2-40B4-BE49-F238E27FC236}">
                <a16:creationId xmlns:a16="http://schemas.microsoft.com/office/drawing/2014/main" id="{A572F53E-0760-1CC4-3492-BE32FEB1A1F8}"/>
              </a:ext>
            </a:extLst>
          </p:cNvPr>
          <p:cNvSpPr/>
          <p:nvPr/>
        </p:nvSpPr>
        <p:spPr>
          <a:xfrm>
            <a:off x="1871622" y="55224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31" name="Arrow: Notched Right 30">
            <a:extLst>
              <a:ext uri="{FF2B5EF4-FFF2-40B4-BE49-F238E27FC236}">
                <a16:creationId xmlns:a16="http://schemas.microsoft.com/office/drawing/2014/main" id="{9923C910-76B1-5F18-B007-25CE4D341C40}"/>
              </a:ext>
            </a:extLst>
          </p:cNvPr>
          <p:cNvSpPr/>
          <p:nvPr/>
        </p:nvSpPr>
        <p:spPr>
          <a:xfrm rot="5400000">
            <a:off x="3501483" y="1069188"/>
            <a:ext cx="426985" cy="280821"/>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32" name="Group 31">
            <a:extLst>
              <a:ext uri="{FF2B5EF4-FFF2-40B4-BE49-F238E27FC236}">
                <a16:creationId xmlns:a16="http://schemas.microsoft.com/office/drawing/2014/main" id="{9014A833-0829-12F3-AEC7-7175A4A94502}"/>
              </a:ext>
            </a:extLst>
          </p:cNvPr>
          <p:cNvGrpSpPr/>
          <p:nvPr/>
        </p:nvGrpSpPr>
        <p:grpSpPr>
          <a:xfrm>
            <a:off x="5990286" y="1476140"/>
            <a:ext cx="2444750" cy="2132236"/>
            <a:chOff x="4648200" y="2247900"/>
            <a:chExt cx="2667000" cy="2483979"/>
          </a:xfrm>
        </p:grpSpPr>
        <p:sp>
          <p:nvSpPr>
            <p:cNvPr id="33" name="Rectangle: Rounded Corners 32">
              <a:extLst>
                <a:ext uri="{FF2B5EF4-FFF2-40B4-BE49-F238E27FC236}">
                  <a16:creationId xmlns:a16="http://schemas.microsoft.com/office/drawing/2014/main" id="{BE78A31E-5050-90AC-F4C6-1F53D7682219}"/>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34" name="Straight Connector 33">
              <a:extLst>
                <a:ext uri="{FF2B5EF4-FFF2-40B4-BE49-F238E27FC236}">
                  <a16:creationId xmlns:a16="http://schemas.microsoft.com/office/drawing/2014/main" id="{585ABAD5-373A-5729-9A9B-AD2B1FFA5103}"/>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39BC4AE7-C275-27E9-E97B-9E673C134F7C}"/>
              </a:ext>
            </a:extLst>
          </p:cNvPr>
          <p:cNvGrpSpPr/>
          <p:nvPr/>
        </p:nvGrpSpPr>
        <p:grpSpPr>
          <a:xfrm>
            <a:off x="9057220" y="1505403"/>
            <a:ext cx="2444750" cy="2075086"/>
            <a:chOff x="4648200" y="2247900"/>
            <a:chExt cx="2667000" cy="2483979"/>
          </a:xfrm>
        </p:grpSpPr>
        <p:sp>
          <p:nvSpPr>
            <p:cNvPr id="36" name="Rectangle: Rounded Corners 35">
              <a:extLst>
                <a:ext uri="{FF2B5EF4-FFF2-40B4-BE49-F238E27FC236}">
                  <a16:creationId xmlns:a16="http://schemas.microsoft.com/office/drawing/2014/main" id="{6CF58EAE-7F6E-DF04-0296-BD625CB9A86C}"/>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37" name="Straight Connector 36">
              <a:extLst>
                <a:ext uri="{FF2B5EF4-FFF2-40B4-BE49-F238E27FC236}">
                  <a16:creationId xmlns:a16="http://schemas.microsoft.com/office/drawing/2014/main" id="{59882E57-9DB1-EAF2-C8E1-284BD93C7BC7}"/>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38" name="Arrow: Notched Right 37">
            <a:extLst>
              <a:ext uri="{FF2B5EF4-FFF2-40B4-BE49-F238E27FC236}">
                <a16:creationId xmlns:a16="http://schemas.microsoft.com/office/drawing/2014/main" id="{DC00CF0F-6C4A-A825-06E7-147068542E84}"/>
              </a:ext>
            </a:extLst>
          </p:cNvPr>
          <p:cNvSpPr/>
          <p:nvPr/>
        </p:nvSpPr>
        <p:spPr>
          <a:xfrm>
            <a:off x="8531402" y="2473987"/>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39" name="Arrow: Notched Right 38">
            <a:extLst>
              <a:ext uri="{FF2B5EF4-FFF2-40B4-BE49-F238E27FC236}">
                <a16:creationId xmlns:a16="http://schemas.microsoft.com/office/drawing/2014/main" id="{41448089-890B-46D8-42E6-9E52BDF337D2}"/>
              </a:ext>
            </a:extLst>
          </p:cNvPr>
          <p:cNvSpPr/>
          <p:nvPr/>
        </p:nvSpPr>
        <p:spPr>
          <a:xfrm rot="5400000">
            <a:off x="10051729" y="383858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grpSp>
        <p:nvGrpSpPr>
          <p:cNvPr id="40" name="Group 39">
            <a:extLst>
              <a:ext uri="{FF2B5EF4-FFF2-40B4-BE49-F238E27FC236}">
                <a16:creationId xmlns:a16="http://schemas.microsoft.com/office/drawing/2014/main" id="{FA1FCE61-193C-1678-8A86-C723781F78DB}"/>
              </a:ext>
            </a:extLst>
          </p:cNvPr>
          <p:cNvGrpSpPr/>
          <p:nvPr/>
        </p:nvGrpSpPr>
        <p:grpSpPr>
          <a:xfrm>
            <a:off x="9139502" y="4283147"/>
            <a:ext cx="2263775" cy="2075086"/>
            <a:chOff x="4648200" y="2247900"/>
            <a:chExt cx="2667000" cy="2483979"/>
          </a:xfrm>
        </p:grpSpPr>
        <p:sp>
          <p:nvSpPr>
            <p:cNvPr id="41" name="Rectangle: Rounded Corners 40">
              <a:extLst>
                <a:ext uri="{FF2B5EF4-FFF2-40B4-BE49-F238E27FC236}">
                  <a16:creationId xmlns:a16="http://schemas.microsoft.com/office/drawing/2014/main" id="{579A73A3-14AF-5206-8F93-22102A290D78}"/>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2" name="Straight Connector 41">
              <a:extLst>
                <a:ext uri="{FF2B5EF4-FFF2-40B4-BE49-F238E27FC236}">
                  <a16:creationId xmlns:a16="http://schemas.microsoft.com/office/drawing/2014/main" id="{C9A69E9A-F698-388B-EE5B-99766D91566B}"/>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79069351-542A-7955-0AA1-FDC5F84B4468}"/>
              </a:ext>
            </a:extLst>
          </p:cNvPr>
          <p:cNvGrpSpPr/>
          <p:nvPr/>
        </p:nvGrpSpPr>
        <p:grpSpPr>
          <a:xfrm>
            <a:off x="6009334" y="4283146"/>
            <a:ext cx="2368550" cy="2075085"/>
            <a:chOff x="4648200" y="2247900"/>
            <a:chExt cx="2667000" cy="2483979"/>
          </a:xfrm>
        </p:grpSpPr>
        <p:sp>
          <p:nvSpPr>
            <p:cNvPr id="44" name="Rectangle: Rounded Corners 43">
              <a:extLst>
                <a:ext uri="{FF2B5EF4-FFF2-40B4-BE49-F238E27FC236}">
                  <a16:creationId xmlns:a16="http://schemas.microsoft.com/office/drawing/2014/main" id="{864946C5-34A0-42A9-249D-3706B7D30B87}"/>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5" name="Straight Connector 44">
              <a:extLst>
                <a:ext uri="{FF2B5EF4-FFF2-40B4-BE49-F238E27FC236}">
                  <a16:creationId xmlns:a16="http://schemas.microsoft.com/office/drawing/2014/main" id="{807655B0-C76C-089F-DCE2-51647D6406FA}"/>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43A90817-3E55-BE8A-C825-C5AB08045611}"/>
              </a:ext>
            </a:extLst>
          </p:cNvPr>
          <p:cNvGrpSpPr/>
          <p:nvPr/>
        </p:nvGrpSpPr>
        <p:grpSpPr>
          <a:xfrm>
            <a:off x="3128080" y="4283146"/>
            <a:ext cx="2254249" cy="2075085"/>
            <a:chOff x="4648200" y="2247900"/>
            <a:chExt cx="2667000" cy="2483979"/>
          </a:xfrm>
        </p:grpSpPr>
        <p:sp>
          <p:nvSpPr>
            <p:cNvPr id="47" name="Rectangle: Rounded Corners 46">
              <a:extLst>
                <a:ext uri="{FF2B5EF4-FFF2-40B4-BE49-F238E27FC236}">
                  <a16:creationId xmlns:a16="http://schemas.microsoft.com/office/drawing/2014/main" id="{452929AC-E82D-C2F0-BC12-9B2C5486BDDA}"/>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48" name="Straight Connector 47">
              <a:extLst>
                <a:ext uri="{FF2B5EF4-FFF2-40B4-BE49-F238E27FC236}">
                  <a16:creationId xmlns:a16="http://schemas.microsoft.com/office/drawing/2014/main" id="{4C4A7A95-B5D2-81DB-0081-F48F4595303B}"/>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7EAF2D4A-EA5C-EBEC-7823-ACB747E5DAE9}"/>
              </a:ext>
            </a:extLst>
          </p:cNvPr>
          <p:cNvGrpSpPr/>
          <p:nvPr/>
        </p:nvGrpSpPr>
        <p:grpSpPr>
          <a:xfrm>
            <a:off x="308334" y="4235520"/>
            <a:ext cx="2235200" cy="2122711"/>
            <a:chOff x="4648200" y="2247900"/>
            <a:chExt cx="2667000" cy="2483979"/>
          </a:xfrm>
        </p:grpSpPr>
        <p:sp>
          <p:nvSpPr>
            <p:cNvPr id="50" name="Rectangle: Rounded Corners 49">
              <a:extLst>
                <a:ext uri="{FF2B5EF4-FFF2-40B4-BE49-F238E27FC236}">
                  <a16:creationId xmlns:a16="http://schemas.microsoft.com/office/drawing/2014/main" id="{DA61DB8E-43E8-514B-FF20-33A9150F7AEA}"/>
                </a:ext>
              </a:extLst>
            </p:cNvPr>
            <p:cNvSpPr/>
            <p:nvPr/>
          </p:nvSpPr>
          <p:spPr>
            <a:xfrm>
              <a:off x="4648200" y="2247900"/>
              <a:ext cx="2667000" cy="2483979"/>
            </a:xfrm>
            <a:prstGeom prst="roundRect">
              <a:avLst>
                <a:gd name="adj" fmla="val 4610"/>
              </a:avLst>
            </a:prstGeom>
            <a:ln>
              <a:solidFill>
                <a:schemeClr val="tx2">
                  <a:lumMod val="40000"/>
                  <a:lumOff val="6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a:p>
          </p:txBody>
        </p:sp>
        <p:cxnSp>
          <p:nvCxnSpPr>
            <p:cNvPr id="51" name="Straight Connector 50">
              <a:extLst>
                <a:ext uri="{FF2B5EF4-FFF2-40B4-BE49-F238E27FC236}">
                  <a16:creationId xmlns:a16="http://schemas.microsoft.com/office/drawing/2014/main" id="{E27396FD-A74D-1601-35E6-38F89FA9F006}"/>
                </a:ext>
              </a:extLst>
            </p:cNvPr>
            <p:cNvCxnSpPr>
              <a:cxnSpLocks/>
            </p:cNvCxnSpPr>
            <p:nvPr/>
          </p:nvCxnSpPr>
          <p:spPr>
            <a:xfrm>
              <a:off x="4648200" y="2705100"/>
              <a:ext cx="26670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2C66C6CE-CB82-EEDE-946B-8ECA2CB3FD18}"/>
              </a:ext>
            </a:extLst>
          </p:cNvPr>
          <p:cNvSpPr txBox="1"/>
          <p:nvPr/>
        </p:nvSpPr>
        <p:spPr>
          <a:xfrm>
            <a:off x="6890308" y="1983798"/>
            <a:ext cx="2073275" cy="1185133"/>
          </a:xfrm>
          <a:prstGeom prst="rect">
            <a:avLst/>
          </a:prstGeom>
          <a:noFill/>
        </p:spPr>
        <p:txBody>
          <a:bodyPr wrap="square" lIns="60960" tIns="30480" rIns="60960" bIns="30480" anchor="t">
            <a:spAutoFit/>
          </a:bodyPr>
          <a:lstStyle/>
          <a:p>
            <a:pPr marL="135473" lvl="1">
              <a:lnSpc>
                <a:spcPts val="1760"/>
              </a:lnSpc>
            </a:pPr>
            <a:r>
              <a:rPr lang="en-US" sz="800">
                <a:solidFill>
                  <a:srgbClr val="000000"/>
                </a:solidFill>
                <a:latin typeface="Canva Sans"/>
                <a:sym typeface="Canva Sans"/>
              </a:rPr>
              <a:t>Dashboard Catalog</a:t>
            </a:r>
            <a:endParaRPr lang="en-US" sz="800">
              <a:ea typeface="Calibri"/>
              <a:cs typeface="Calibri"/>
            </a:endParaRPr>
          </a:p>
          <a:p>
            <a:pPr marL="135473" lvl="1">
              <a:lnSpc>
                <a:spcPts val="1760"/>
              </a:lnSpc>
            </a:pPr>
            <a:endParaRPr lang="en-US" sz="800">
              <a:solidFill>
                <a:srgbClr val="000000"/>
              </a:solidFill>
              <a:latin typeface="Canva Sans"/>
              <a:ea typeface="Canva Sans"/>
              <a:cs typeface="Canva Sans"/>
            </a:endParaRPr>
          </a:p>
          <a:p>
            <a:pPr marL="135473" lvl="1">
              <a:lnSpc>
                <a:spcPts val="1760"/>
              </a:lnSpc>
            </a:pPr>
            <a:r>
              <a:rPr lang="en-US" sz="800">
                <a:solidFill>
                  <a:srgbClr val="000000"/>
                </a:solidFill>
                <a:latin typeface="Canva Sans"/>
                <a:ea typeface="Canva Sans"/>
                <a:cs typeface="Canva Sans"/>
                <a:sym typeface="Canva Sans"/>
              </a:rPr>
              <a:t>Vector Search</a:t>
            </a:r>
            <a:endParaRPr lang="en-US" sz="800">
              <a:solidFill>
                <a:srgbClr val="000000"/>
              </a:solidFill>
              <a:latin typeface="Canva Sans"/>
              <a:ea typeface="Canva Sans"/>
              <a:cs typeface="Canva Sans"/>
            </a:endParaRPr>
          </a:p>
          <a:p>
            <a:pPr marL="135473" lvl="1">
              <a:lnSpc>
                <a:spcPts val="1760"/>
              </a:lnSpc>
            </a:pPr>
            <a:endParaRPr lang="en-US" sz="800">
              <a:solidFill>
                <a:srgbClr val="000000"/>
              </a:solidFill>
              <a:latin typeface="Canva Sans"/>
              <a:ea typeface="Canva Sans"/>
              <a:cs typeface="Canva Sans"/>
            </a:endParaRPr>
          </a:p>
          <a:p>
            <a:pPr marL="135473" lvl="1">
              <a:lnSpc>
                <a:spcPts val="1760"/>
              </a:lnSpc>
            </a:pPr>
            <a:r>
              <a:rPr lang="en-US" sz="800">
                <a:solidFill>
                  <a:srgbClr val="000000"/>
                </a:solidFill>
                <a:latin typeface="Canva Sans"/>
                <a:sym typeface="Canva Sans"/>
              </a:rPr>
              <a:t>Refresh Co-ordination</a:t>
            </a:r>
            <a:endParaRPr lang="en-US" sz="800">
              <a:ea typeface="Calibri"/>
              <a:cs typeface="Calibri"/>
            </a:endParaRPr>
          </a:p>
        </p:txBody>
      </p:sp>
      <p:sp>
        <p:nvSpPr>
          <p:cNvPr id="53" name="Freeform 19" descr="A close up of a logo&#10;&#10;AI-generated content may be incorrect.">
            <a:extLst>
              <a:ext uri="{FF2B5EF4-FFF2-40B4-BE49-F238E27FC236}">
                <a16:creationId xmlns:a16="http://schemas.microsoft.com/office/drawing/2014/main" id="{5C65AF44-9654-4AF3-BD75-B0FB237B36FC}"/>
              </a:ext>
            </a:extLst>
          </p:cNvPr>
          <p:cNvSpPr/>
          <p:nvPr/>
        </p:nvSpPr>
        <p:spPr>
          <a:xfrm>
            <a:off x="6268015" y="1983941"/>
            <a:ext cx="448036" cy="338531"/>
          </a:xfrm>
          <a:custGeom>
            <a:avLst/>
            <a:gdLst/>
            <a:ahLst/>
            <a:cxnLst/>
            <a:rect l="l" t="t" r="r" b="b"/>
            <a:pathLst>
              <a:path w="1314992" h="736396">
                <a:moveTo>
                  <a:pt x="0" y="0"/>
                </a:moveTo>
                <a:lnTo>
                  <a:pt x="1314993" y="0"/>
                </a:lnTo>
                <a:lnTo>
                  <a:pt x="1314993" y="736396"/>
                </a:lnTo>
                <a:lnTo>
                  <a:pt x="0" y="736396"/>
                </a:lnTo>
                <a:lnTo>
                  <a:pt x="0" y="0"/>
                </a:lnTo>
                <a:close/>
              </a:path>
            </a:pathLst>
          </a:custGeom>
          <a:blipFill>
            <a:blip r:embed="rId17"/>
            <a:stretch>
              <a:fillRect/>
            </a:stretch>
          </a:blipFill>
        </p:spPr>
        <p:txBody>
          <a:bodyPr/>
          <a:lstStyle/>
          <a:p>
            <a:endParaRPr lang="en-IN" sz="1200"/>
          </a:p>
        </p:txBody>
      </p:sp>
      <p:sp>
        <p:nvSpPr>
          <p:cNvPr id="54" name="Freeform 18" descr="A computer screen with a pie chart&#10;&#10;AI-generated content may be incorrect.">
            <a:extLst>
              <a:ext uri="{FF2B5EF4-FFF2-40B4-BE49-F238E27FC236}">
                <a16:creationId xmlns:a16="http://schemas.microsoft.com/office/drawing/2014/main" id="{3A2C2187-4192-7061-6DFA-E09ED328A086}"/>
              </a:ext>
            </a:extLst>
          </p:cNvPr>
          <p:cNvSpPr/>
          <p:nvPr/>
        </p:nvSpPr>
        <p:spPr>
          <a:xfrm>
            <a:off x="6220753" y="2411198"/>
            <a:ext cx="528837" cy="462163"/>
          </a:xfrm>
          <a:custGeom>
            <a:avLst/>
            <a:gdLst/>
            <a:ahLst/>
            <a:cxnLst/>
            <a:rect l="l" t="t" r="r" b="b"/>
            <a:pathLst>
              <a:path w="1221881" h="1221881">
                <a:moveTo>
                  <a:pt x="0" y="0"/>
                </a:moveTo>
                <a:lnTo>
                  <a:pt x="1221880" y="0"/>
                </a:lnTo>
                <a:lnTo>
                  <a:pt x="1221880" y="1221880"/>
                </a:lnTo>
                <a:lnTo>
                  <a:pt x="0" y="1221880"/>
                </a:lnTo>
                <a:lnTo>
                  <a:pt x="0" y="0"/>
                </a:lnTo>
                <a:close/>
              </a:path>
            </a:pathLst>
          </a:custGeom>
          <a:blipFill>
            <a:blip r:embed="rId18"/>
            <a:stretch>
              <a:fillRect/>
            </a:stretch>
          </a:blipFill>
        </p:spPr>
        <p:txBody>
          <a:bodyPr/>
          <a:lstStyle/>
          <a:p>
            <a:endParaRPr lang="en-IN" sz="1200"/>
          </a:p>
        </p:txBody>
      </p:sp>
      <p:sp>
        <p:nvSpPr>
          <p:cNvPr id="55" name="Freeform 20" descr="A green and blue arrows&#10;&#10;AI-generated content may be incorrect.">
            <a:extLst>
              <a:ext uri="{FF2B5EF4-FFF2-40B4-BE49-F238E27FC236}">
                <a16:creationId xmlns:a16="http://schemas.microsoft.com/office/drawing/2014/main" id="{89C21F20-858F-293D-9EED-54E91733E5DA}"/>
              </a:ext>
            </a:extLst>
          </p:cNvPr>
          <p:cNvSpPr/>
          <p:nvPr/>
        </p:nvSpPr>
        <p:spPr>
          <a:xfrm>
            <a:off x="6319540" y="2901238"/>
            <a:ext cx="374128" cy="440803"/>
          </a:xfrm>
          <a:custGeom>
            <a:avLst/>
            <a:gdLst/>
            <a:ahLst/>
            <a:cxnLst/>
            <a:rect l="l" t="t" r="r" b="b"/>
            <a:pathLst>
              <a:path w="875517" h="875517">
                <a:moveTo>
                  <a:pt x="0" y="0"/>
                </a:moveTo>
                <a:lnTo>
                  <a:pt x="875517" y="0"/>
                </a:lnTo>
                <a:lnTo>
                  <a:pt x="875517" y="875517"/>
                </a:lnTo>
                <a:lnTo>
                  <a:pt x="0" y="875517"/>
                </a:lnTo>
                <a:lnTo>
                  <a:pt x="0" y="0"/>
                </a:lnTo>
                <a:close/>
              </a:path>
            </a:pathLst>
          </a:custGeom>
          <a:blipFill>
            <a:blip r:embed="rId19"/>
            <a:stretch>
              <a:fillRect/>
            </a:stretch>
          </a:blipFill>
        </p:spPr>
        <p:txBody>
          <a:bodyPr/>
          <a:lstStyle/>
          <a:p>
            <a:endParaRPr lang="en-IN" sz="1200"/>
          </a:p>
        </p:txBody>
      </p:sp>
      <p:sp>
        <p:nvSpPr>
          <p:cNvPr id="56" name="TextBox 55">
            <a:extLst>
              <a:ext uri="{FF2B5EF4-FFF2-40B4-BE49-F238E27FC236}">
                <a16:creationId xmlns:a16="http://schemas.microsoft.com/office/drawing/2014/main" id="{00230581-145D-6CA1-E0B0-D232C00443D7}"/>
              </a:ext>
            </a:extLst>
          </p:cNvPr>
          <p:cNvSpPr txBox="1"/>
          <p:nvPr/>
        </p:nvSpPr>
        <p:spPr>
          <a:xfrm>
            <a:off x="10009414" y="2016579"/>
            <a:ext cx="1781175" cy="1762342"/>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Arial"/>
                <a:cs typeface="Arial"/>
              </a:rPr>
              <a:t>Intent Classification​</a:t>
            </a:r>
            <a:endParaRPr lang="en-US" sz="933">
              <a:ea typeface="Calibri"/>
              <a:cs typeface="Calibri"/>
            </a:endParaRP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Dashboard Handler​</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Agent Router​</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Conversation Memory​</a:t>
            </a:r>
          </a:p>
          <a:p>
            <a:pPr algn="ctr">
              <a:lnSpc>
                <a:spcPct val="150000"/>
              </a:lnSpc>
            </a:pPr>
            <a:endParaRPr lang="en-US" sz="933">
              <a:latin typeface="Canva Sans"/>
            </a:endParaRPr>
          </a:p>
        </p:txBody>
      </p:sp>
      <p:pic>
        <p:nvPicPr>
          <p:cNvPr id="57" name="Picture 56" descr="A magnifying glass with a question mark&#10;&#10;AI-generated content may be incorrect.">
            <a:extLst>
              <a:ext uri="{FF2B5EF4-FFF2-40B4-BE49-F238E27FC236}">
                <a16:creationId xmlns:a16="http://schemas.microsoft.com/office/drawing/2014/main" id="{8AC6AA6A-D5C1-E467-366C-E80D002F8D25}"/>
              </a:ext>
            </a:extLst>
          </p:cNvPr>
          <p:cNvPicPr>
            <a:picLocks noChangeAspect="1"/>
          </p:cNvPicPr>
          <p:nvPr/>
        </p:nvPicPr>
        <p:blipFill>
          <a:blip r:embed="rId20"/>
          <a:stretch>
            <a:fillRect/>
          </a:stretch>
        </p:blipFill>
        <p:spPr>
          <a:xfrm>
            <a:off x="9517290" y="2019754"/>
            <a:ext cx="374650" cy="403225"/>
          </a:xfrm>
          <a:prstGeom prst="rect">
            <a:avLst/>
          </a:prstGeom>
        </p:spPr>
      </p:pic>
      <p:pic>
        <p:nvPicPr>
          <p:cNvPr id="58" name="Picture 57" descr="A computer screen with a pie chart and graph&#10;&#10;AI-generated content may be incorrect.">
            <a:extLst>
              <a:ext uri="{FF2B5EF4-FFF2-40B4-BE49-F238E27FC236}">
                <a16:creationId xmlns:a16="http://schemas.microsoft.com/office/drawing/2014/main" id="{6E8F7979-AB05-D040-2FD5-C54E9AB600EB}"/>
              </a:ext>
            </a:extLst>
          </p:cNvPr>
          <p:cNvPicPr>
            <a:picLocks noChangeAspect="1"/>
          </p:cNvPicPr>
          <p:nvPr/>
        </p:nvPicPr>
        <p:blipFill>
          <a:blip r:embed="rId21"/>
          <a:stretch>
            <a:fillRect/>
          </a:stretch>
        </p:blipFill>
        <p:spPr>
          <a:xfrm>
            <a:off x="9536340" y="2553154"/>
            <a:ext cx="346075" cy="384175"/>
          </a:xfrm>
          <a:prstGeom prst="rect">
            <a:avLst/>
          </a:prstGeom>
        </p:spPr>
      </p:pic>
      <p:pic>
        <p:nvPicPr>
          <p:cNvPr id="59" name="Picture 58">
            <a:extLst>
              <a:ext uri="{FF2B5EF4-FFF2-40B4-BE49-F238E27FC236}">
                <a16:creationId xmlns:a16="http://schemas.microsoft.com/office/drawing/2014/main" id="{1BCF61C7-934E-1345-67D2-10FCB6B64D4A}"/>
              </a:ext>
            </a:extLst>
          </p:cNvPr>
          <p:cNvPicPr>
            <a:picLocks noChangeAspect="1"/>
          </p:cNvPicPr>
          <p:nvPr/>
        </p:nvPicPr>
        <p:blipFill>
          <a:blip r:embed="rId22"/>
          <a:stretch>
            <a:fillRect/>
          </a:stretch>
        </p:blipFill>
        <p:spPr>
          <a:xfrm>
            <a:off x="9517289" y="3124654"/>
            <a:ext cx="327025" cy="374650"/>
          </a:xfrm>
          <a:prstGeom prst="rect">
            <a:avLst/>
          </a:prstGeom>
        </p:spPr>
      </p:pic>
      <p:sp>
        <p:nvSpPr>
          <p:cNvPr id="60" name="TextBox 59">
            <a:extLst>
              <a:ext uri="{FF2B5EF4-FFF2-40B4-BE49-F238E27FC236}">
                <a16:creationId xmlns:a16="http://schemas.microsoft.com/office/drawing/2014/main" id="{F6997A86-772D-A77F-89AD-240B443B0EA4}"/>
              </a:ext>
            </a:extLst>
          </p:cNvPr>
          <p:cNvSpPr txBox="1"/>
          <p:nvPr/>
        </p:nvSpPr>
        <p:spPr>
          <a:xfrm>
            <a:off x="1046389" y="4921705"/>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Data Warehouse</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Vector Database​</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Object Storage​</a:t>
            </a:r>
          </a:p>
          <a:p>
            <a:pPr algn="ctr">
              <a:lnSpc>
                <a:spcPct val="150000"/>
              </a:lnSpc>
            </a:pPr>
            <a:endParaRPr lang="en-US" sz="933">
              <a:latin typeface="Canva Sans"/>
            </a:endParaRPr>
          </a:p>
        </p:txBody>
      </p:sp>
      <p:sp>
        <p:nvSpPr>
          <p:cNvPr id="61" name="TextBox 60">
            <a:extLst>
              <a:ext uri="{FF2B5EF4-FFF2-40B4-BE49-F238E27FC236}">
                <a16:creationId xmlns:a16="http://schemas.microsoft.com/office/drawing/2014/main" id="{F932CF97-FEA7-B232-04E8-7DC53BB80D00}"/>
              </a:ext>
            </a:extLst>
          </p:cNvPr>
          <p:cNvSpPr txBox="1"/>
          <p:nvPr/>
        </p:nvSpPr>
        <p:spPr>
          <a:xfrm>
            <a:off x="3856264" y="4921704"/>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ETL/ELT Pipeline</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Data Transformation​</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Real-Time Streaming​</a:t>
            </a:r>
          </a:p>
          <a:p>
            <a:pPr algn="ctr">
              <a:lnSpc>
                <a:spcPct val="150000"/>
              </a:lnSpc>
            </a:pPr>
            <a:endParaRPr lang="en-US" sz="933">
              <a:latin typeface="Canva Sans"/>
            </a:endParaRPr>
          </a:p>
        </p:txBody>
      </p:sp>
      <p:sp>
        <p:nvSpPr>
          <p:cNvPr id="62" name="TextBox 61">
            <a:extLst>
              <a:ext uri="{FF2B5EF4-FFF2-40B4-BE49-F238E27FC236}">
                <a16:creationId xmlns:a16="http://schemas.microsoft.com/office/drawing/2014/main" id="{D8896D1A-2BE3-CE51-283A-4F8C7FD372FF}"/>
              </a:ext>
            </a:extLst>
          </p:cNvPr>
          <p:cNvSpPr txBox="1"/>
          <p:nvPr/>
        </p:nvSpPr>
        <p:spPr>
          <a:xfrm>
            <a:off x="6894739" y="4921704"/>
            <a:ext cx="1781175" cy="111620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Calibri"/>
                <a:cs typeface="Arial"/>
              </a:rPr>
              <a:t>GPT – 4 (Open AI)</a:t>
            </a: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Claude (Anthropic)​</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DBRX (Data Bricks)</a:t>
            </a:r>
            <a:endParaRPr lang="en-US" sz="933">
              <a:latin typeface="Canva Sans"/>
              <a:cs typeface="Arial"/>
            </a:endParaRPr>
          </a:p>
        </p:txBody>
      </p:sp>
      <p:sp>
        <p:nvSpPr>
          <p:cNvPr id="63" name="TextBox 62">
            <a:extLst>
              <a:ext uri="{FF2B5EF4-FFF2-40B4-BE49-F238E27FC236}">
                <a16:creationId xmlns:a16="http://schemas.microsoft.com/office/drawing/2014/main" id="{94863F0E-E2A4-A2AE-7BBB-C2E8E1C6CE7C}"/>
              </a:ext>
            </a:extLst>
          </p:cNvPr>
          <p:cNvSpPr txBox="1"/>
          <p:nvPr/>
        </p:nvSpPr>
        <p:spPr>
          <a:xfrm>
            <a:off x="9723664" y="4816929"/>
            <a:ext cx="1781175" cy="1331583"/>
          </a:xfrm>
          <a:prstGeom prst="rect">
            <a:avLst/>
          </a:prstGeom>
          <a:noFill/>
        </p:spPr>
        <p:txBody>
          <a:bodyPr rot="0" spcFirstLastPara="0" vertOverflow="overflow" horzOverflow="overflow" vert="horz" wrap="square" lIns="60960" tIns="30480" rIns="60960" bIns="30480" numCol="1" spcCol="0" rtlCol="0" fromWordArt="0" anchor="t" anchorCtr="0" forceAA="0" compatLnSpc="1">
            <a:prstTxWarp prst="textNoShape">
              <a:avLst/>
            </a:prstTxWarp>
            <a:spAutoFit/>
          </a:bodyPr>
          <a:lstStyle/>
          <a:p>
            <a:pPr marL="135897" lvl="1">
              <a:lnSpc>
                <a:spcPct val="150000"/>
              </a:lnSpc>
            </a:pPr>
            <a:r>
              <a:rPr lang="en-US" sz="933">
                <a:latin typeface="Canva Sans"/>
                <a:ea typeface="Arial"/>
                <a:cs typeface="Arial"/>
              </a:rPr>
              <a:t>SQL Analyst Agent​</a:t>
            </a:r>
            <a:endParaRPr lang="en-US" sz="933">
              <a:ea typeface="Calibri"/>
              <a:cs typeface="Calibri"/>
            </a:endParaRPr>
          </a:p>
          <a:p>
            <a:pPr marL="271370" lvl="1">
              <a:lnSpc>
                <a:spcPct val="150000"/>
              </a:lnSpc>
              <a:buFont typeface="Arial,Sans-Serif"/>
              <a:buChar char="•"/>
            </a:pPr>
            <a:endParaRPr lang="en-US" sz="933">
              <a:latin typeface="Canva Sans"/>
              <a:ea typeface="Arial"/>
              <a:cs typeface="Arial"/>
            </a:endParaRPr>
          </a:p>
          <a:p>
            <a:pPr marL="135897" lvl="1">
              <a:lnSpc>
                <a:spcPct val="150000"/>
              </a:lnSpc>
            </a:pPr>
            <a:r>
              <a:rPr lang="en-US" sz="933">
                <a:latin typeface="Canva Sans"/>
                <a:ea typeface="Arial"/>
                <a:cs typeface="Arial"/>
              </a:rPr>
              <a:t>Knowledge Base Agent​</a:t>
            </a:r>
          </a:p>
          <a:p>
            <a:pPr marL="135897" lvl="1">
              <a:lnSpc>
                <a:spcPct val="150000"/>
              </a:lnSpc>
            </a:pPr>
            <a:endParaRPr lang="en-US" sz="933">
              <a:latin typeface="Canva Sans"/>
              <a:ea typeface="Arial"/>
              <a:cs typeface="Arial"/>
            </a:endParaRPr>
          </a:p>
          <a:p>
            <a:pPr marL="135897" lvl="1">
              <a:lnSpc>
                <a:spcPct val="150000"/>
              </a:lnSpc>
            </a:pPr>
            <a:r>
              <a:rPr lang="en-US" sz="933">
                <a:latin typeface="Canva Sans"/>
                <a:ea typeface="Arial"/>
                <a:cs typeface="Arial"/>
              </a:rPr>
              <a:t>Competitive intelligence Agent​</a:t>
            </a:r>
          </a:p>
          <a:p>
            <a:pPr algn="ctr">
              <a:lnSpc>
                <a:spcPct val="150000"/>
              </a:lnSpc>
            </a:pPr>
            <a:endParaRPr lang="en-US" sz="933">
              <a:latin typeface="Canva Sans"/>
            </a:endParaRPr>
          </a:p>
        </p:txBody>
      </p:sp>
      <p:sp>
        <p:nvSpPr>
          <p:cNvPr id="1024" name="TextBox 1023">
            <a:extLst>
              <a:ext uri="{FF2B5EF4-FFF2-40B4-BE49-F238E27FC236}">
                <a16:creationId xmlns:a16="http://schemas.microsoft.com/office/drawing/2014/main" id="{F5B741CF-05D6-3D81-D40F-A22F5859BA13}"/>
              </a:ext>
            </a:extLst>
          </p:cNvPr>
          <p:cNvSpPr txBox="1"/>
          <p:nvPr/>
        </p:nvSpPr>
        <p:spPr>
          <a:xfrm>
            <a:off x="6012088" y="1561231"/>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Dashboard Intelligence</a:t>
            </a:r>
            <a:endParaRPr lang="en-US" sz="1200"/>
          </a:p>
        </p:txBody>
      </p:sp>
      <p:sp>
        <p:nvSpPr>
          <p:cNvPr id="1025" name="TextBox 1024">
            <a:extLst>
              <a:ext uri="{FF2B5EF4-FFF2-40B4-BE49-F238E27FC236}">
                <a16:creationId xmlns:a16="http://schemas.microsoft.com/office/drawing/2014/main" id="{5B5527C6-4B79-510A-970C-B1394BBFF696}"/>
              </a:ext>
            </a:extLst>
          </p:cNvPr>
          <p:cNvSpPr txBox="1"/>
          <p:nvPr/>
        </p:nvSpPr>
        <p:spPr>
          <a:xfrm>
            <a:off x="9136289" y="156123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rPr>
              <a:t>Orchestrator &amp; Context Handler</a:t>
            </a:r>
          </a:p>
        </p:txBody>
      </p:sp>
      <p:sp>
        <p:nvSpPr>
          <p:cNvPr id="1027" name="TextBox 1026">
            <a:extLst>
              <a:ext uri="{FF2B5EF4-FFF2-40B4-BE49-F238E27FC236}">
                <a16:creationId xmlns:a16="http://schemas.microsoft.com/office/drawing/2014/main" id="{173EA12A-74FD-FE17-CB03-1D1C2E763006}"/>
              </a:ext>
            </a:extLst>
          </p:cNvPr>
          <p:cNvSpPr txBox="1"/>
          <p:nvPr/>
        </p:nvSpPr>
        <p:spPr>
          <a:xfrm>
            <a:off x="9136288"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AI Agents</a:t>
            </a:r>
            <a:endParaRPr lang="en-US" sz="1200"/>
          </a:p>
        </p:txBody>
      </p:sp>
      <p:sp>
        <p:nvSpPr>
          <p:cNvPr id="1028" name="TextBox 1027">
            <a:extLst>
              <a:ext uri="{FF2B5EF4-FFF2-40B4-BE49-F238E27FC236}">
                <a16:creationId xmlns:a16="http://schemas.microsoft.com/office/drawing/2014/main" id="{D384A8A6-0604-0D41-9281-E53E5A0AF938}"/>
              </a:ext>
            </a:extLst>
          </p:cNvPr>
          <p:cNvSpPr txBox="1"/>
          <p:nvPr/>
        </p:nvSpPr>
        <p:spPr>
          <a:xfrm>
            <a:off x="5993039"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LLM Foundation Model</a:t>
            </a:r>
            <a:endParaRPr lang="en-US" sz="1200"/>
          </a:p>
        </p:txBody>
      </p:sp>
      <p:sp>
        <p:nvSpPr>
          <p:cNvPr id="1029" name="TextBox 1028">
            <a:extLst>
              <a:ext uri="{FF2B5EF4-FFF2-40B4-BE49-F238E27FC236}">
                <a16:creationId xmlns:a16="http://schemas.microsoft.com/office/drawing/2014/main" id="{E9CD5E50-0E85-D196-701A-ED3B02399C2C}"/>
              </a:ext>
            </a:extLst>
          </p:cNvPr>
          <p:cNvSpPr txBox="1"/>
          <p:nvPr/>
        </p:nvSpPr>
        <p:spPr>
          <a:xfrm>
            <a:off x="3106964" y="4333007"/>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Data Integration &amp; Processing</a:t>
            </a:r>
            <a:endParaRPr lang="en-US" sz="1200"/>
          </a:p>
        </p:txBody>
      </p:sp>
      <p:sp>
        <p:nvSpPr>
          <p:cNvPr id="1030" name="TextBox 1029">
            <a:extLst>
              <a:ext uri="{FF2B5EF4-FFF2-40B4-BE49-F238E27FC236}">
                <a16:creationId xmlns:a16="http://schemas.microsoft.com/office/drawing/2014/main" id="{128F3F6D-ED96-0BA1-B42E-552E40F2FE57}"/>
              </a:ext>
            </a:extLst>
          </p:cNvPr>
          <p:cNvSpPr txBox="1"/>
          <p:nvPr/>
        </p:nvSpPr>
        <p:spPr>
          <a:xfrm>
            <a:off x="306614" y="4285382"/>
            <a:ext cx="2244725" cy="270780"/>
          </a:xfrm>
          <a:prstGeom prst="rect">
            <a:avLst/>
          </a:prstGeom>
          <a:noFill/>
        </p:spPr>
        <p:txBody>
          <a:bodyPr wrap="square" lIns="60960" tIns="30480" rIns="60960" bIns="30480" anchor="t">
            <a:spAutoFit/>
          </a:bodyPr>
          <a:lstStyle/>
          <a:p>
            <a:pPr algn="ctr">
              <a:lnSpc>
                <a:spcPts val="1760"/>
              </a:lnSpc>
              <a:spcBef>
                <a:spcPct val="0"/>
              </a:spcBef>
            </a:pPr>
            <a:r>
              <a:rPr lang="en-US" sz="1067" b="1">
                <a:solidFill>
                  <a:srgbClr val="000000"/>
                </a:solidFill>
                <a:latin typeface="Canva Sans Bold"/>
                <a:sym typeface="Canva Sans Bold"/>
              </a:rPr>
              <a:t>Foundation Infrastructure</a:t>
            </a:r>
            <a:endParaRPr lang="en-US" sz="1200"/>
          </a:p>
        </p:txBody>
      </p:sp>
      <p:sp>
        <p:nvSpPr>
          <p:cNvPr id="1031" name="Arrow: Notched Right 1030">
            <a:extLst>
              <a:ext uri="{FF2B5EF4-FFF2-40B4-BE49-F238E27FC236}">
                <a16:creationId xmlns:a16="http://schemas.microsoft.com/office/drawing/2014/main" id="{CA4E8DDD-6C97-7AA9-33F1-60D5A765B25A}"/>
              </a:ext>
            </a:extLst>
          </p:cNvPr>
          <p:cNvSpPr/>
          <p:nvPr/>
        </p:nvSpPr>
        <p:spPr>
          <a:xfrm>
            <a:off x="5464467" y="250187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2" name="Arrow: Notched Right 1031">
            <a:extLst>
              <a:ext uri="{FF2B5EF4-FFF2-40B4-BE49-F238E27FC236}">
                <a16:creationId xmlns:a16="http://schemas.microsoft.com/office/drawing/2014/main" id="{13652C23-2673-C8E0-2AE8-B946126DC70F}"/>
              </a:ext>
            </a:extLst>
          </p:cNvPr>
          <p:cNvSpPr/>
          <p:nvPr/>
        </p:nvSpPr>
        <p:spPr>
          <a:xfrm rot="10800000">
            <a:off x="5483517" y="529269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3" name="Arrow: Notched Right 1032">
            <a:extLst>
              <a:ext uri="{FF2B5EF4-FFF2-40B4-BE49-F238E27FC236}">
                <a16:creationId xmlns:a16="http://schemas.microsoft.com/office/drawing/2014/main" id="{800FB02C-C0F5-058D-27B3-F31FF59C5325}"/>
              </a:ext>
            </a:extLst>
          </p:cNvPr>
          <p:cNvSpPr/>
          <p:nvPr/>
        </p:nvSpPr>
        <p:spPr>
          <a:xfrm rot="10800000">
            <a:off x="2616492" y="5264125"/>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sp>
        <p:nvSpPr>
          <p:cNvPr id="1034" name="Arrow: Notched Right 1033">
            <a:extLst>
              <a:ext uri="{FF2B5EF4-FFF2-40B4-BE49-F238E27FC236}">
                <a16:creationId xmlns:a16="http://schemas.microsoft.com/office/drawing/2014/main" id="{E793C942-82A9-BC1D-C2EF-8C4B22A53EB1}"/>
              </a:ext>
            </a:extLst>
          </p:cNvPr>
          <p:cNvSpPr/>
          <p:nvPr/>
        </p:nvSpPr>
        <p:spPr>
          <a:xfrm rot="10800000">
            <a:off x="8541042" y="5311749"/>
            <a:ext cx="432333" cy="214146"/>
          </a:xfrm>
          <a:prstGeom prst="notched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200"/>
          </a:p>
        </p:txBody>
      </p:sp>
      <p:pic>
        <p:nvPicPr>
          <p:cNvPr id="1035" name="Picture 1034" descr="A blue cylinder with a yellow sign&#10;&#10;AI-generated content may be incorrect.">
            <a:extLst>
              <a:ext uri="{FF2B5EF4-FFF2-40B4-BE49-F238E27FC236}">
                <a16:creationId xmlns:a16="http://schemas.microsoft.com/office/drawing/2014/main" id="{ADD39990-04F3-E4BF-CE39-B48EE339DD56}"/>
              </a:ext>
            </a:extLst>
          </p:cNvPr>
          <p:cNvPicPr>
            <a:picLocks noChangeAspect="1"/>
          </p:cNvPicPr>
          <p:nvPr/>
        </p:nvPicPr>
        <p:blipFill>
          <a:blip r:embed="rId23"/>
          <a:stretch>
            <a:fillRect/>
          </a:stretch>
        </p:blipFill>
        <p:spPr>
          <a:xfrm>
            <a:off x="9298214" y="4753428"/>
            <a:ext cx="479425" cy="412751"/>
          </a:xfrm>
          <a:prstGeom prst="rect">
            <a:avLst/>
          </a:prstGeom>
        </p:spPr>
      </p:pic>
      <p:pic>
        <p:nvPicPr>
          <p:cNvPr id="1036" name="Picture 1035" descr="A person wearing a headset&#10;&#10;AI-generated content may be incorrect.">
            <a:extLst>
              <a:ext uri="{FF2B5EF4-FFF2-40B4-BE49-F238E27FC236}">
                <a16:creationId xmlns:a16="http://schemas.microsoft.com/office/drawing/2014/main" id="{5995CF87-5C93-6818-2876-1005092AEAA2}"/>
              </a:ext>
            </a:extLst>
          </p:cNvPr>
          <p:cNvPicPr>
            <a:picLocks noChangeAspect="1"/>
          </p:cNvPicPr>
          <p:nvPr/>
        </p:nvPicPr>
        <p:blipFill>
          <a:blip r:embed="rId24"/>
          <a:stretch>
            <a:fillRect/>
          </a:stretch>
        </p:blipFill>
        <p:spPr>
          <a:xfrm>
            <a:off x="9288689" y="5296354"/>
            <a:ext cx="498475" cy="422275"/>
          </a:xfrm>
          <a:prstGeom prst="rect">
            <a:avLst/>
          </a:prstGeom>
        </p:spPr>
      </p:pic>
      <p:pic>
        <p:nvPicPr>
          <p:cNvPr id="1037" name="Picture 1036" descr="A cartoon of a robot&#10;&#10;AI-generated content may be incorrect.">
            <a:extLst>
              <a:ext uri="{FF2B5EF4-FFF2-40B4-BE49-F238E27FC236}">
                <a16:creationId xmlns:a16="http://schemas.microsoft.com/office/drawing/2014/main" id="{C5B79E3A-4EA9-0472-D1C2-8AC13E414C47}"/>
              </a:ext>
            </a:extLst>
          </p:cNvPr>
          <p:cNvPicPr>
            <a:picLocks noChangeAspect="1"/>
          </p:cNvPicPr>
          <p:nvPr/>
        </p:nvPicPr>
        <p:blipFill>
          <a:blip r:embed="rId25"/>
          <a:stretch>
            <a:fillRect/>
          </a:stretch>
        </p:blipFill>
        <p:spPr>
          <a:xfrm>
            <a:off x="9336314" y="5724979"/>
            <a:ext cx="403225" cy="441325"/>
          </a:xfrm>
          <a:prstGeom prst="rect">
            <a:avLst/>
          </a:prstGeom>
        </p:spPr>
      </p:pic>
      <p:sp>
        <p:nvSpPr>
          <p:cNvPr id="1038" name="Freeform 28">
            <a:extLst>
              <a:ext uri="{FF2B5EF4-FFF2-40B4-BE49-F238E27FC236}">
                <a16:creationId xmlns:a16="http://schemas.microsoft.com/office/drawing/2014/main" id="{A1BC801E-8040-FEC6-5DA6-DAAF33D46A71}"/>
              </a:ext>
            </a:extLst>
          </p:cNvPr>
          <p:cNvSpPr/>
          <p:nvPr/>
        </p:nvSpPr>
        <p:spPr>
          <a:xfrm>
            <a:off x="6224658" y="4889040"/>
            <a:ext cx="326394" cy="287791"/>
          </a:xfrm>
          <a:custGeom>
            <a:avLst/>
            <a:gdLst/>
            <a:ahLst/>
            <a:cxnLst/>
            <a:rect l="l" t="t" r="r" b="b"/>
            <a:pathLst>
              <a:path w="946791" h="874598">
                <a:moveTo>
                  <a:pt x="0" y="0"/>
                </a:moveTo>
                <a:lnTo>
                  <a:pt x="946791" y="0"/>
                </a:lnTo>
                <a:lnTo>
                  <a:pt x="946791" y="874598"/>
                </a:lnTo>
                <a:lnTo>
                  <a:pt x="0" y="874598"/>
                </a:lnTo>
                <a:lnTo>
                  <a:pt x="0" y="0"/>
                </a:lnTo>
                <a:close/>
              </a:path>
            </a:pathLst>
          </a:custGeom>
          <a:blipFill>
            <a:blip r:embed="rId26"/>
            <a:stretch>
              <a:fillRect/>
            </a:stretch>
          </a:blipFill>
        </p:spPr>
        <p:txBody>
          <a:bodyPr/>
          <a:lstStyle/>
          <a:p>
            <a:endParaRPr lang="en-IN" sz="1200"/>
          </a:p>
        </p:txBody>
      </p:sp>
      <p:sp>
        <p:nvSpPr>
          <p:cNvPr id="1039" name="Freeform 29">
            <a:extLst>
              <a:ext uri="{FF2B5EF4-FFF2-40B4-BE49-F238E27FC236}">
                <a16:creationId xmlns:a16="http://schemas.microsoft.com/office/drawing/2014/main" id="{D66C3C51-F638-8328-6CEC-2D683481E634}"/>
              </a:ext>
            </a:extLst>
          </p:cNvPr>
          <p:cNvSpPr/>
          <p:nvPr/>
        </p:nvSpPr>
        <p:spPr>
          <a:xfrm>
            <a:off x="6176402" y="5383797"/>
            <a:ext cx="635094" cy="206351"/>
          </a:xfrm>
          <a:custGeom>
            <a:avLst/>
            <a:gdLst/>
            <a:ahLst/>
            <a:cxnLst/>
            <a:rect l="l" t="t" r="r" b="b"/>
            <a:pathLst>
              <a:path w="1452703" h="366676">
                <a:moveTo>
                  <a:pt x="0" y="0"/>
                </a:moveTo>
                <a:lnTo>
                  <a:pt x="1452702" y="0"/>
                </a:lnTo>
                <a:lnTo>
                  <a:pt x="1452702" y="366676"/>
                </a:lnTo>
                <a:lnTo>
                  <a:pt x="0" y="366676"/>
                </a:lnTo>
                <a:lnTo>
                  <a:pt x="0" y="0"/>
                </a:lnTo>
                <a:close/>
              </a:path>
            </a:pathLst>
          </a:custGeom>
          <a:blipFill>
            <a:blip r:embed="rId27"/>
            <a:stretch>
              <a:fillRect l="-9693" t="-111291" r="-52538" b="-126661"/>
            </a:stretch>
          </a:blipFill>
        </p:spPr>
        <p:txBody>
          <a:bodyPr/>
          <a:lstStyle/>
          <a:p>
            <a:endParaRPr lang="en-IN" sz="1200"/>
          </a:p>
        </p:txBody>
      </p:sp>
      <p:sp>
        <p:nvSpPr>
          <p:cNvPr id="1040" name="Freeform 30">
            <a:extLst>
              <a:ext uri="{FF2B5EF4-FFF2-40B4-BE49-F238E27FC236}">
                <a16:creationId xmlns:a16="http://schemas.microsoft.com/office/drawing/2014/main" id="{FC50284C-2890-18B0-BC97-2C269A2DADAF}"/>
              </a:ext>
            </a:extLst>
          </p:cNvPr>
          <p:cNvSpPr/>
          <p:nvPr/>
        </p:nvSpPr>
        <p:spPr>
          <a:xfrm>
            <a:off x="6189698" y="5755272"/>
            <a:ext cx="638793" cy="284493"/>
          </a:xfrm>
          <a:custGeom>
            <a:avLst/>
            <a:gdLst/>
            <a:ahLst/>
            <a:cxnLst/>
            <a:rect l="l" t="t" r="r" b="b"/>
            <a:pathLst>
              <a:path w="2086901" h="826790">
                <a:moveTo>
                  <a:pt x="0" y="0"/>
                </a:moveTo>
                <a:lnTo>
                  <a:pt x="2086902" y="0"/>
                </a:lnTo>
                <a:lnTo>
                  <a:pt x="2086902" y="826789"/>
                </a:lnTo>
                <a:lnTo>
                  <a:pt x="0" y="826789"/>
                </a:lnTo>
                <a:lnTo>
                  <a:pt x="0" y="0"/>
                </a:lnTo>
                <a:close/>
              </a:path>
            </a:pathLst>
          </a:custGeom>
          <a:blipFill>
            <a:blip r:embed="rId28"/>
            <a:stretch>
              <a:fillRect t="-27817" b="-29494"/>
            </a:stretch>
          </a:blipFill>
        </p:spPr>
        <p:txBody>
          <a:bodyPr/>
          <a:lstStyle/>
          <a:p>
            <a:endParaRPr lang="en-IN" sz="1200"/>
          </a:p>
        </p:txBody>
      </p:sp>
      <p:sp>
        <p:nvSpPr>
          <p:cNvPr id="1041" name="Freeform 31">
            <a:extLst>
              <a:ext uri="{FF2B5EF4-FFF2-40B4-BE49-F238E27FC236}">
                <a16:creationId xmlns:a16="http://schemas.microsoft.com/office/drawing/2014/main" id="{26DC2A1E-812B-ED74-DBD4-83B49EB48139}"/>
              </a:ext>
            </a:extLst>
          </p:cNvPr>
          <p:cNvSpPr/>
          <p:nvPr/>
        </p:nvSpPr>
        <p:spPr>
          <a:xfrm>
            <a:off x="3333845" y="4886315"/>
            <a:ext cx="508288" cy="341579"/>
          </a:xfrm>
          <a:custGeom>
            <a:avLst/>
            <a:gdLst/>
            <a:ahLst/>
            <a:cxnLst/>
            <a:rect l="l" t="t" r="r" b="b"/>
            <a:pathLst>
              <a:path w="1219632" h="698106">
                <a:moveTo>
                  <a:pt x="0" y="0"/>
                </a:moveTo>
                <a:lnTo>
                  <a:pt x="1219632" y="0"/>
                </a:lnTo>
                <a:lnTo>
                  <a:pt x="1219632" y="698106"/>
                </a:lnTo>
                <a:lnTo>
                  <a:pt x="0" y="698106"/>
                </a:lnTo>
                <a:lnTo>
                  <a:pt x="0" y="0"/>
                </a:lnTo>
                <a:close/>
              </a:path>
            </a:pathLst>
          </a:custGeom>
          <a:blipFill>
            <a:blip r:embed="rId29"/>
            <a:stretch>
              <a:fillRect/>
            </a:stretch>
          </a:blipFill>
        </p:spPr>
        <p:txBody>
          <a:bodyPr/>
          <a:lstStyle/>
          <a:p>
            <a:endParaRPr lang="en-IN" sz="1200"/>
          </a:p>
        </p:txBody>
      </p:sp>
      <p:sp>
        <p:nvSpPr>
          <p:cNvPr id="1042" name="Freeform 32">
            <a:extLst>
              <a:ext uri="{FF2B5EF4-FFF2-40B4-BE49-F238E27FC236}">
                <a16:creationId xmlns:a16="http://schemas.microsoft.com/office/drawing/2014/main" id="{B7347961-CFAE-632B-9B85-971CE664D601}"/>
              </a:ext>
            </a:extLst>
          </p:cNvPr>
          <p:cNvSpPr/>
          <p:nvPr/>
        </p:nvSpPr>
        <p:spPr>
          <a:xfrm>
            <a:off x="3451731" y="5329840"/>
            <a:ext cx="316806" cy="336204"/>
          </a:xfrm>
          <a:custGeom>
            <a:avLst/>
            <a:gdLst/>
            <a:ahLst/>
            <a:cxnLst/>
            <a:rect l="l" t="t" r="r" b="b"/>
            <a:pathLst>
              <a:path w="903834" h="761480">
                <a:moveTo>
                  <a:pt x="0" y="0"/>
                </a:moveTo>
                <a:lnTo>
                  <a:pt x="903834" y="0"/>
                </a:lnTo>
                <a:lnTo>
                  <a:pt x="903834" y="761480"/>
                </a:lnTo>
                <a:lnTo>
                  <a:pt x="0" y="761480"/>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N" sz="1200"/>
          </a:p>
        </p:txBody>
      </p:sp>
      <p:sp>
        <p:nvSpPr>
          <p:cNvPr id="1043" name="Freeform 33">
            <a:extLst>
              <a:ext uri="{FF2B5EF4-FFF2-40B4-BE49-F238E27FC236}">
                <a16:creationId xmlns:a16="http://schemas.microsoft.com/office/drawing/2014/main" id="{AC788A65-542F-22A2-811F-8354F58C95B9}"/>
              </a:ext>
            </a:extLst>
          </p:cNvPr>
          <p:cNvSpPr/>
          <p:nvPr/>
        </p:nvSpPr>
        <p:spPr>
          <a:xfrm>
            <a:off x="3392515" y="5755272"/>
            <a:ext cx="427670" cy="358447"/>
          </a:xfrm>
          <a:custGeom>
            <a:avLst/>
            <a:gdLst/>
            <a:ahLst/>
            <a:cxnLst/>
            <a:rect l="l" t="t" r="r" b="b"/>
            <a:pathLst>
              <a:path w="812955" h="751983">
                <a:moveTo>
                  <a:pt x="0" y="0"/>
                </a:moveTo>
                <a:lnTo>
                  <a:pt x="812955" y="0"/>
                </a:lnTo>
                <a:lnTo>
                  <a:pt x="812955" y="751983"/>
                </a:lnTo>
                <a:lnTo>
                  <a:pt x="0" y="751983"/>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IN" sz="1200"/>
          </a:p>
        </p:txBody>
      </p:sp>
      <p:sp>
        <p:nvSpPr>
          <p:cNvPr id="1044" name="Freeform 34">
            <a:extLst>
              <a:ext uri="{FF2B5EF4-FFF2-40B4-BE49-F238E27FC236}">
                <a16:creationId xmlns:a16="http://schemas.microsoft.com/office/drawing/2014/main" id="{46F36B58-FC4D-D170-19F8-E61309436671}"/>
              </a:ext>
            </a:extLst>
          </p:cNvPr>
          <p:cNvSpPr/>
          <p:nvPr/>
        </p:nvSpPr>
        <p:spPr>
          <a:xfrm>
            <a:off x="604561" y="4838690"/>
            <a:ext cx="323127" cy="333985"/>
          </a:xfrm>
          <a:custGeom>
            <a:avLst/>
            <a:gdLst/>
            <a:ahLst/>
            <a:cxnLst/>
            <a:rect l="l" t="t" r="r" b="b"/>
            <a:pathLst>
              <a:path w="756153" h="743865">
                <a:moveTo>
                  <a:pt x="0" y="0"/>
                </a:moveTo>
                <a:lnTo>
                  <a:pt x="756153" y="0"/>
                </a:lnTo>
                <a:lnTo>
                  <a:pt x="756153" y="743866"/>
                </a:lnTo>
                <a:lnTo>
                  <a:pt x="0" y="74386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IN" sz="1200"/>
          </a:p>
        </p:txBody>
      </p:sp>
      <p:sp>
        <p:nvSpPr>
          <p:cNvPr id="1045" name="Freeform 35">
            <a:extLst>
              <a:ext uri="{FF2B5EF4-FFF2-40B4-BE49-F238E27FC236}">
                <a16:creationId xmlns:a16="http://schemas.microsoft.com/office/drawing/2014/main" id="{E385ECDF-7D7D-C2A5-7DAB-2693A5C9126B}"/>
              </a:ext>
            </a:extLst>
          </p:cNvPr>
          <p:cNvSpPr/>
          <p:nvPr/>
        </p:nvSpPr>
        <p:spPr>
          <a:xfrm>
            <a:off x="505465" y="5296042"/>
            <a:ext cx="427586" cy="381773"/>
          </a:xfrm>
          <a:custGeom>
            <a:avLst/>
            <a:gdLst/>
            <a:ahLst/>
            <a:cxnLst/>
            <a:rect l="l" t="t" r="r" b="b"/>
            <a:pathLst>
              <a:path w="841403" h="829834">
                <a:moveTo>
                  <a:pt x="0" y="0"/>
                </a:moveTo>
                <a:lnTo>
                  <a:pt x="841404" y="0"/>
                </a:lnTo>
                <a:lnTo>
                  <a:pt x="841404" y="829834"/>
                </a:lnTo>
                <a:lnTo>
                  <a:pt x="0" y="829834"/>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N" sz="1200"/>
          </a:p>
        </p:txBody>
      </p:sp>
      <p:sp>
        <p:nvSpPr>
          <p:cNvPr id="1046" name="Freeform 36">
            <a:extLst>
              <a:ext uri="{FF2B5EF4-FFF2-40B4-BE49-F238E27FC236}">
                <a16:creationId xmlns:a16="http://schemas.microsoft.com/office/drawing/2014/main" id="{7372E460-1518-6CB3-E1AA-314CFA9A4493}"/>
              </a:ext>
            </a:extLst>
          </p:cNvPr>
          <p:cNvSpPr/>
          <p:nvPr/>
        </p:nvSpPr>
        <p:spPr>
          <a:xfrm>
            <a:off x="660154" y="5765250"/>
            <a:ext cx="202687" cy="262745"/>
          </a:xfrm>
          <a:custGeom>
            <a:avLst/>
            <a:gdLst/>
            <a:ahLst/>
            <a:cxnLst/>
            <a:rect l="l" t="t" r="r" b="b"/>
            <a:pathLst>
              <a:path w="475480" h="579854">
                <a:moveTo>
                  <a:pt x="0" y="0"/>
                </a:moveTo>
                <a:lnTo>
                  <a:pt x="475480" y="0"/>
                </a:lnTo>
                <a:lnTo>
                  <a:pt x="475480" y="579854"/>
                </a:lnTo>
                <a:lnTo>
                  <a:pt x="0" y="579854"/>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N" sz="1200"/>
          </a:p>
        </p:txBody>
      </p:sp>
    </p:spTree>
    <p:extLst>
      <p:ext uri="{BB962C8B-B14F-4D97-AF65-F5344CB8AC3E}">
        <p14:creationId xmlns:p14="http://schemas.microsoft.com/office/powerpoint/2010/main" val="3886068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A74CD-A24D-4326-6718-2B661F92A362}"/>
            </a:ext>
          </a:extLst>
        </p:cNvPr>
        <p:cNvGrpSpPr/>
        <p:nvPr/>
      </p:nvGrpSpPr>
      <p:grpSpPr>
        <a:xfrm>
          <a:off x="0" y="0"/>
          <a:ext cx="0" cy="0"/>
          <a:chOff x="0" y="0"/>
          <a:chExt cx="0" cy="0"/>
        </a:xfrm>
      </p:grpSpPr>
      <p:sp>
        <p:nvSpPr>
          <p:cNvPr id="10" name="Text 4">
            <a:extLst>
              <a:ext uri="{FF2B5EF4-FFF2-40B4-BE49-F238E27FC236}">
                <a16:creationId xmlns:a16="http://schemas.microsoft.com/office/drawing/2014/main" id="{4B1EE3DC-CEC3-909A-E9BB-FA36E6302FEA}"/>
              </a:ext>
            </a:extLst>
          </p:cNvPr>
          <p:cNvSpPr/>
          <p:nvPr/>
        </p:nvSpPr>
        <p:spPr>
          <a:xfrm>
            <a:off x="2383971" y="250372"/>
            <a:ext cx="6923315" cy="558701"/>
          </a:xfrm>
          <a:prstGeom prst="rect">
            <a:avLst/>
          </a:prstGeom>
          <a:noFill/>
          <a:ln/>
        </p:spPr>
        <p:txBody>
          <a:bodyPr wrap="square" lIns="0" tIns="0" rIns="0" bIns="0" rtlCol="0" anchor="t"/>
          <a:lstStyle/>
          <a:p>
            <a:pPr marL="0" indent="0">
              <a:lnSpc>
                <a:spcPts val="3240"/>
              </a:lnSpc>
              <a:buNone/>
            </a:pPr>
            <a:r>
              <a:rPr lang="en-US" sz="3200" b="1">
                <a:solidFill>
                  <a:schemeClr val="accent1"/>
                </a:solidFill>
                <a:latin typeface="Segoe UI" pitchFamily="34" charset="0"/>
                <a:cs typeface="Segoe UI" pitchFamily="34" charset="-120"/>
              </a:rPr>
              <a:t>Proposed Timeline for Deliverables</a:t>
            </a:r>
          </a:p>
        </p:txBody>
      </p:sp>
      <p:sp>
        <p:nvSpPr>
          <p:cNvPr id="23" name="Text 4">
            <a:extLst>
              <a:ext uri="{FF2B5EF4-FFF2-40B4-BE49-F238E27FC236}">
                <a16:creationId xmlns:a16="http://schemas.microsoft.com/office/drawing/2014/main" id="{57C18266-4CB7-F73C-A313-CD6078108AA6}"/>
              </a:ext>
            </a:extLst>
          </p:cNvPr>
          <p:cNvSpPr/>
          <p:nvPr/>
        </p:nvSpPr>
        <p:spPr>
          <a:xfrm>
            <a:off x="342902" y="5698531"/>
            <a:ext cx="7671399" cy="182860"/>
          </a:xfrm>
          <a:prstGeom prst="rect">
            <a:avLst/>
          </a:prstGeom>
          <a:noFill/>
          <a:ln/>
        </p:spPr>
        <p:txBody>
          <a:bodyPr wrap="square" lIns="0" tIns="0" rIns="0" bIns="0" rtlCol="0" anchor="t"/>
          <a:lstStyle/>
          <a:p>
            <a:pPr marL="0" indent="0">
              <a:lnSpc>
                <a:spcPts val="1440"/>
              </a:lnSpc>
              <a:buNone/>
            </a:pPr>
            <a:r>
              <a:rPr lang="en-US" sz="1600" b="1" dirty="0">
                <a:solidFill>
                  <a:schemeClr val="tx2"/>
                </a:solidFill>
                <a:latin typeface="Segoe UI" pitchFamily="34" charset="0"/>
                <a:ea typeface="Segoe UI" pitchFamily="34" charset="-122"/>
                <a:cs typeface="Segoe UI" pitchFamily="34" charset="-120"/>
              </a:rPr>
              <a:t>NOTE:</a:t>
            </a:r>
            <a:endParaRPr lang="en-US" sz="1600" dirty="0">
              <a:solidFill>
                <a:schemeClr val="tx2"/>
              </a:solidFill>
            </a:endParaRPr>
          </a:p>
        </p:txBody>
      </p:sp>
      <p:sp>
        <p:nvSpPr>
          <p:cNvPr id="24" name="Text 5">
            <a:extLst>
              <a:ext uri="{FF2B5EF4-FFF2-40B4-BE49-F238E27FC236}">
                <a16:creationId xmlns:a16="http://schemas.microsoft.com/office/drawing/2014/main" id="{84D5F2D7-B590-178A-551D-270FC4187AF5}"/>
              </a:ext>
            </a:extLst>
          </p:cNvPr>
          <p:cNvSpPr/>
          <p:nvPr/>
        </p:nvSpPr>
        <p:spPr>
          <a:xfrm>
            <a:off x="342899" y="5898426"/>
            <a:ext cx="10468812" cy="177699"/>
          </a:xfrm>
          <a:prstGeom prst="rect">
            <a:avLst/>
          </a:prstGeom>
          <a:noFill/>
          <a:ln/>
        </p:spPr>
        <p:txBody>
          <a:bodyPr wrap="square" lIns="0" tIns="0" rIns="0" bIns="0" rtlCol="0" anchor="t"/>
          <a:lstStyle/>
          <a:p>
            <a:pPr marL="0" indent="0">
              <a:lnSpc>
                <a:spcPts val="1596"/>
              </a:lnSpc>
              <a:buNone/>
            </a:pPr>
            <a:r>
              <a:rPr lang="en-US" sz="1600" dirty="0">
                <a:latin typeface="Segoe UI" pitchFamily="34" charset="0"/>
                <a:ea typeface="Segoe UI" pitchFamily="34" charset="-122"/>
                <a:cs typeface="Segoe UI" pitchFamily="34" charset="-120"/>
              </a:rPr>
              <a:t>This is an estimated timeline based on the current discussion and information .It might change based on the complexity of the actual project </a:t>
            </a:r>
            <a:endParaRPr lang="en-US" sz="1600" dirty="0"/>
          </a:p>
        </p:txBody>
      </p:sp>
      <p:sp>
        <p:nvSpPr>
          <p:cNvPr id="31" name="Text 6">
            <a:extLst>
              <a:ext uri="{FF2B5EF4-FFF2-40B4-BE49-F238E27FC236}">
                <a16:creationId xmlns:a16="http://schemas.microsoft.com/office/drawing/2014/main" id="{5CA99CBD-6FC3-DB56-1E12-39E3571A96FA}"/>
              </a:ext>
            </a:extLst>
          </p:cNvPr>
          <p:cNvSpPr/>
          <p:nvPr/>
        </p:nvSpPr>
        <p:spPr>
          <a:xfrm>
            <a:off x="1018202" y="1055880"/>
            <a:ext cx="3300444" cy="169321"/>
          </a:xfrm>
          <a:prstGeom prst="rect">
            <a:avLst/>
          </a:prstGeom>
          <a:noFill/>
          <a:ln/>
        </p:spPr>
        <p:txBody>
          <a:bodyPr wrap="square" lIns="0" tIns="0" rIns="0" bIns="0" rtlCol="0" anchor="t"/>
          <a:lstStyle/>
          <a:p>
            <a:pPr marL="0" indent="0">
              <a:lnSpc>
                <a:spcPts val="1368"/>
              </a:lnSpc>
              <a:buNone/>
            </a:pPr>
            <a:r>
              <a:rPr lang="en-US" sz="1600" b="1">
                <a:solidFill>
                  <a:schemeClr val="tx2"/>
                </a:solidFill>
                <a:latin typeface="Segoe UI" pitchFamily="34" charset="0"/>
                <a:cs typeface="Segoe UI" pitchFamily="34" charset="-120"/>
              </a:rPr>
              <a:t>Phase 1: Foundation (Layers 1-3)</a:t>
            </a:r>
          </a:p>
        </p:txBody>
      </p:sp>
      <p:sp>
        <p:nvSpPr>
          <p:cNvPr id="32" name="Text 7">
            <a:extLst>
              <a:ext uri="{FF2B5EF4-FFF2-40B4-BE49-F238E27FC236}">
                <a16:creationId xmlns:a16="http://schemas.microsoft.com/office/drawing/2014/main" id="{E6C4AB9B-75DD-AF10-1F17-E8DFA99973C8}"/>
              </a:ext>
            </a:extLst>
          </p:cNvPr>
          <p:cNvSpPr/>
          <p:nvPr/>
        </p:nvSpPr>
        <p:spPr>
          <a:xfrm>
            <a:off x="1018202" y="1293619"/>
            <a:ext cx="3607689" cy="170656"/>
          </a:xfrm>
          <a:prstGeom prst="rect">
            <a:avLst/>
          </a:prstGeom>
          <a:noFill/>
          <a:ln/>
        </p:spPr>
        <p:txBody>
          <a:bodyPr wrap="square" lIns="0" tIns="0" rIns="0" bIns="0" rtlCol="0" anchor="t"/>
          <a:lstStyle/>
          <a:p>
            <a:pPr>
              <a:lnSpc>
                <a:spcPts val="1368"/>
              </a:lnSpc>
            </a:pPr>
            <a:r>
              <a:rPr lang="en-US" sz="1600" b="1">
                <a:solidFill>
                  <a:schemeClr val="tx2"/>
                </a:solidFill>
                <a:latin typeface="Segoe UI" pitchFamily="34" charset="0"/>
                <a:cs typeface="Segoe UI" pitchFamily="34" charset="-120"/>
              </a:rPr>
              <a:t>Weeks 1-6</a:t>
            </a:r>
          </a:p>
        </p:txBody>
      </p:sp>
      <p:sp>
        <p:nvSpPr>
          <p:cNvPr id="33" name="Text 8">
            <a:extLst>
              <a:ext uri="{FF2B5EF4-FFF2-40B4-BE49-F238E27FC236}">
                <a16:creationId xmlns:a16="http://schemas.microsoft.com/office/drawing/2014/main" id="{5645199E-AAF7-33FE-EE55-749F4D4147B3}"/>
              </a:ext>
            </a:extLst>
          </p:cNvPr>
          <p:cNvSpPr/>
          <p:nvPr/>
        </p:nvSpPr>
        <p:spPr>
          <a:xfrm>
            <a:off x="1201063" y="1509915"/>
            <a:ext cx="4417762" cy="740569"/>
          </a:xfrm>
          <a:prstGeom prst="rect">
            <a:avLst/>
          </a:prstGeom>
          <a:noFill/>
          <a:ln/>
        </p:spPr>
        <p:txBody>
          <a:bodyPr wrap="square" lIns="0" tIns="0" rIns="0" bIns="0" rtlCol="0" anchor="t"/>
          <a:lstStyle/>
          <a:p>
            <a:pPr marL="342900" indent="-342900">
              <a:lnSpc>
                <a:spcPts val="1344"/>
              </a:lnSpc>
              <a:buSzPct val="100000"/>
              <a:buChar char="•"/>
            </a:pPr>
            <a:r>
              <a:rPr lang="en-US" sz="1600">
                <a:latin typeface="Segoe UI" pitchFamily="34" charset="0"/>
                <a:ea typeface="Segoe UI" pitchFamily="34" charset="-122"/>
                <a:cs typeface="Segoe UI" pitchFamily="34" charset="-120"/>
              </a:rPr>
              <a:t>Data warehouse setup (Snowflake/BigQuery)</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Vector DB deployment &amp; indexing</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LLM &amp; embedding model deployment</a:t>
            </a:r>
            <a:endParaRPr lang="en-US" sz="1600"/>
          </a:p>
        </p:txBody>
      </p:sp>
      <p:sp>
        <p:nvSpPr>
          <p:cNvPr id="34" name="Text 9">
            <a:extLst>
              <a:ext uri="{FF2B5EF4-FFF2-40B4-BE49-F238E27FC236}">
                <a16:creationId xmlns:a16="http://schemas.microsoft.com/office/drawing/2014/main" id="{372B848A-E693-5F74-C481-18DD73489647}"/>
              </a:ext>
            </a:extLst>
          </p:cNvPr>
          <p:cNvSpPr/>
          <p:nvPr/>
        </p:nvSpPr>
        <p:spPr>
          <a:xfrm>
            <a:off x="6690680" y="1038440"/>
            <a:ext cx="3607689" cy="173633"/>
          </a:xfrm>
          <a:prstGeom prst="rect">
            <a:avLst/>
          </a:prstGeom>
          <a:noFill/>
          <a:ln/>
        </p:spPr>
        <p:txBody>
          <a:bodyPr wrap="square" lIns="0" tIns="0" rIns="0" bIns="0" rtlCol="0" anchor="t"/>
          <a:lstStyle/>
          <a:p>
            <a:pPr indent="0">
              <a:lnSpc>
                <a:spcPts val="1368"/>
              </a:lnSpc>
              <a:buNone/>
            </a:pPr>
            <a:r>
              <a:rPr lang="en-US" sz="1600" b="1">
                <a:solidFill>
                  <a:schemeClr val="tx2"/>
                </a:solidFill>
                <a:latin typeface="Segoe UI" pitchFamily="34" charset="0"/>
                <a:cs typeface="Segoe UI" pitchFamily="34" charset="-120"/>
              </a:rPr>
              <a:t>Phase 2: Dashboard Intelligence</a:t>
            </a:r>
          </a:p>
        </p:txBody>
      </p:sp>
      <p:sp>
        <p:nvSpPr>
          <p:cNvPr id="35" name="Text 10">
            <a:extLst>
              <a:ext uri="{FF2B5EF4-FFF2-40B4-BE49-F238E27FC236}">
                <a16:creationId xmlns:a16="http://schemas.microsoft.com/office/drawing/2014/main" id="{B46609AA-5EB7-32BF-2BA8-621382247EF6}"/>
              </a:ext>
            </a:extLst>
          </p:cNvPr>
          <p:cNvSpPr/>
          <p:nvPr/>
        </p:nvSpPr>
        <p:spPr>
          <a:xfrm>
            <a:off x="6690681" y="1271653"/>
            <a:ext cx="3607689" cy="170656"/>
          </a:xfrm>
          <a:prstGeom prst="rect">
            <a:avLst/>
          </a:prstGeom>
          <a:noFill/>
          <a:ln/>
        </p:spPr>
        <p:txBody>
          <a:bodyPr wrap="square" lIns="0" tIns="0" rIns="0" bIns="0" rtlCol="0" anchor="t"/>
          <a:lstStyle/>
          <a:p>
            <a:pPr indent="0">
              <a:lnSpc>
                <a:spcPts val="1368"/>
              </a:lnSpc>
              <a:buNone/>
            </a:pPr>
            <a:r>
              <a:rPr lang="en-US" sz="1600" b="1">
                <a:solidFill>
                  <a:schemeClr val="tx2"/>
                </a:solidFill>
                <a:latin typeface="Segoe UI" pitchFamily="34" charset="0"/>
                <a:cs typeface="Segoe UI" pitchFamily="34" charset="-120"/>
              </a:rPr>
              <a:t>Weeks 7-10</a:t>
            </a:r>
          </a:p>
        </p:txBody>
      </p:sp>
      <p:sp>
        <p:nvSpPr>
          <p:cNvPr id="36" name="Text 11">
            <a:extLst>
              <a:ext uri="{FF2B5EF4-FFF2-40B4-BE49-F238E27FC236}">
                <a16:creationId xmlns:a16="http://schemas.microsoft.com/office/drawing/2014/main" id="{3ED06577-386D-4E80-F795-21938C129204}"/>
              </a:ext>
            </a:extLst>
          </p:cNvPr>
          <p:cNvSpPr/>
          <p:nvPr/>
        </p:nvSpPr>
        <p:spPr>
          <a:xfrm>
            <a:off x="6873541" y="1487949"/>
            <a:ext cx="4300257" cy="740569"/>
          </a:xfrm>
          <a:prstGeom prst="rect">
            <a:avLst/>
          </a:prstGeom>
          <a:noFill/>
          <a:ln/>
        </p:spPr>
        <p:txBody>
          <a:bodyPr wrap="square" lIns="0" tIns="0" rIns="0" bIns="0" rtlCol="0" anchor="t"/>
          <a:lstStyle/>
          <a:p>
            <a:pPr marL="342900" indent="-342900">
              <a:lnSpc>
                <a:spcPts val="1344"/>
              </a:lnSpc>
              <a:buSzPct val="100000"/>
              <a:buChar char="•"/>
            </a:pPr>
            <a:r>
              <a:rPr lang="en-US" sz="1600">
                <a:latin typeface="Segoe UI" pitchFamily="34" charset="0"/>
                <a:ea typeface="Segoe UI" pitchFamily="34" charset="-122"/>
                <a:cs typeface="Segoe UI" pitchFamily="34" charset="-120"/>
              </a:rPr>
              <a:t>BI platform metadata extraction</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Dashboard search index &amp; catalog</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Refresh coordinator implementation</a:t>
            </a:r>
            <a:endParaRPr lang="en-US" sz="1600"/>
          </a:p>
        </p:txBody>
      </p:sp>
      <p:sp>
        <p:nvSpPr>
          <p:cNvPr id="37" name="Text 12">
            <a:extLst>
              <a:ext uri="{FF2B5EF4-FFF2-40B4-BE49-F238E27FC236}">
                <a16:creationId xmlns:a16="http://schemas.microsoft.com/office/drawing/2014/main" id="{688FC801-3C04-33A7-FD5F-AB247317CF6F}"/>
              </a:ext>
            </a:extLst>
          </p:cNvPr>
          <p:cNvSpPr/>
          <p:nvPr/>
        </p:nvSpPr>
        <p:spPr>
          <a:xfrm>
            <a:off x="1018202" y="2734415"/>
            <a:ext cx="3300444" cy="170657"/>
          </a:xfrm>
          <a:prstGeom prst="rect">
            <a:avLst/>
          </a:prstGeom>
          <a:noFill/>
          <a:ln/>
        </p:spPr>
        <p:txBody>
          <a:bodyPr wrap="square" lIns="0" tIns="0" rIns="0" bIns="0" rtlCol="0" anchor="t"/>
          <a:lstStyle/>
          <a:p>
            <a:pPr>
              <a:lnSpc>
                <a:spcPts val="1368"/>
              </a:lnSpc>
            </a:pPr>
            <a:r>
              <a:rPr lang="en-US" sz="1600" b="1">
                <a:solidFill>
                  <a:schemeClr val="tx2"/>
                </a:solidFill>
                <a:latin typeface="Segoe UI" pitchFamily="34" charset="0"/>
                <a:cs typeface="Segoe UI" pitchFamily="34" charset="-120"/>
              </a:rPr>
              <a:t>Phase 3: AI Agents (Layer 4, 6)</a:t>
            </a:r>
          </a:p>
        </p:txBody>
      </p:sp>
      <p:sp>
        <p:nvSpPr>
          <p:cNvPr id="38" name="Text 13">
            <a:extLst>
              <a:ext uri="{FF2B5EF4-FFF2-40B4-BE49-F238E27FC236}">
                <a16:creationId xmlns:a16="http://schemas.microsoft.com/office/drawing/2014/main" id="{CF597EF9-702B-B07A-6607-26622BAC2DC4}"/>
              </a:ext>
            </a:extLst>
          </p:cNvPr>
          <p:cNvSpPr/>
          <p:nvPr/>
        </p:nvSpPr>
        <p:spPr>
          <a:xfrm>
            <a:off x="1018202" y="2968312"/>
            <a:ext cx="3607689" cy="170656"/>
          </a:xfrm>
          <a:prstGeom prst="rect">
            <a:avLst/>
          </a:prstGeom>
          <a:noFill/>
          <a:ln/>
        </p:spPr>
        <p:txBody>
          <a:bodyPr wrap="square" lIns="0" tIns="0" rIns="0" bIns="0" rtlCol="0" anchor="t"/>
          <a:lstStyle/>
          <a:p>
            <a:pPr indent="0">
              <a:lnSpc>
                <a:spcPts val="1368"/>
              </a:lnSpc>
              <a:buNone/>
            </a:pPr>
            <a:r>
              <a:rPr lang="en-US" sz="1600" b="1">
                <a:solidFill>
                  <a:schemeClr val="tx2"/>
                </a:solidFill>
                <a:latin typeface="Segoe UI" pitchFamily="34" charset="0"/>
                <a:cs typeface="Segoe UI" pitchFamily="34" charset="-120"/>
              </a:rPr>
              <a:t>Weeks 11-18</a:t>
            </a:r>
          </a:p>
        </p:txBody>
      </p:sp>
      <p:sp>
        <p:nvSpPr>
          <p:cNvPr id="39" name="Text 14">
            <a:extLst>
              <a:ext uri="{FF2B5EF4-FFF2-40B4-BE49-F238E27FC236}">
                <a16:creationId xmlns:a16="http://schemas.microsoft.com/office/drawing/2014/main" id="{6FF80238-CFD8-9E86-1B64-E7D8C39DCE9C}"/>
              </a:ext>
            </a:extLst>
          </p:cNvPr>
          <p:cNvSpPr/>
          <p:nvPr/>
        </p:nvSpPr>
        <p:spPr>
          <a:xfrm>
            <a:off x="1201063" y="3184611"/>
            <a:ext cx="4024080" cy="740569"/>
          </a:xfrm>
          <a:prstGeom prst="rect">
            <a:avLst/>
          </a:prstGeom>
          <a:noFill/>
          <a:ln/>
        </p:spPr>
        <p:txBody>
          <a:bodyPr wrap="square" lIns="0" tIns="0" rIns="0" bIns="0" rtlCol="0" anchor="t"/>
          <a:lstStyle/>
          <a:p>
            <a:pPr marL="342900" indent="-342900">
              <a:lnSpc>
                <a:spcPts val="1344"/>
              </a:lnSpc>
              <a:buSzPct val="100000"/>
              <a:buChar char="•"/>
            </a:pPr>
            <a:r>
              <a:rPr lang="en-US" sz="1600">
                <a:latin typeface="Segoe UI" pitchFamily="34" charset="0"/>
                <a:ea typeface="Segoe UI" pitchFamily="34" charset="-122"/>
                <a:cs typeface="Segoe UI" pitchFamily="34" charset="-120"/>
              </a:rPr>
              <a:t>SQL Analyst text-to-SQL agent</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Knowledge Base &amp; semantic search</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Competitive Intelligence agent</a:t>
            </a:r>
            <a:endParaRPr lang="en-US" sz="1600"/>
          </a:p>
        </p:txBody>
      </p:sp>
      <p:sp>
        <p:nvSpPr>
          <p:cNvPr id="40" name="Text 15">
            <a:extLst>
              <a:ext uri="{FF2B5EF4-FFF2-40B4-BE49-F238E27FC236}">
                <a16:creationId xmlns:a16="http://schemas.microsoft.com/office/drawing/2014/main" id="{02D910C8-7E07-DB7B-149F-148509448DE7}"/>
              </a:ext>
            </a:extLst>
          </p:cNvPr>
          <p:cNvSpPr/>
          <p:nvPr/>
        </p:nvSpPr>
        <p:spPr>
          <a:xfrm>
            <a:off x="6683953" y="2734082"/>
            <a:ext cx="4127758" cy="115393"/>
          </a:xfrm>
          <a:prstGeom prst="rect">
            <a:avLst/>
          </a:prstGeom>
          <a:noFill/>
          <a:ln/>
        </p:spPr>
        <p:txBody>
          <a:bodyPr wrap="square" lIns="0" tIns="0" rIns="0" bIns="0" rtlCol="0" anchor="t"/>
          <a:lstStyle/>
          <a:p>
            <a:pPr>
              <a:lnSpc>
                <a:spcPts val="1368"/>
              </a:lnSpc>
            </a:pPr>
            <a:r>
              <a:rPr lang="en-US" sz="1600" b="1">
                <a:solidFill>
                  <a:schemeClr val="tx2"/>
                </a:solidFill>
                <a:latin typeface="Segoe UI" pitchFamily="34" charset="0"/>
                <a:cs typeface="Segoe UI" pitchFamily="34" charset="-120"/>
              </a:rPr>
              <a:t>Phase 4: Orchestration (Layer 5)</a:t>
            </a:r>
          </a:p>
        </p:txBody>
      </p:sp>
      <p:sp>
        <p:nvSpPr>
          <p:cNvPr id="41" name="Text 16">
            <a:extLst>
              <a:ext uri="{FF2B5EF4-FFF2-40B4-BE49-F238E27FC236}">
                <a16:creationId xmlns:a16="http://schemas.microsoft.com/office/drawing/2014/main" id="{E56468DD-7C6F-5E0F-798B-281C14DFF5E7}"/>
              </a:ext>
            </a:extLst>
          </p:cNvPr>
          <p:cNvSpPr/>
          <p:nvPr/>
        </p:nvSpPr>
        <p:spPr>
          <a:xfrm>
            <a:off x="6690681" y="2968858"/>
            <a:ext cx="3607689" cy="170656"/>
          </a:xfrm>
          <a:prstGeom prst="rect">
            <a:avLst/>
          </a:prstGeom>
          <a:noFill/>
          <a:ln/>
        </p:spPr>
        <p:txBody>
          <a:bodyPr wrap="square" lIns="0" tIns="0" rIns="0" bIns="0" rtlCol="0" anchor="t"/>
          <a:lstStyle/>
          <a:p>
            <a:pPr>
              <a:lnSpc>
                <a:spcPts val="1368"/>
              </a:lnSpc>
            </a:pPr>
            <a:r>
              <a:rPr lang="en-US" sz="1600" b="1">
                <a:solidFill>
                  <a:schemeClr val="tx2"/>
                </a:solidFill>
                <a:latin typeface="Segoe UI" pitchFamily="34" charset="0"/>
                <a:cs typeface="Segoe UI" pitchFamily="34" charset="-120"/>
              </a:rPr>
              <a:t>Weeks 19-22</a:t>
            </a:r>
          </a:p>
        </p:txBody>
      </p:sp>
      <p:sp>
        <p:nvSpPr>
          <p:cNvPr id="42" name="Text 17">
            <a:extLst>
              <a:ext uri="{FF2B5EF4-FFF2-40B4-BE49-F238E27FC236}">
                <a16:creationId xmlns:a16="http://schemas.microsoft.com/office/drawing/2014/main" id="{D313D428-FBAF-26E0-5932-815098B1A8BB}"/>
              </a:ext>
            </a:extLst>
          </p:cNvPr>
          <p:cNvSpPr/>
          <p:nvPr/>
        </p:nvSpPr>
        <p:spPr>
          <a:xfrm>
            <a:off x="6873542" y="3185157"/>
            <a:ext cx="4093428" cy="740569"/>
          </a:xfrm>
          <a:prstGeom prst="rect">
            <a:avLst/>
          </a:prstGeom>
          <a:noFill/>
          <a:ln/>
        </p:spPr>
        <p:txBody>
          <a:bodyPr wrap="square" lIns="0" tIns="0" rIns="0" bIns="0" rtlCol="0" anchor="t"/>
          <a:lstStyle/>
          <a:p>
            <a:pPr marL="342900" indent="-342900">
              <a:lnSpc>
                <a:spcPts val="1344"/>
              </a:lnSpc>
              <a:buSzPct val="100000"/>
              <a:buChar char="•"/>
            </a:pPr>
            <a:r>
              <a:rPr lang="en-US" sz="1600">
                <a:latin typeface="Segoe UI" pitchFamily="34" charset="0"/>
                <a:ea typeface="Segoe UI" pitchFamily="34" charset="-122"/>
                <a:cs typeface="Segoe UI" pitchFamily="34" charset="-120"/>
              </a:rPr>
              <a:t>Intent classifier &amp; entity extraction</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Dashboard context handler</a:t>
            </a:r>
            <a:endParaRPr lang="en-US" sz="1600"/>
          </a:p>
          <a:p>
            <a:pPr marL="342900" indent="-342900">
              <a:lnSpc>
                <a:spcPts val="1344"/>
              </a:lnSpc>
              <a:buSzPct val="100000"/>
              <a:buChar char="•"/>
            </a:pPr>
            <a:r>
              <a:rPr lang="en-US" sz="1600">
                <a:latin typeface="Segoe UI" pitchFamily="34" charset="0"/>
                <a:ea typeface="Segoe UI" pitchFamily="34" charset="-122"/>
                <a:cs typeface="Segoe UI" pitchFamily="34" charset="-120"/>
              </a:rPr>
              <a:t>Agent orchestrator &amp; routing</a:t>
            </a:r>
            <a:endParaRPr lang="en-US" sz="1600"/>
          </a:p>
        </p:txBody>
      </p:sp>
      <p:sp>
        <p:nvSpPr>
          <p:cNvPr id="43" name="Text 18">
            <a:extLst>
              <a:ext uri="{FF2B5EF4-FFF2-40B4-BE49-F238E27FC236}">
                <a16:creationId xmlns:a16="http://schemas.microsoft.com/office/drawing/2014/main" id="{E4FFCC26-4907-B2CE-20E2-34055F56CB56}"/>
              </a:ext>
            </a:extLst>
          </p:cNvPr>
          <p:cNvSpPr/>
          <p:nvPr/>
        </p:nvSpPr>
        <p:spPr>
          <a:xfrm>
            <a:off x="1018202" y="4082599"/>
            <a:ext cx="4138644" cy="145435"/>
          </a:xfrm>
          <a:prstGeom prst="rect">
            <a:avLst/>
          </a:prstGeom>
          <a:noFill/>
          <a:ln/>
        </p:spPr>
        <p:txBody>
          <a:bodyPr wrap="square" lIns="0" tIns="0" rIns="0" bIns="0" rtlCol="0" anchor="t"/>
          <a:lstStyle/>
          <a:p>
            <a:pPr indent="0">
              <a:lnSpc>
                <a:spcPts val="1368"/>
              </a:lnSpc>
              <a:buNone/>
            </a:pPr>
            <a:r>
              <a:rPr lang="en-US" sz="1600" b="1">
                <a:solidFill>
                  <a:schemeClr val="tx2"/>
                </a:solidFill>
                <a:latin typeface="Segoe UI" pitchFamily="34" charset="0"/>
                <a:cs typeface="Segoe UI" pitchFamily="34" charset="-120"/>
              </a:rPr>
              <a:t>Phase 5-8: Security, UI &amp; Deployment</a:t>
            </a:r>
          </a:p>
        </p:txBody>
      </p:sp>
      <p:sp>
        <p:nvSpPr>
          <p:cNvPr id="44" name="Text 19">
            <a:extLst>
              <a:ext uri="{FF2B5EF4-FFF2-40B4-BE49-F238E27FC236}">
                <a16:creationId xmlns:a16="http://schemas.microsoft.com/office/drawing/2014/main" id="{B4AD8425-BFAD-EC56-9701-F6F5E6A77F1C}"/>
              </a:ext>
            </a:extLst>
          </p:cNvPr>
          <p:cNvSpPr/>
          <p:nvPr/>
        </p:nvSpPr>
        <p:spPr>
          <a:xfrm>
            <a:off x="1018202" y="4317697"/>
            <a:ext cx="7727061" cy="170656"/>
          </a:xfrm>
          <a:prstGeom prst="rect">
            <a:avLst/>
          </a:prstGeom>
          <a:noFill/>
          <a:ln/>
        </p:spPr>
        <p:txBody>
          <a:bodyPr wrap="square" lIns="0" tIns="0" rIns="0" bIns="0" rtlCol="0" anchor="t"/>
          <a:lstStyle/>
          <a:p>
            <a:pPr>
              <a:lnSpc>
                <a:spcPts val="1368"/>
              </a:lnSpc>
            </a:pPr>
            <a:r>
              <a:rPr lang="en-US" sz="1600" b="1">
                <a:solidFill>
                  <a:schemeClr val="tx2"/>
                </a:solidFill>
                <a:latin typeface="Segoe UI" pitchFamily="34" charset="0"/>
                <a:cs typeface="Segoe UI" pitchFamily="34" charset="-120"/>
              </a:rPr>
              <a:t>Weeks 23-28 (Security Layer 7 + Embedded/Traditional UI Layer 8 + Testing)</a:t>
            </a:r>
          </a:p>
        </p:txBody>
      </p:sp>
      <p:sp>
        <p:nvSpPr>
          <p:cNvPr id="45" name="Text 20">
            <a:extLst>
              <a:ext uri="{FF2B5EF4-FFF2-40B4-BE49-F238E27FC236}">
                <a16:creationId xmlns:a16="http://schemas.microsoft.com/office/drawing/2014/main" id="{8302D259-E0C2-7FCF-DB75-F82C11260394}"/>
              </a:ext>
            </a:extLst>
          </p:cNvPr>
          <p:cNvSpPr/>
          <p:nvPr/>
        </p:nvSpPr>
        <p:spPr>
          <a:xfrm>
            <a:off x="702516" y="4533993"/>
            <a:ext cx="8604770" cy="859409"/>
          </a:xfrm>
          <a:prstGeom prst="rect">
            <a:avLst/>
          </a:prstGeom>
          <a:noFill/>
          <a:ln/>
        </p:spPr>
        <p:txBody>
          <a:bodyPr wrap="square" lIns="0" tIns="0" rIns="0" bIns="0" rtlCol="0" anchor="t"/>
          <a:lstStyle/>
          <a:p>
            <a:pPr lvl="1">
              <a:lnSpc>
                <a:spcPts val="1440"/>
              </a:lnSpc>
            </a:pPr>
            <a:r>
              <a:rPr lang="en-US" sz="1600">
                <a:latin typeface="Segoe UI" pitchFamily="34" charset="0"/>
                <a:ea typeface="Segoe UI" pitchFamily="34" charset="-122"/>
                <a:cs typeface="Segoe UI" pitchFamily="34" charset="-120"/>
              </a:rPr>
              <a:t>• RLS ,Data Masking &amp; Auth layer</a:t>
            </a:r>
          </a:p>
          <a:p>
            <a:pPr lvl="1">
              <a:lnSpc>
                <a:spcPts val="1440"/>
              </a:lnSpc>
            </a:pPr>
            <a:r>
              <a:rPr lang="en-US" sz="1600">
                <a:latin typeface="Segoe UI" pitchFamily="34" charset="0"/>
                <a:ea typeface="Segoe UI" pitchFamily="34" charset="-122"/>
                <a:cs typeface="Segoe UI" pitchFamily="34" charset="-120"/>
              </a:rPr>
              <a:t>• Tableau/Power BI Extensions &amp; Stream lit/Web App </a:t>
            </a:r>
          </a:p>
          <a:p>
            <a:pPr lvl="1">
              <a:lnSpc>
                <a:spcPts val="1440"/>
              </a:lnSpc>
            </a:pPr>
            <a:r>
              <a:rPr lang="en-US" sz="1600">
                <a:latin typeface="Segoe UI" pitchFamily="34" charset="0"/>
                <a:ea typeface="Segoe UI" pitchFamily="34" charset="-122"/>
                <a:cs typeface="Segoe UI" pitchFamily="34" charset="-120"/>
              </a:rPr>
              <a:t>• Teams/Salesforce Integration &amp; Audit Logging </a:t>
            </a:r>
          </a:p>
          <a:p>
            <a:pPr lvl="1">
              <a:lnSpc>
                <a:spcPts val="1440"/>
              </a:lnSpc>
            </a:pPr>
            <a:r>
              <a:rPr lang="en-US" sz="1600">
                <a:latin typeface="Segoe UI" pitchFamily="34" charset="0"/>
                <a:ea typeface="Segoe UI" pitchFamily="34" charset="-122"/>
                <a:cs typeface="Segoe UI" pitchFamily="34" charset="-120"/>
              </a:rPr>
              <a:t>• Testing &amp; Production Deployment</a:t>
            </a:r>
            <a:endParaRPr lang="en-US" sz="1600"/>
          </a:p>
        </p:txBody>
      </p:sp>
    </p:spTree>
    <p:extLst>
      <p:ext uri="{BB962C8B-B14F-4D97-AF65-F5344CB8AC3E}">
        <p14:creationId xmlns:p14="http://schemas.microsoft.com/office/powerpoint/2010/main" val="3574332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5773-4028-C713-0702-B4C2CCCA9B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CC1F8B-4833-D6FB-23D3-EC219AD301EB}"/>
              </a:ext>
            </a:extLst>
          </p:cNvPr>
          <p:cNvSpPr/>
          <p:nvPr/>
        </p:nvSpPr>
        <p:spPr>
          <a:xfrm>
            <a:off x="1778750" y="2020277"/>
            <a:ext cx="8192564" cy="1323439"/>
          </a:xfrm>
          <a:prstGeom prst="rect">
            <a:avLst/>
          </a:prstGeom>
          <a:noFill/>
        </p:spPr>
        <p:txBody>
          <a:bodyPr wrap="square" lIns="91440" tIns="45720" rIns="91440" bIns="45720">
            <a:spAutoFit/>
          </a:bodyPr>
          <a:lstStyle/>
          <a:p>
            <a:pPr algn="ctr"/>
            <a:r>
              <a:rPr lang="en-US" sz="8000" b="0" cap="none" spc="0">
                <a:ln w="0"/>
                <a:solidFill>
                  <a:schemeClr val="accent1"/>
                </a:solidFill>
                <a:effectLst>
                  <a:outerShdw blurRad="38100" dist="25400" dir="5400000" algn="ctr" rotWithShape="0">
                    <a:srgbClr val="6E747A">
                      <a:alpha val="43000"/>
                    </a:srgbClr>
                  </a:outerShdw>
                </a:effectLst>
              </a:rPr>
              <a:t>!!!  THANK YOU  !!!</a:t>
            </a:r>
          </a:p>
        </p:txBody>
      </p:sp>
    </p:spTree>
    <p:extLst>
      <p:ext uri="{BB962C8B-B14F-4D97-AF65-F5344CB8AC3E}">
        <p14:creationId xmlns:p14="http://schemas.microsoft.com/office/powerpoint/2010/main" val="1263782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D7F827-CD9E-4377-B7F6-3C6787ACE3F7}">
  <we:reference id="22ff87a5-132f-4d52-9e97-94d888e4dd91" version="3.4.0.0" store="EXCatalog" storeType="EXCatalog"/>
  <we:alternateReferences>
    <we:reference id="WA104380050" version="3.4.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7DC824D5524B42908F003D4CEEEEDC" ma:contentTypeVersion="11" ma:contentTypeDescription="Create a new document." ma:contentTypeScope="" ma:versionID="eeb0cf4ab9a921baa5fd9bf1ce51d6f1">
  <xsd:schema xmlns:xsd="http://www.w3.org/2001/XMLSchema" xmlns:xs="http://www.w3.org/2001/XMLSchema" xmlns:p="http://schemas.microsoft.com/office/2006/metadata/properties" xmlns:ns2="64714317-7c85-4776-b82c-bc70ff87e979" targetNamespace="http://schemas.microsoft.com/office/2006/metadata/properties" ma:root="true" ma:fieldsID="24abceb2f449eaba462ae4593277061a" ns2:_="">
    <xsd:import namespace="64714317-7c85-4776-b82c-bc70ff87e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714317-7c85-4776-b82c-bc70ff87e9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4e461e5-cd6a-4f6b-80bc-40b8a76cfef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4714317-7c85-4776-b82c-bc70ff87e97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E6A00E-85B9-4F63-A63D-891084BB968F}">
  <ds:schemaRefs>
    <ds:schemaRef ds:uri="64714317-7c85-4776-b82c-bc70ff87e9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129B7B-1278-441E-9202-55B0B949E7E4}">
  <ds:schemaRefs>
    <ds:schemaRef ds:uri="64714317-7c85-4776-b82c-bc70ff87e9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BFE3A53-A3DD-4E0D-B2B4-31933E4E144B}">
  <ds:schemaRefs>
    <ds:schemaRef ds:uri="http://schemas.microsoft.com/sharepoint/v3/contenttype/forms"/>
  </ds:schemaRefs>
</ds:datastoreItem>
</file>

<file path=docMetadata/LabelInfo.xml><?xml version="1.0" encoding="utf-8"?>
<clbl:labelList xmlns:clbl="http://schemas.microsoft.com/office/2020/mipLabelMetadata">
  <clbl:label id="{9ec212c2-2f63-4e82-a59a-5e479388ba2a}" enabled="0" method="" siteId="{9ec212c2-2f63-4e82-a59a-5e479388ba2a}" removed="1"/>
</clbl:labelList>
</file>

<file path=docProps/app.xml><?xml version="1.0" encoding="utf-8"?>
<Properties xmlns="http://schemas.openxmlformats.org/officeDocument/2006/extended-properties" xmlns:vt="http://schemas.openxmlformats.org/officeDocument/2006/docPropsVTypes">
  <Template/>
  <TotalTime>0</TotalTime>
  <Words>792</Words>
  <Application>Microsoft Office PowerPoint</Application>
  <PresentationFormat>Widescreen</PresentationFormat>
  <Paragraphs>132</Paragraphs>
  <Slides>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Arial</vt:lpstr>
      <vt:lpstr>Arial,Sans-Serif</vt:lpstr>
      <vt:lpstr>Calibri</vt:lpstr>
      <vt:lpstr>Calibri Light</vt:lpstr>
      <vt:lpstr>Canva Sans</vt:lpstr>
      <vt:lpstr>Canva Sans Bold</vt:lpstr>
      <vt:lpstr>Segoe UI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Vengat Rajan</dc:creator>
  <cp:lastModifiedBy>Prabhat Swain</cp:lastModifiedBy>
  <cp:revision>1</cp:revision>
  <dcterms:created xsi:type="dcterms:W3CDTF">2023-09-19T14:29:49Z</dcterms:created>
  <dcterms:modified xsi:type="dcterms:W3CDTF">2026-01-07T17:15:56Z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2024-07-31T19:21:51Z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c9d4bea6-0ccd-43fa-8879-92b16e027b63</vt:lpwstr>
  </property>
  <property fmtid="{D5CDD505-2E9C-101B-9397-08002B2CF9AE}" pid="8" name="MSIP_Label_c8f49a32-fde3-48a5-9266-b5b0972a22dc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Cisco Confidential</vt:lpwstr>
  </property>
  <property fmtid="{D5CDD505-2E9C-101B-9397-08002B2CF9AE}" pid="11" name="ContentTypeId">
    <vt:lpwstr>0x010100897DC824D5524B42908F003D4CEEEEDC</vt:lpwstr>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xd_Signature">
    <vt:bool>false</vt:bool>
  </property>
</Properties>
</file>