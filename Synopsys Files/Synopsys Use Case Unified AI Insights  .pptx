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2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F8053-D7D5-4AE1-8196-EFA1B0ADAAC1}" v="118" dt="2026-04-16T13:16:27.531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C5742-FE84-4F98-BE9E-0A739ECD7827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ED1E827-BA0A-461D-B9A4-E049B974E059}">
      <dgm:prSet phldrT="[Text]"/>
      <dgm:spPr/>
      <dgm:t>
        <a:bodyPr/>
        <a:lstStyle/>
        <a:p>
          <a:pPr algn="l">
            <a:buNone/>
          </a:pPr>
          <a:r>
            <a:rPr lang="en-IN" b="1" i="0" dirty="0"/>
            <a:t>GitHub repository</a:t>
          </a:r>
          <a:endParaRPr lang="en-IN" dirty="0"/>
        </a:p>
      </dgm:t>
    </dgm:pt>
    <dgm:pt modelId="{B7C9F9C7-FA65-4423-8796-DF3C1D1C2BA8}" type="parTrans" cxnId="{9F731425-C5A6-46A4-9923-8E0999338135}">
      <dgm:prSet/>
      <dgm:spPr/>
      <dgm:t>
        <a:bodyPr/>
        <a:lstStyle/>
        <a:p>
          <a:endParaRPr lang="en-IN"/>
        </a:p>
      </dgm:t>
    </dgm:pt>
    <dgm:pt modelId="{C038CD9D-866E-404E-B02D-B7B4772373FF}" type="sibTrans" cxnId="{9F731425-C5A6-46A4-9923-8E0999338135}">
      <dgm:prSet/>
      <dgm:spPr/>
      <dgm:t>
        <a:bodyPr/>
        <a:lstStyle/>
        <a:p>
          <a:endParaRPr lang="en-IN"/>
        </a:p>
      </dgm:t>
    </dgm:pt>
    <dgm:pt modelId="{B6BA8EDA-AD2A-4FC0-965A-4C7FAC572152}">
      <dgm:prSet phldrT="[Text]"/>
      <dgm:spPr/>
      <dgm:t>
        <a:bodyPr/>
        <a:lstStyle/>
        <a:p>
          <a:pPr algn="l">
            <a:buNone/>
          </a:pPr>
          <a:r>
            <a:rPr lang="en-US" b="0" i="0" dirty="0"/>
            <a:t>   CSV datasets, PDFs, presentations, notes and reference assets are stored in one controlled source location</a:t>
          </a:r>
          <a:endParaRPr lang="en-IN" dirty="0"/>
        </a:p>
      </dgm:t>
    </dgm:pt>
    <dgm:pt modelId="{51F0D111-FDA8-4691-9ED8-34511A644CC3}" type="sibTrans" cxnId="{8A8160C8-EBF6-4108-8D1E-36315F5DE0AE}">
      <dgm:prSet/>
      <dgm:spPr/>
      <dgm:t>
        <a:bodyPr/>
        <a:lstStyle/>
        <a:p>
          <a:endParaRPr lang="en-IN"/>
        </a:p>
      </dgm:t>
    </dgm:pt>
    <dgm:pt modelId="{AE44C93D-C0ED-40CF-A16F-4E5E09530352}" type="parTrans" cxnId="{8A8160C8-EBF6-4108-8D1E-36315F5DE0AE}">
      <dgm:prSet/>
      <dgm:spPr/>
      <dgm:t>
        <a:bodyPr/>
        <a:lstStyle/>
        <a:p>
          <a:endParaRPr lang="en-IN"/>
        </a:p>
      </dgm:t>
    </dgm:pt>
    <dgm:pt modelId="{BE9D96D4-8D45-4973-BAAA-39055BAC85E8}">
      <dgm:prSet phldrT="[Text]"/>
      <dgm:spPr/>
      <dgm:t>
        <a:bodyPr/>
        <a:lstStyle/>
        <a:p>
          <a:pPr algn="l">
            <a:buNone/>
          </a:pPr>
          <a:r>
            <a:rPr lang="en-IN" b="1" i="0" dirty="0"/>
            <a:t>Databricks pipelines</a:t>
          </a:r>
          <a:endParaRPr lang="en-IN" dirty="0"/>
        </a:p>
      </dgm:t>
    </dgm:pt>
    <dgm:pt modelId="{07C33B69-D428-4E7F-B634-E4BAFAD4B87E}" type="sibTrans" cxnId="{A0CF9D72-1116-4210-A5E9-C30454452FA5}">
      <dgm:prSet/>
      <dgm:spPr/>
      <dgm:t>
        <a:bodyPr/>
        <a:lstStyle/>
        <a:p>
          <a:endParaRPr lang="en-IN"/>
        </a:p>
      </dgm:t>
    </dgm:pt>
    <dgm:pt modelId="{0936A11B-9CA2-4EB1-8D95-4498EE0517BA}" type="parTrans" cxnId="{A0CF9D72-1116-4210-A5E9-C30454452FA5}">
      <dgm:prSet/>
      <dgm:spPr/>
      <dgm:t>
        <a:bodyPr/>
        <a:lstStyle/>
        <a:p>
          <a:endParaRPr lang="en-IN"/>
        </a:p>
      </dgm:t>
    </dgm:pt>
    <dgm:pt modelId="{606B2470-CB95-424A-8A81-45627F56BD63}">
      <dgm:prSet phldrT="[Text]"/>
      <dgm:spPr/>
      <dgm:t>
        <a:bodyPr/>
        <a:lstStyle/>
        <a:p>
          <a:pPr algn="l">
            <a:buNone/>
          </a:pPr>
          <a:r>
            <a:rPr lang="en-US" b="0" i="0" dirty="0"/>
            <a:t>   LakeFlow and notebooks ingest files, manage schema, transform records and prepare both document and table pipelines.</a:t>
          </a:r>
          <a:endParaRPr lang="en-IN" dirty="0"/>
        </a:p>
      </dgm:t>
    </dgm:pt>
    <dgm:pt modelId="{A77EBC58-99D7-4313-BBE7-D872AF075FF0}" type="sibTrans" cxnId="{55222E41-7BA3-4E75-B573-9FE817C621F5}">
      <dgm:prSet/>
      <dgm:spPr/>
      <dgm:t>
        <a:bodyPr/>
        <a:lstStyle/>
        <a:p>
          <a:endParaRPr lang="en-IN"/>
        </a:p>
      </dgm:t>
    </dgm:pt>
    <dgm:pt modelId="{E294FE92-AD89-455F-B95A-3065B9BCFC8A}" type="parTrans" cxnId="{55222E41-7BA3-4E75-B573-9FE817C621F5}">
      <dgm:prSet/>
      <dgm:spPr/>
      <dgm:t>
        <a:bodyPr/>
        <a:lstStyle/>
        <a:p>
          <a:endParaRPr lang="en-IN"/>
        </a:p>
      </dgm:t>
    </dgm:pt>
    <dgm:pt modelId="{FA922F6A-B76C-47BD-B63D-A57FBD903EDA}">
      <dgm:prSet phldrT="[Text]"/>
      <dgm:spPr/>
      <dgm:t>
        <a:bodyPr/>
        <a:lstStyle/>
        <a:p>
          <a:pPr algn="l">
            <a:buNone/>
          </a:pPr>
          <a:r>
            <a:rPr lang="en-IN" b="1" i="0" dirty="0"/>
            <a:t>Medallion Lakehouse</a:t>
          </a:r>
          <a:endParaRPr lang="en-IN" dirty="0"/>
        </a:p>
      </dgm:t>
    </dgm:pt>
    <dgm:pt modelId="{A333FE70-2E47-4E94-B86F-4ACCE8403B92}" type="sibTrans" cxnId="{D950565E-C58A-4073-898C-364B1FC73DF4}">
      <dgm:prSet/>
      <dgm:spPr/>
      <dgm:t>
        <a:bodyPr/>
        <a:lstStyle/>
        <a:p>
          <a:endParaRPr lang="en-IN"/>
        </a:p>
      </dgm:t>
    </dgm:pt>
    <dgm:pt modelId="{54DA4D86-2200-4559-98DC-CEBC378A8D01}" type="parTrans" cxnId="{D950565E-C58A-4073-898C-364B1FC73DF4}">
      <dgm:prSet/>
      <dgm:spPr/>
      <dgm:t>
        <a:bodyPr/>
        <a:lstStyle/>
        <a:p>
          <a:endParaRPr lang="en-IN"/>
        </a:p>
      </dgm:t>
    </dgm:pt>
    <dgm:pt modelId="{DD962B40-91EA-4051-922B-5697940C8269}">
      <dgm:prSet phldrT="[Text]"/>
      <dgm:spPr/>
      <dgm:t>
        <a:bodyPr/>
        <a:lstStyle/>
        <a:p>
          <a:pPr algn="l">
            <a:buNone/>
          </a:pPr>
          <a:r>
            <a:rPr lang="en-IN" b="1" i="0" dirty="0"/>
            <a:t>Structured path : </a:t>
          </a:r>
          <a:r>
            <a:rPr lang="en-IN" b="0" i="0" dirty="0"/>
            <a:t>Bronze → Silver → Gold → Semantic → Mart builds trusted facts, KPIs, business views and reusable analytical models.</a:t>
          </a:r>
          <a:endParaRPr lang="en-IN" dirty="0"/>
        </a:p>
      </dgm:t>
    </dgm:pt>
    <dgm:pt modelId="{AAA6F6E2-0993-4F48-8DAD-281B1DDB21DF}" type="sibTrans" cxnId="{2FF57F0E-310B-4DB8-9AE1-655557F779B3}">
      <dgm:prSet/>
      <dgm:spPr/>
      <dgm:t>
        <a:bodyPr/>
        <a:lstStyle/>
        <a:p>
          <a:endParaRPr lang="en-IN"/>
        </a:p>
      </dgm:t>
    </dgm:pt>
    <dgm:pt modelId="{186B5159-7ED3-4DC9-980C-82B372543D19}" type="parTrans" cxnId="{2FF57F0E-310B-4DB8-9AE1-655557F779B3}">
      <dgm:prSet/>
      <dgm:spPr/>
      <dgm:t>
        <a:bodyPr/>
        <a:lstStyle/>
        <a:p>
          <a:endParaRPr lang="en-IN"/>
        </a:p>
      </dgm:t>
    </dgm:pt>
    <dgm:pt modelId="{DB648396-D3DA-4A0E-AD6E-1932B7A86814}">
      <dgm:prSet phldrT="[Text]"/>
      <dgm:spPr/>
      <dgm:t>
        <a:bodyPr/>
        <a:lstStyle/>
        <a:p>
          <a:pPr algn="l">
            <a:buNone/>
          </a:pPr>
          <a:r>
            <a:rPr lang="en-IN" b="1" i="0" dirty="0"/>
            <a:t>Unstructured path : </a:t>
          </a:r>
          <a:r>
            <a:rPr lang="en-US" b="0" i="0" dirty="0"/>
            <a:t>Documents are chunked, embedded and indexed for vector search so context can be retrieved at question time.</a:t>
          </a:r>
          <a:endParaRPr lang="en-IN" dirty="0"/>
        </a:p>
      </dgm:t>
    </dgm:pt>
    <dgm:pt modelId="{D021E370-2A7B-4D82-B23C-6B452B04EDEC}" type="sibTrans" cxnId="{EE1229D4-90BB-4AA5-86F2-35E02E36433F}">
      <dgm:prSet/>
      <dgm:spPr/>
      <dgm:t>
        <a:bodyPr/>
        <a:lstStyle/>
        <a:p>
          <a:endParaRPr lang="en-IN"/>
        </a:p>
      </dgm:t>
    </dgm:pt>
    <dgm:pt modelId="{2F78C4E7-A353-41B6-870F-AA30C8BCA77B}" type="parTrans" cxnId="{EE1229D4-90BB-4AA5-86F2-35E02E36433F}">
      <dgm:prSet/>
      <dgm:spPr/>
      <dgm:t>
        <a:bodyPr/>
        <a:lstStyle/>
        <a:p>
          <a:endParaRPr lang="en-IN"/>
        </a:p>
      </dgm:t>
    </dgm:pt>
    <dgm:pt modelId="{9473C5E0-9F57-497D-8F72-569843261849}">
      <dgm:prSet phldrT="[Text]"/>
      <dgm:spPr/>
      <dgm:t>
        <a:bodyPr/>
        <a:lstStyle/>
        <a:p>
          <a:pPr algn="l">
            <a:buNone/>
          </a:pPr>
          <a:r>
            <a:rPr lang="en-IN" b="1" i="0" dirty="0"/>
            <a:t>Orchestration &amp; security</a:t>
          </a:r>
          <a:endParaRPr lang="en-IN" dirty="0"/>
        </a:p>
      </dgm:t>
    </dgm:pt>
    <dgm:pt modelId="{C8874E81-77C2-4A32-B9B4-F2554D834830}" type="sibTrans" cxnId="{15C51174-23A8-470B-BB17-57C31A0B5334}">
      <dgm:prSet/>
      <dgm:spPr/>
      <dgm:t>
        <a:bodyPr/>
        <a:lstStyle/>
        <a:p>
          <a:endParaRPr lang="en-IN"/>
        </a:p>
      </dgm:t>
    </dgm:pt>
    <dgm:pt modelId="{A01C7A8C-D423-4042-B379-D8FB4D81297E}" type="parTrans" cxnId="{15C51174-23A8-470B-BB17-57C31A0B5334}">
      <dgm:prSet/>
      <dgm:spPr/>
      <dgm:t>
        <a:bodyPr/>
        <a:lstStyle/>
        <a:p>
          <a:endParaRPr lang="en-IN"/>
        </a:p>
      </dgm:t>
    </dgm:pt>
    <dgm:pt modelId="{DD9B6C08-4D4D-49B0-8B8B-D7A1685B3B32}">
      <dgm:prSet phldrT="[Text]"/>
      <dgm:spPr/>
      <dgm:t>
        <a:bodyPr/>
        <a:lstStyle/>
        <a:p>
          <a:pPr algn="l">
            <a:buNone/>
          </a:pPr>
          <a:r>
            <a:rPr lang="en-US" b="0" i="0" dirty="0"/>
            <a:t>   Authentication, RBAC, row-level controls, audit logging, query routing, context handling and conversation memory govern the interaction layer.</a:t>
          </a:r>
          <a:endParaRPr lang="en-IN" dirty="0"/>
        </a:p>
      </dgm:t>
    </dgm:pt>
    <dgm:pt modelId="{B9DE24D4-4898-44C9-B81F-70F8AE29114F}" type="sibTrans" cxnId="{895358F2-5C2E-4088-9920-C105CA955E0E}">
      <dgm:prSet/>
      <dgm:spPr/>
      <dgm:t>
        <a:bodyPr/>
        <a:lstStyle/>
        <a:p>
          <a:endParaRPr lang="en-IN"/>
        </a:p>
      </dgm:t>
    </dgm:pt>
    <dgm:pt modelId="{94C103F5-7824-4689-A8E8-D6848BE92032}" type="parTrans" cxnId="{895358F2-5C2E-4088-9920-C105CA955E0E}">
      <dgm:prSet/>
      <dgm:spPr/>
      <dgm:t>
        <a:bodyPr/>
        <a:lstStyle/>
        <a:p>
          <a:endParaRPr lang="en-IN"/>
        </a:p>
      </dgm:t>
    </dgm:pt>
    <dgm:pt modelId="{177932E2-4EF6-4764-BD80-26C25B63F69A}">
      <dgm:prSet phldrT="[Text]"/>
      <dgm:spPr/>
      <dgm:t>
        <a:bodyPr/>
        <a:lstStyle/>
        <a:p>
          <a:pPr algn="l">
            <a:buNone/>
          </a:pPr>
          <a:r>
            <a:rPr lang="en-IN" b="1" i="0" dirty="0"/>
            <a:t>AI Services </a:t>
          </a:r>
          <a:endParaRPr lang="en-IN" dirty="0"/>
        </a:p>
      </dgm:t>
    </dgm:pt>
    <dgm:pt modelId="{A11D269A-7595-4595-BEFD-954FEDA762B5}" type="sibTrans" cxnId="{7144725F-071C-40C3-B906-E0D267134AF0}">
      <dgm:prSet/>
      <dgm:spPr/>
      <dgm:t>
        <a:bodyPr/>
        <a:lstStyle/>
        <a:p>
          <a:endParaRPr lang="en-IN"/>
        </a:p>
      </dgm:t>
    </dgm:pt>
    <dgm:pt modelId="{09CCA5D8-9C92-4799-8D5D-1F578E467554}" type="parTrans" cxnId="{7144725F-071C-40C3-B906-E0D267134AF0}">
      <dgm:prSet/>
      <dgm:spPr/>
      <dgm:t>
        <a:bodyPr/>
        <a:lstStyle/>
        <a:p>
          <a:endParaRPr lang="en-IN"/>
        </a:p>
      </dgm:t>
    </dgm:pt>
    <dgm:pt modelId="{C79DE3A7-173C-4465-83AB-4E2091BAEC73}">
      <dgm:prSet phldrT="[Text]"/>
      <dgm:spPr/>
      <dgm:t>
        <a:bodyPr/>
        <a:lstStyle/>
        <a:p>
          <a:pPr algn="l">
            <a:buNone/>
          </a:pPr>
          <a:r>
            <a:rPr lang="en-US" b="0" i="0" dirty="0"/>
            <a:t>   SQL analysis, semantic search, RAG context assembly, LLM reasoning and agent routing work together to answer structured and knowledge-grounded questions..</a:t>
          </a:r>
          <a:endParaRPr lang="en-IN" dirty="0"/>
        </a:p>
      </dgm:t>
    </dgm:pt>
    <dgm:pt modelId="{81622739-2C03-4AAF-AD18-96C961591644}" type="sibTrans" cxnId="{4B8A0716-BA41-4262-9DF2-FD601CDB5BD3}">
      <dgm:prSet/>
      <dgm:spPr/>
      <dgm:t>
        <a:bodyPr/>
        <a:lstStyle/>
        <a:p>
          <a:endParaRPr lang="en-IN"/>
        </a:p>
      </dgm:t>
    </dgm:pt>
    <dgm:pt modelId="{2928A066-A22D-42CC-A8AE-EA7111E3A8F1}" type="parTrans" cxnId="{4B8A0716-BA41-4262-9DF2-FD601CDB5BD3}">
      <dgm:prSet/>
      <dgm:spPr/>
      <dgm:t>
        <a:bodyPr/>
        <a:lstStyle/>
        <a:p>
          <a:endParaRPr lang="en-IN"/>
        </a:p>
      </dgm:t>
    </dgm:pt>
    <dgm:pt modelId="{9EBA4DD9-BD1C-4939-B41F-94ABA14F55FE}">
      <dgm:prSet/>
      <dgm:spPr/>
      <dgm:t>
        <a:bodyPr/>
        <a:lstStyle/>
        <a:p>
          <a:pPr algn="l"/>
          <a:r>
            <a:rPr lang="en-IN" b="1" i="0" dirty="0"/>
            <a:t>Genie Experience</a:t>
          </a:r>
          <a:endParaRPr lang="en-IN" dirty="0"/>
        </a:p>
      </dgm:t>
    </dgm:pt>
    <dgm:pt modelId="{7D690857-2D20-43B1-9228-921C0814616B}" type="parTrans" cxnId="{533B3E34-B338-4772-BA66-5C2C93AE6B31}">
      <dgm:prSet/>
      <dgm:spPr/>
      <dgm:t>
        <a:bodyPr/>
        <a:lstStyle/>
        <a:p>
          <a:endParaRPr lang="en-IN"/>
        </a:p>
      </dgm:t>
    </dgm:pt>
    <dgm:pt modelId="{974F7BC8-F48A-467E-861C-C6CEE5C8A431}" type="sibTrans" cxnId="{533B3E34-B338-4772-BA66-5C2C93AE6B31}">
      <dgm:prSet/>
      <dgm:spPr/>
      <dgm:t>
        <a:bodyPr/>
        <a:lstStyle/>
        <a:p>
          <a:endParaRPr lang="en-IN"/>
        </a:p>
      </dgm:t>
    </dgm:pt>
    <dgm:pt modelId="{348B59AE-A3C3-435B-AFDC-77392C506140}">
      <dgm:prSet phldrT="[Text]"/>
      <dgm:spPr/>
      <dgm:t>
        <a:bodyPr/>
        <a:lstStyle/>
        <a:p>
          <a:pPr algn="l">
            <a:buNone/>
          </a:pPr>
          <a:r>
            <a:rPr lang="en-US" b="0" i="0" dirty="0"/>
            <a:t>   Genie becomes the single conversational interface that fuses metrics, semantic views and retrieved knowledge into business-ready insights.</a:t>
          </a:r>
          <a:endParaRPr lang="en-IN" dirty="0"/>
        </a:p>
      </dgm:t>
    </dgm:pt>
    <dgm:pt modelId="{D8C2EA6A-CB80-4070-B537-0466CF9F0755}" type="parTrans" cxnId="{E8E30402-05A6-417D-8735-E29CA364B47F}">
      <dgm:prSet/>
      <dgm:spPr/>
      <dgm:t>
        <a:bodyPr/>
        <a:lstStyle/>
        <a:p>
          <a:endParaRPr lang="en-IN"/>
        </a:p>
      </dgm:t>
    </dgm:pt>
    <dgm:pt modelId="{97A7E085-6D4E-48B2-8C72-96A0AB45C289}" type="sibTrans" cxnId="{E8E30402-05A6-417D-8735-E29CA364B47F}">
      <dgm:prSet/>
      <dgm:spPr/>
      <dgm:t>
        <a:bodyPr/>
        <a:lstStyle/>
        <a:p>
          <a:endParaRPr lang="en-IN"/>
        </a:p>
      </dgm:t>
    </dgm:pt>
    <dgm:pt modelId="{AB62A88F-EFC6-4D9B-A1C0-F57C8CB18DC3}" type="pres">
      <dgm:prSet presAssocID="{3E9C5742-FE84-4F98-BE9E-0A739ECD7827}" presName="Name0" presStyleCnt="0">
        <dgm:presLayoutVars>
          <dgm:dir/>
          <dgm:resizeHandles val="exact"/>
        </dgm:presLayoutVars>
      </dgm:prSet>
      <dgm:spPr/>
    </dgm:pt>
    <dgm:pt modelId="{08425058-7C2B-4D0E-9321-38EC51FFB227}" type="pres">
      <dgm:prSet presAssocID="{4ED1E827-BA0A-461D-B9A4-E049B974E059}" presName="node" presStyleLbl="node1" presStyleIdx="0" presStyleCnt="6">
        <dgm:presLayoutVars>
          <dgm:bulletEnabled val="1"/>
        </dgm:presLayoutVars>
      </dgm:prSet>
      <dgm:spPr/>
    </dgm:pt>
    <dgm:pt modelId="{65EAF177-1838-4EA4-8C9F-622166219449}" type="pres">
      <dgm:prSet presAssocID="{C038CD9D-866E-404E-B02D-B7B4772373FF}" presName="sibTrans" presStyleCnt="0"/>
      <dgm:spPr/>
    </dgm:pt>
    <dgm:pt modelId="{910F1378-AB1B-4AE7-BFA3-551D1C891E2C}" type="pres">
      <dgm:prSet presAssocID="{BE9D96D4-8D45-4973-BAAA-39055BAC85E8}" presName="node" presStyleLbl="node1" presStyleIdx="1" presStyleCnt="6">
        <dgm:presLayoutVars>
          <dgm:bulletEnabled val="1"/>
        </dgm:presLayoutVars>
      </dgm:prSet>
      <dgm:spPr/>
    </dgm:pt>
    <dgm:pt modelId="{66519041-7F71-4CAD-A4ED-2B2D49766576}" type="pres">
      <dgm:prSet presAssocID="{07C33B69-D428-4E7F-B634-E4BAFAD4B87E}" presName="sibTrans" presStyleCnt="0"/>
      <dgm:spPr/>
    </dgm:pt>
    <dgm:pt modelId="{4645AFBD-1704-4A49-BCFF-58B57DD5611C}" type="pres">
      <dgm:prSet presAssocID="{FA922F6A-B76C-47BD-B63D-A57FBD903EDA}" presName="node" presStyleLbl="node1" presStyleIdx="2" presStyleCnt="6">
        <dgm:presLayoutVars>
          <dgm:bulletEnabled val="1"/>
        </dgm:presLayoutVars>
      </dgm:prSet>
      <dgm:spPr/>
    </dgm:pt>
    <dgm:pt modelId="{71DFDDA6-1858-4A05-8353-92BE49DF0C71}" type="pres">
      <dgm:prSet presAssocID="{A333FE70-2E47-4E94-B86F-4ACCE8403B92}" presName="sibTrans" presStyleCnt="0"/>
      <dgm:spPr/>
    </dgm:pt>
    <dgm:pt modelId="{DE6C6176-35F9-468C-9F3F-3F2CF2F6CA03}" type="pres">
      <dgm:prSet presAssocID="{9473C5E0-9F57-497D-8F72-569843261849}" presName="node" presStyleLbl="node1" presStyleIdx="3" presStyleCnt="6">
        <dgm:presLayoutVars>
          <dgm:bulletEnabled val="1"/>
        </dgm:presLayoutVars>
      </dgm:prSet>
      <dgm:spPr/>
    </dgm:pt>
    <dgm:pt modelId="{EC03A044-9D7B-48A2-B36A-6CBB09C4E80C}" type="pres">
      <dgm:prSet presAssocID="{C8874E81-77C2-4A32-B9B4-F2554D834830}" presName="sibTrans" presStyleCnt="0"/>
      <dgm:spPr/>
    </dgm:pt>
    <dgm:pt modelId="{7B043AA0-990B-44D5-B75C-3B6CE48CDB11}" type="pres">
      <dgm:prSet presAssocID="{177932E2-4EF6-4764-BD80-26C25B63F69A}" presName="node" presStyleLbl="node1" presStyleIdx="4" presStyleCnt="6">
        <dgm:presLayoutVars>
          <dgm:bulletEnabled val="1"/>
        </dgm:presLayoutVars>
      </dgm:prSet>
      <dgm:spPr/>
    </dgm:pt>
    <dgm:pt modelId="{74A5C6FE-5E04-4BDE-952D-B592B1DC2105}" type="pres">
      <dgm:prSet presAssocID="{A11D269A-7595-4595-BEFD-954FEDA762B5}" presName="sibTrans" presStyleCnt="0"/>
      <dgm:spPr/>
    </dgm:pt>
    <dgm:pt modelId="{6F77419E-5238-486D-9822-1FC48BD2200E}" type="pres">
      <dgm:prSet presAssocID="{9EBA4DD9-BD1C-4939-B41F-94ABA14F55FE}" presName="node" presStyleLbl="node1" presStyleIdx="5" presStyleCnt="6">
        <dgm:presLayoutVars>
          <dgm:bulletEnabled val="1"/>
        </dgm:presLayoutVars>
      </dgm:prSet>
      <dgm:spPr/>
    </dgm:pt>
  </dgm:ptLst>
  <dgm:cxnLst>
    <dgm:cxn modelId="{E8E30402-05A6-417D-8735-E29CA364B47F}" srcId="{9EBA4DD9-BD1C-4939-B41F-94ABA14F55FE}" destId="{348B59AE-A3C3-435B-AFDC-77392C506140}" srcOrd="0" destOrd="0" parTransId="{D8C2EA6A-CB80-4070-B537-0466CF9F0755}" sibTransId="{97A7E085-6D4E-48B2-8C72-96A0AB45C289}"/>
    <dgm:cxn modelId="{2FF57F0E-310B-4DB8-9AE1-655557F779B3}" srcId="{FA922F6A-B76C-47BD-B63D-A57FBD903EDA}" destId="{DD962B40-91EA-4051-922B-5697940C8269}" srcOrd="0" destOrd="0" parTransId="{186B5159-7ED3-4DC9-980C-82B372543D19}" sibTransId="{AAA6F6E2-0993-4F48-8DAD-281B1DDB21DF}"/>
    <dgm:cxn modelId="{4B8A0716-BA41-4262-9DF2-FD601CDB5BD3}" srcId="{177932E2-4EF6-4764-BD80-26C25B63F69A}" destId="{C79DE3A7-173C-4465-83AB-4E2091BAEC73}" srcOrd="0" destOrd="0" parTransId="{2928A066-A22D-42CC-A8AE-EA7111E3A8F1}" sibTransId="{81622739-2C03-4AAF-AD18-96C961591644}"/>
    <dgm:cxn modelId="{523EB017-400A-489F-B45C-B7E8CB4D5F13}" type="presOf" srcId="{DD962B40-91EA-4051-922B-5697940C8269}" destId="{4645AFBD-1704-4A49-BCFF-58B57DD5611C}" srcOrd="0" destOrd="1" presId="urn:microsoft.com/office/officeart/2005/8/layout/hList6"/>
    <dgm:cxn modelId="{9F731425-C5A6-46A4-9923-8E0999338135}" srcId="{3E9C5742-FE84-4F98-BE9E-0A739ECD7827}" destId="{4ED1E827-BA0A-461D-B9A4-E049B974E059}" srcOrd="0" destOrd="0" parTransId="{B7C9F9C7-FA65-4423-8796-DF3C1D1C2BA8}" sibTransId="{C038CD9D-866E-404E-B02D-B7B4772373FF}"/>
    <dgm:cxn modelId="{533B3E34-B338-4772-BA66-5C2C93AE6B31}" srcId="{3E9C5742-FE84-4F98-BE9E-0A739ECD7827}" destId="{9EBA4DD9-BD1C-4939-B41F-94ABA14F55FE}" srcOrd="5" destOrd="0" parTransId="{7D690857-2D20-43B1-9228-921C0814616B}" sibTransId="{974F7BC8-F48A-467E-861C-C6CEE5C8A431}"/>
    <dgm:cxn modelId="{D950565E-C58A-4073-898C-364B1FC73DF4}" srcId="{3E9C5742-FE84-4F98-BE9E-0A739ECD7827}" destId="{FA922F6A-B76C-47BD-B63D-A57FBD903EDA}" srcOrd="2" destOrd="0" parTransId="{54DA4D86-2200-4559-98DC-CEBC378A8D01}" sibTransId="{A333FE70-2E47-4E94-B86F-4ACCE8403B92}"/>
    <dgm:cxn modelId="{7144725F-071C-40C3-B906-E0D267134AF0}" srcId="{3E9C5742-FE84-4F98-BE9E-0A739ECD7827}" destId="{177932E2-4EF6-4764-BD80-26C25B63F69A}" srcOrd="4" destOrd="0" parTransId="{09CCA5D8-9C92-4799-8D5D-1F578E467554}" sibTransId="{A11D269A-7595-4595-BEFD-954FEDA762B5}"/>
    <dgm:cxn modelId="{55222E41-7BA3-4E75-B573-9FE817C621F5}" srcId="{BE9D96D4-8D45-4973-BAAA-39055BAC85E8}" destId="{606B2470-CB95-424A-8A81-45627F56BD63}" srcOrd="0" destOrd="0" parTransId="{E294FE92-AD89-455F-B95A-3065B9BCFC8A}" sibTransId="{A77EBC58-99D7-4313-BBE7-D872AF075FF0}"/>
    <dgm:cxn modelId="{95F71E45-10A0-41A6-BE47-ED365BA6A96A}" type="presOf" srcId="{BE9D96D4-8D45-4973-BAAA-39055BAC85E8}" destId="{910F1378-AB1B-4AE7-BFA3-551D1C891E2C}" srcOrd="0" destOrd="0" presId="urn:microsoft.com/office/officeart/2005/8/layout/hList6"/>
    <dgm:cxn modelId="{3DB49A67-2450-455C-9EA7-9BF9E0436A50}" type="presOf" srcId="{3E9C5742-FE84-4F98-BE9E-0A739ECD7827}" destId="{AB62A88F-EFC6-4D9B-A1C0-F57C8CB18DC3}" srcOrd="0" destOrd="0" presId="urn:microsoft.com/office/officeart/2005/8/layout/hList6"/>
    <dgm:cxn modelId="{F0D0A64A-032E-49CB-9B9E-678727F30B3B}" type="presOf" srcId="{9EBA4DD9-BD1C-4939-B41F-94ABA14F55FE}" destId="{6F77419E-5238-486D-9822-1FC48BD2200E}" srcOrd="0" destOrd="0" presId="urn:microsoft.com/office/officeart/2005/8/layout/hList6"/>
    <dgm:cxn modelId="{592DB56B-3326-427D-8CBB-30C9C10BAE08}" type="presOf" srcId="{DD9B6C08-4D4D-49B0-8B8B-D7A1685B3B32}" destId="{DE6C6176-35F9-468C-9F3F-3F2CF2F6CA03}" srcOrd="0" destOrd="1" presId="urn:microsoft.com/office/officeart/2005/8/layout/hList6"/>
    <dgm:cxn modelId="{FD8BA471-44C5-4FC4-B073-52AB5EE26704}" type="presOf" srcId="{FA922F6A-B76C-47BD-B63D-A57FBD903EDA}" destId="{4645AFBD-1704-4A49-BCFF-58B57DD5611C}" srcOrd="0" destOrd="0" presId="urn:microsoft.com/office/officeart/2005/8/layout/hList6"/>
    <dgm:cxn modelId="{A0CF9D72-1116-4210-A5E9-C30454452FA5}" srcId="{3E9C5742-FE84-4F98-BE9E-0A739ECD7827}" destId="{BE9D96D4-8D45-4973-BAAA-39055BAC85E8}" srcOrd="1" destOrd="0" parTransId="{0936A11B-9CA2-4EB1-8D95-4498EE0517BA}" sibTransId="{07C33B69-D428-4E7F-B634-E4BAFAD4B87E}"/>
    <dgm:cxn modelId="{15C51174-23A8-470B-BB17-57C31A0B5334}" srcId="{3E9C5742-FE84-4F98-BE9E-0A739ECD7827}" destId="{9473C5E0-9F57-497D-8F72-569843261849}" srcOrd="3" destOrd="0" parTransId="{A01C7A8C-D423-4042-B379-D8FB4D81297E}" sibTransId="{C8874E81-77C2-4A32-B9B4-F2554D834830}"/>
    <dgm:cxn modelId="{B272EC94-F9A7-4999-9706-90CF32BE13DD}" type="presOf" srcId="{9473C5E0-9F57-497D-8F72-569843261849}" destId="{DE6C6176-35F9-468C-9F3F-3F2CF2F6CA03}" srcOrd="0" destOrd="0" presId="urn:microsoft.com/office/officeart/2005/8/layout/hList6"/>
    <dgm:cxn modelId="{225D3FBB-DE4F-4522-B84C-6225391251F6}" type="presOf" srcId="{348B59AE-A3C3-435B-AFDC-77392C506140}" destId="{6F77419E-5238-486D-9822-1FC48BD2200E}" srcOrd="0" destOrd="1" presId="urn:microsoft.com/office/officeart/2005/8/layout/hList6"/>
    <dgm:cxn modelId="{2F39C3BC-48BE-48DB-9CDA-7F8B68F29E09}" type="presOf" srcId="{C79DE3A7-173C-4465-83AB-4E2091BAEC73}" destId="{7B043AA0-990B-44D5-B75C-3B6CE48CDB11}" srcOrd="0" destOrd="1" presId="urn:microsoft.com/office/officeart/2005/8/layout/hList6"/>
    <dgm:cxn modelId="{DF6C9CBD-0496-4A1C-88E1-09B2E62148EE}" type="presOf" srcId="{DB648396-D3DA-4A0E-AD6E-1932B7A86814}" destId="{4645AFBD-1704-4A49-BCFF-58B57DD5611C}" srcOrd="0" destOrd="2" presId="urn:microsoft.com/office/officeart/2005/8/layout/hList6"/>
    <dgm:cxn modelId="{8A8160C8-EBF6-4108-8D1E-36315F5DE0AE}" srcId="{4ED1E827-BA0A-461D-B9A4-E049B974E059}" destId="{B6BA8EDA-AD2A-4FC0-965A-4C7FAC572152}" srcOrd="0" destOrd="0" parTransId="{AE44C93D-C0ED-40CF-A16F-4E5E09530352}" sibTransId="{51F0D111-FDA8-4691-9ED8-34511A644CC3}"/>
    <dgm:cxn modelId="{EE1229D4-90BB-4AA5-86F2-35E02E36433F}" srcId="{FA922F6A-B76C-47BD-B63D-A57FBD903EDA}" destId="{DB648396-D3DA-4A0E-AD6E-1932B7A86814}" srcOrd="1" destOrd="0" parTransId="{2F78C4E7-A353-41B6-870F-AA30C8BCA77B}" sibTransId="{D021E370-2A7B-4D82-B23C-6B452B04EDEC}"/>
    <dgm:cxn modelId="{7378C7E0-8E59-40F7-BEE8-1AB6F1753824}" type="presOf" srcId="{606B2470-CB95-424A-8A81-45627F56BD63}" destId="{910F1378-AB1B-4AE7-BFA3-551D1C891E2C}" srcOrd="0" destOrd="1" presId="urn:microsoft.com/office/officeart/2005/8/layout/hList6"/>
    <dgm:cxn modelId="{79C22BE5-C0EF-421E-A31A-D7E5E1F7FF6E}" type="presOf" srcId="{B6BA8EDA-AD2A-4FC0-965A-4C7FAC572152}" destId="{08425058-7C2B-4D0E-9321-38EC51FFB227}" srcOrd="0" destOrd="1" presId="urn:microsoft.com/office/officeart/2005/8/layout/hList6"/>
    <dgm:cxn modelId="{08E4E0E7-7B33-4EC8-9133-456B942A49DA}" type="presOf" srcId="{177932E2-4EF6-4764-BD80-26C25B63F69A}" destId="{7B043AA0-990B-44D5-B75C-3B6CE48CDB11}" srcOrd="0" destOrd="0" presId="urn:microsoft.com/office/officeart/2005/8/layout/hList6"/>
    <dgm:cxn modelId="{1EEC5AEA-94AF-4B6B-A9C3-160B27F61A51}" type="presOf" srcId="{4ED1E827-BA0A-461D-B9A4-E049B974E059}" destId="{08425058-7C2B-4D0E-9321-38EC51FFB227}" srcOrd="0" destOrd="0" presId="urn:microsoft.com/office/officeart/2005/8/layout/hList6"/>
    <dgm:cxn modelId="{895358F2-5C2E-4088-9920-C105CA955E0E}" srcId="{9473C5E0-9F57-497D-8F72-569843261849}" destId="{DD9B6C08-4D4D-49B0-8B8B-D7A1685B3B32}" srcOrd="0" destOrd="0" parTransId="{94C103F5-7824-4689-A8E8-D6848BE92032}" sibTransId="{B9DE24D4-4898-44C9-B81F-70F8AE29114F}"/>
    <dgm:cxn modelId="{8690556D-3469-4B44-B90D-2B34E76C846A}" type="presParOf" srcId="{AB62A88F-EFC6-4D9B-A1C0-F57C8CB18DC3}" destId="{08425058-7C2B-4D0E-9321-38EC51FFB227}" srcOrd="0" destOrd="0" presId="urn:microsoft.com/office/officeart/2005/8/layout/hList6"/>
    <dgm:cxn modelId="{041C35D6-8B4F-4F74-88EE-AF7E2112D64A}" type="presParOf" srcId="{AB62A88F-EFC6-4D9B-A1C0-F57C8CB18DC3}" destId="{65EAF177-1838-4EA4-8C9F-622166219449}" srcOrd="1" destOrd="0" presId="urn:microsoft.com/office/officeart/2005/8/layout/hList6"/>
    <dgm:cxn modelId="{2065BAC2-6EF5-4E04-ADB5-A340426A9E7E}" type="presParOf" srcId="{AB62A88F-EFC6-4D9B-A1C0-F57C8CB18DC3}" destId="{910F1378-AB1B-4AE7-BFA3-551D1C891E2C}" srcOrd="2" destOrd="0" presId="urn:microsoft.com/office/officeart/2005/8/layout/hList6"/>
    <dgm:cxn modelId="{88E12893-83C3-41DE-BB41-99D5F467B73F}" type="presParOf" srcId="{AB62A88F-EFC6-4D9B-A1C0-F57C8CB18DC3}" destId="{66519041-7F71-4CAD-A4ED-2B2D49766576}" srcOrd="3" destOrd="0" presId="urn:microsoft.com/office/officeart/2005/8/layout/hList6"/>
    <dgm:cxn modelId="{589419BE-EE23-40DA-9FBB-2778315C2250}" type="presParOf" srcId="{AB62A88F-EFC6-4D9B-A1C0-F57C8CB18DC3}" destId="{4645AFBD-1704-4A49-BCFF-58B57DD5611C}" srcOrd="4" destOrd="0" presId="urn:microsoft.com/office/officeart/2005/8/layout/hList6"/>
    <dgm:cxn modelId="{AD9C2C28-FBE4-43E2-A0D0-B42CA56A621F}" type="presParOf" srcId="{AB62A88F-EFC6-4D9B-A1C0-F57C8CB18DC3}" destId="{71DFDDA6-1858-4A05-8353-92BE49DF0C71}" srcOrd="5" destOrd="0" presId="urn:microsoft.com/office/officeart/2005/8/layout/hList6"/>
    <dgm:cxn modelId="{989E6D29-DC74-4CD3-9CA1-36F33470B65D}" type="presParOf" srcId="{AB62A88F-EFC6-4D9B-A1C0-F57C8CB18DC3}" destId="{DE6C6176-35F9-468C-9F3F-3F2CF2F6CA03}" srcOrd="6" destOrd="0" presId="urn:microsoft.com/office/officeart/2005/8/layout/hList6"/>
    <dgm:cxn modelId="{0B349836-EFE7-46B3-8DC2-FB8310A7B268}" type="presParOf" srcId="{AB62A88F-EFC6-4D9B-A1C0-F57C8CB18DC3}" destId="{EC03A044-9D7B-48A2-B36A-6CBB09C4E80C}" srcOrd="7" destOrd="0" presId="urn:microsoft.com/office/officeart/2005/8/layout/hList6"/>
    <dgm:cxn modelId="{C8526796-90A5-41FD-8E55-96B743DC0CF3}" type="presParOf" srcId="{AB62A88F-EFC6-4D9B-A1C0-F57C8CB18DC3}" destId="{7B043AA0-990B-44D5-B75C-3B6CE48CDB11}" srcOrd="8" destOrd="0" presId="urn:microsoft.com/office/officeart/2005/8/layout/hList6"/>
    <dgm:cxn modelId="{98783C5D-143E-4B31-BDB2-757A36EEE6FA}" type="presParOf" srcId="{AB62A88F-EFC6-4D9B-A1C0-F57C8CB18DC3}" destId="{74A5C6FE-5E04-4BDE-952D-B592B1DC2105}" srcOrd="9" destOrd="0" presId="urn:microsoft.com/office/officeart/2005/8/layout/hList6"/>
    <dgm:cxn modelId="{CF972D02-4C32-4589-A1EA-6B4DD9AA5F0A}" type="presParOf" srcId="{AB62A88F-EFC6-4D9B-A1C0-F57C8CB18DC3}" destId="{6F77419E-5238-486D-9822-1FC48BD2200E}" srcOrd="1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25058-7C2B-4D0E-9321-38EC51FFB227}">
      <dsp:nvSpPr>
        <dsp:cNvPr id="0" name=""/>
        <dsp:cNvSpPr/>
      </dsp:nvSpPr>
      <dsp:spPr>
        <a:xfrm rot="16200000">
          <a:off x="-1884150" y="1888355"/>
          <a:ext cx="5438006" cy="166129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5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GitHub repository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 dirty="0"/>
            <a:t>   CSV datasets, PDFs, presentations, notes and reference assets are stored in one controlled source location</a:t>
          </a:r>
          <a:endParaRPr lang="en-IN" sz="1200" kern="1200" dirty="0"/>
        </a:p>
      </dsp:txBody>
      <dsp:txXfrm rot="5400000">
        <a:off x="4205" y="1087601"/>
        <a:ext cx="1661296" cy="3262804"/>
      </dsp:txXfrm>
    </dsp:sp>
    <dsp:sp modelId="{910F1378-AB1B-4AE7-BFA3-551D1C891E2C}">
      <dsp:nvSpPr>
        <dsp:cNvPr id="0" name=""/>
        <dsp:cNvSpPr/>
      </dsp:nvSpPr>
      <dsp:spPr>
        <a:xfrm rot="16200000">
          <a:off x="-98256" y="1888355"/>
          <a:ext cx="5438006" cy="166129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5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Databricks pipelines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 dirty="0"/>
            <a:t>   LakeFlow and notebooks ingest files, manage schema, transform records and prepare both document and table pipelines.</a:t>
          </a:r>
          <a:endParaRPr lang="en-IN" sz="1200" kern="1200" dirty="0"/>
        </a:p>
      </dsp:txBody>
      <dsp:txXfrm rot="5400000">
        <a:off x="1790099" y="1087601"/>
        <a:ext cx="1661296" cy="3262804"/>
      </dsp:txXfrm>
    </dsp:sp>
    <dsp:sp modelId="{4645AFBD-1704-4A49-BCFF-58B57DD5611C}">
      <dsp:nvSpPr>
        <dsp:cNvPr id="0" name=""/>
        <dsp:cNvSpPr/>
      </dsp:nvSpPr>
      <dsp:spPr>
        <a:xfrm rot="16200000">
          <a:off x="1687636" y="1888355"/>
          <a:ext cx="5438006" cy="166129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5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Medallion Lakehouse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1" i="0" kern="1200" dirty="0"/>
            <a:t>Structured path : </a:t>
          </a:r>
          <a:r>
            <a:rPr lang="en-IN" sz="1200" b="0" i="0" kern="1200" dirty="0"/>
            <a:t>Bronze → Silver → Gold → Semantic → Mart builds trusted facts, KPIs, business views and reusable analytical models.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1" i="0" kern="1200" dirty="0"/>
            <a:t>Unstructured path : </a:t>
          </a:r>
          <a:r>
            <a:rPr lang="en-US" sz="1200" b="0" i="0" kern="1200" dirty="0"/>
            <a:t>Documents are chunked, embedded and indexed for vector search so context can be retrieved at question time.</a:t>
          </a:r>
          <a:endParaRPr lang="en-IN" sz="1200" kern="1200" dirty="0"/>
        </a:p>
      </dsp:txBody>
      <dsp:txXfrm rot="5400000">
        <a:off x="3575991" y="1087601"/>
        <a:ext cx="1661296" cy="3262804"/>
      </dsp:txXfrm>
    </dsp:sp>
    <dsp:sp modelId="{DE6C6176-35F9-468C-9F3F-3F2CF2F6CA03}">
      <dsp:nvSpPr>
        <dsp:cNvPr id="0" name=""/>
        <dsp:cNvSpPr/>
      </dsp:nvSpPr>
      <dsp:spPr>
        <a:xfrm rot="16200000">
          <a:off x="3473530" y="1888355"/>
          <a:ext cx="5438006" cy="166129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5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Orchestration &amp; security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 dirty="0"/>
            <a:t>   Authentication, RBAC, row-level controls, audit logging, query routing, context handling and conversation memory govern the interaction layer.</a:t>
          </a:r>
          <a:endParaRPr lang="en-IN" sz="1200" kern="1200" dirty="0"/>
        </a:p>
      </dsp:txBody>
      <dsp:txXfrm rot="5400000">
        <a:off x="5361885" y="1087601"/>
        <a:ext cx="1661296" cy="3262804"/>
      </dsp:txXfrm>
    </dsp:sp>
    <dsp:sp modelId="{7B043AA0-990B-44D5-B75C-3B6CE48CDB11}">
      <dsp:nvSpPr>
        <dsp:cNvPr id="0" name=""/>
        <dsp:cNvSpPr/>
      </dsp:nvSpPr>
      <dsp:spPr>
        <a:xfrm rot="16200000">
          <a:off x="5259423" y="1888355"/>
          <a:ext cx="5438006" cy="166129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5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AI Services 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 dirty="0"/>
            <a:t>   SQL analysis, semantic search, RAG context assembly, LLM reasoning and agent routing work together to answer structured and knowledge-grounded questions..</a:t>
          </a:r>
          <a:endParaRPr lang="en-IN" sz="1200" kern="1200" dirty="0"/>
        </a:p>
      </dsp:txBody>
      <dsp:txXfrm rot="5400000">
        <a:off x="7147778" y="1087601"/>
        <a:ext cx="1661296" cy="3262804"/>
      </dsp:txXfrm>
    </dsp:sp>
    <dsp:sp modelId="{6F77419E-5238-486D-9822-1FC48BD2200E}">
      <dsp:nvSpPr>
        <dsp:cNvPr id="0" name=""/>
        <dsp:cNvSpPr/>
      </dsp:nvSpPr>
      <dsp:spPr>
        <a:xfrm rot="16200000">
          <a:off x="7045317" y="1888355"/>
          <a:ext cx="5438006" cy="166129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5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Genie Experience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 dirty="0"/>
            <a:t>   Genie becomes the single conversational interface that fuses metrics, semantic views and retrieved knowledge into business-ready insights.</a:t>
          </a:r>
          <a:endParaRPr lang="en-IN" sz="1200" kern="1200" dirty="0"/>
        </a:p>
      </dsp:txBody>
      <dsp:txXfrm rot="5400000">
        <a:off x="8933672" y="1087601"/>
        <a:ext cx="1661296" cy="3262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C1979EE6-6944-48F0-87CE-65E90A3ACC7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33647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433312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2184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03" y="628512"/>
            <a:ext cx="7231804" cy="1929505"/>
          </a:xfrm>
        </p:spPr>
        <p:txBody>
          <a:bodyPr/>
          <a:lstStyle/>
          <a:p>
            <a:pPr algn="just"/>
            <a:r>
              <a:rPr lang="en-US" dirty="0"/>
              <a:t>Unified AI Insights Platform</a:t>
            </a:r>
            <a:br>
              <a:rPr lang="en-US" dirty="0"/>
            </a:b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4003" y="1848013"/>
            <a:ext cx="6919832" cy="108882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 single governed conversational analytics product that combines structured business data and unstructured knowledge for AI-powered decision support.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907" y="374383"/>
            <a:ext cx="7304442" cy="667498"/>
          </a:xfrm>
        </p:spPr>
        <p:txBody>
          <a:bodyPr/>
          <a:lstStyle/>
          <a:p>
            <a:r>
              <a:rPr lang="en-US" dirty="0"/>
              <a:t>Problem AROUND THE INSIGHTS 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3DF91CF-444A-4959-91C5-62172E643B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73505" y="1184220"/>
            <a:ext cx="2958353" cy="595815"/>
          </a:xfrm>
        </p:spPr>
        <p:txBody>
          <a:bodyPr/>
          <a:lstStyle/>
          <a:p>
            <a:r>
              <a:rPr lang="en-IN" b="1" dirty="0"/>
              <a:t>Fragmented enterprise knowledge</a:t>
            </a:r>
            <a:endParaRPr lang="en-US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33753EF-34D5-413D-B330-9D63C1E264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3505" y="1828290"/>
            <a:ext cx="2556579" cy="13282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Unified AI-powered copilot that blends structured transactional data with unstructured knowledge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843243-D5AF-4FB8-A0B6-47BAF2CEE0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3505" y="3960174"/>
            <a:ext cx="3259567" cy="541313"/>
          </a:xfrm>
        </p:spPr>
        <p:txBody>
          <a:bodyPr/>
          <a:lstStyle/>
          <a:p>
            <a:r>
              <a:rPr lang="en-IN" b="1" dirty="0"/>
              <a:t>Enterprise adoption requirement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656B4F7-80AA-4955-8984-D9DA3B536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39441" y="1785818"/>
            <a:ext cx="3089557" cy="129108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Some questions need numbers, while others need document context, but users expect one simple answer experience.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23B5DB8F-544D-4B8A-98F5-10157CB578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639441" y="1152752"/>
            <a:ext cx="3089557" cy="595815"/>
          </a:xfrm>
        </p:spPr>
        <p:txBody>
          <a:bodyPr/>
          <a:lstStyle/>
          <a:p>
            <a:r>
              <a:rPr lang="en-US" b="1" dirty="0"/>
              <a:t>No single path to answers</a:t>
            </a:r>
            <a:endParaRPr lang="en-US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DC1492D-B4FC-4834-8463-9F39FDB781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73505" y="4501487"/>
            <a:ext cx="2663782" cy="13282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solution should fit current tools, security needs and team workflows without major change.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F1C997B7-3BCB-422D-B850-6AD06C8FB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9441" y="3960174"/>
            <a:ext cx="2958352" cy="477572"/>
          </a:xfrm>
        </p:spPr>
        <p:txBody>
          <a:bodyPr/>
          <a:lstStyle/>
          <a:p>
            <a:r>
              <a:rPr lang="en-IN" b="1" dirty="0"/>
              <a:t>Limited business self-service</a:t>
            </a:r>
            <a:endParaRPr lang="en-US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2CC08AE-1854-427C-A409-844DADA8D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39441" y="4474901"/>
            <a:ext cx="2556578" cy="129108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Users should be able to ask questions naturally instead of relying only on dashboards and fixed reports.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2259C-9142-6704-92A0-8E004748262F}"/>
              </a:ext>
            </a:extLst>
          </p:cNvPr>
          <p:cNvSpPr txBox="1"/>
          <p:nvPr/>
        </p:nvSpPr>
        <p:spPr>
          <a:xfrm>
            <a:off x="5837287" y="2858520"/>
            <a:ext cx="2909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spc="200" dirty="0">
                <a:solidFill>
                  <a:schemeClr val="accent6"/>
                </a:solidFill>
                <a:latin typeface="+mj-lt"/>
              </a:rPr>
              <a:t>Lack of a governed AI-ready data foundation</a:t>
            </a:r>
            <a:endParaRPr lang="en-IN" sz="1600" b="1" spc="200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>
            <a:extLst>
              <a:ext uri="{FF2B5EF4-FFF2-40B4-BE49-F238E27FC236}">
                <a16:creationId xmlns:a16="http://schemas.microsoft.com/office/drawing/2014/main" id="{7FE51E02-50EB-4E26-B5E1-1B76B0D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915" y="1733081"/>
            <a:ext cx="7203052" cy="1060653"/>
          </a:xfrm>
        </p:spPr>
        <p:txBody>
          <a:bodyPr/>
          <a:lstStyle/>
          <a:p>
            <a:r>
              <a:rPr lang="en-IN" b="1" dirty="0"/>
              <a:t>What the platform delivers</a:t>
            </a:r>
            <a:br>
              <a:rPr lang="en-IN" b="1" dirty="0"/>
            </a:b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6FC127-313F-42F3-9800-F36B13BD0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2172245" y="3645383"/>
            <a:ext cx="76222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BD30DD-1CDC-42FA-A173-F6CFB93D9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5064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F16285-BEA6-47E3-8ECE-E17D4D084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562" y="3174633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FF59E2B-8CF4-4F96-9F85-850F62E87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94529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6AB62C-FF38-4153-B496-F42C8DB0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567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1" name="Picture Placeholder 90" descr="market icon">
            <a:extLst>
              <a:ext uri="{FF2B5EF4-FFF2-40B4-BE49-F238E27FC236}">
                <a16:creationId xmlns:a16="http://schemas.microsoft.com/office/drawing/2014/main" id="{C6A83A1A-E2DA-4D40-B2A8-6FAABB76B41B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/>
          <a:stretch>
            <a:fillRect/>
          </a:stretch>
        </p:blipFill>
        <p:spPr>
          <a:xfrm>
            <a:off x="1404658" y="3330145"/>
            <a:ext cx="603504" cy="603504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F0C189F-75BF-4FC8-A278-5EFC6B66F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9005" y="4230943"/>
            <a:ext cx="2640803" cy="365125"/>
          </a:xfrm>
        </p:spPr>
        <p:txBody>
          <a:bodyPr/>
          <a:lstStyle/>
          <a:p>
            <a:r>
              <a:rPr lang="en-IN" b="1" dirty="0"/>
              <a:t>For structured analytics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6F30711-3932-4012-B6C1-3B270E129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004" y="4838411"/>
            <a:ext cx="2640803" cy="16164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Governed Lakehouse layers for trusted KPIs, reporting and analytics.</a:t>
            </a:r>
          </a:p>
        </p:txBody>
      </p:sp>
      <p:pic>
        <p:nvPicPr>
          <p:cNvPr id="92" name="Picture Placeholder 91" descr="group of people icon">
            <a:extLst>
              <a:ext uri="{FF2B5EF4-FFF2-40B4-BE49-F238E27FC236}">
                <a16:creationId xmlns:a16="http://schemas.microsoft.com/office/drawing/2014/main" id="{B0B79D89-2FA7-4527-BF24-BD94083A08E6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850A4385-C5CF-4BEE-B287-D3AC3C9128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37502" y="4234631"/>
            <a:ext cx="2640803" cy="365125"/>
          </a:xfrm>
        </p:spPr>
        <p:txBody>
          <a:bodyPr/>
          <a:lstStyle/>
          <a:p>
            <a:r>
              <a:rPr lang="en-IN" b="1" dirty="0"/>
              <a:t>For business users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C9C5A8F-500B-4089-A210-65BE40581F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7502" y="4622138"/>
            <a:ext cx="2640803" cy="16164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Natural-language answers across metrics, trends and supporting context.</a:t>
            </a:r>
          </a:p>
        </p:txBody>
      </p:sp>
      <p:pic>
        <p:nvPicPr>
          <p:cNvPr id="93" name="Picture Placeholder 92" descr="piggy bank icon">
            <a:extLst>
              <a:ext uri="{FF2B5EF4-FFF2-40B4-BE49-F238E27FC236}">
                <a16:creationId xmlns:a16="http://schemas.microsoft.com/office/drawing/2014/main" id="{72B05E96-95BD-47EE-996E-6B2C14EBD1B4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4"/>
          <a:srcRect/>
          <a:stretch>
            <a:fillRect/>
          </a:stretch>
        </p:blipFill>
        <p:spPr>
          <a:xfrm>
            <a:off x="9976441" y="3343631"/>
            <a:ext cx="603504" cy="603504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61059DA-EA8B-4860-B58D-BBFD6C2CFC5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0" y="4218499"/>
            <a:ext cx="2640803" cy="365125"/>
          </a:xfrm>
        </p:spPr>
        <p:txBody>
          <a:bodyPr/>
          <a:lstStyle/>
          <a:p>
            <a:r>
              <a:rPr lang="en-IN" b="1" dirty="0"/>
              <a:t>For document intelligence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91AC0FF-532B-4B36-BE1C-83B71D783B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693426"/>
            <a:ext cx="2640803" cy="16164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Searchable document intelligence using chunking, embeddings and vector search.</a:t>
            </a:r>
          </a:p>
        </p:txBody>
      </p:sp>
      <p:pic>
        <p:nvPicPr>
          <p:cNvPr id="94" name="Picture Placeholder 93" descr="stack of papers icon">
            <a:extLst>
              <a:ext uri="{FF2B5EF4-FFF2-40B4-BE49-F238E27FC236}">
                <a16:creationId xmlns:a16="http://schemas.microsoft.com/office/drawing/2014/main" id="{8C7C9F51-16A3-43F8-8724-9F145C4AD51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5"/>
          <a:srcRect/>
          <a:stretch>
            <a:fillRect/>
          </a:stretch>
        </p:blipFill>
        <p:spPr>
          <a:xfrm>
            <a:off x="7074940" y="3311450"/>
            <a:ext cx="603504" cy="603504"/>
          </a:xfrm>
          <a:prstGeom prst="rect">
            <a:avLst/>
          </a:prstGeo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21263C4-F13B-47F6-A4A0-816A8D261C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6967" y="4218499"/>
            <a:ext cx="2640803" cy="365125"/>
          </a:xfrm>
        </p:spPr>
        <p:txBody>
          <a:bodyPr/>
          <a:lstStyle/>
          <a:p>
            <a:r>
              <a:rPr lang="en-IN" b="1" dirty="0"/>
              <a:t>For enterprise rollout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16C7B99-9723-4022-8904-97B66907F1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46967" y="4683901"/>
            <a:ext cx="2640803" cy="16164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Enterprise-ready design that fits current tools and scales to future use cases.</a:t>
            </a:r>
          </a:p>
        </p:txBody>
      </p:sp>
    </p:spTree>
    <p:extLst>
      <p:ext uri="{BB962C8B-B14F-4D97-AF65-F5344CB8AC3E}">
        <p14:creationId xmlns:p14="http://schemas.microsoft.com/office/powerpoint/2010/main" val="296110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EEFBA2-D2C5-483D-A977-8998D167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10" y="132657"/>
            <a:ext cx="11435379" cy="567670"/>
          </a:xfrm>
        </p:spPr>
        <p:txBody>
          <a:bodyPr/>
          <a:lstStyle/>
          <a:p>
            <a:r>
              <a:rPr lang="en-US" dirty="0"/>
              <a:t>Architectural  Overview</a:t>
            </a:r>
          </a:p>
        </p:txBody>
      </p:sp>
      <p:graphicFrame>
        <p:nvGraphicFramePr>
          <p:cNvPr id="76" name="Diagram 75">
            <a:extLst>
              <a:ext uri="{FF2B5EF4-FFF2-40B4-BE49-F238E27FC236}">
                <a16:creationId xmlns:a16="http://schemas.microsoft.com/office/drawing/2014/main" id="{676B5C1F-8DDD-8C35-D752-06AC8BA7A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554226"/>
              </p:ext>
            </p:extLst>
          </p:nvPr>
        </p:nvGraphicFramePr>
        <p:xfrm>
          <a:off x="648929" y="700327"/>
          <a:ext cx="10599174" cy="5438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6852" y="3531676"/>
            <a:ext cx="4989628" cy="1756576"/>
          </a:xfrm>
        </p:spPr>
        <p:txBody>
          <a:bodyPr>
            <a:normAutofit/>
          </a:bodyPr>
          <a:lstStyle/>
          <a:p>
            <a:r>
              <a:rPr lang="en-US" dirty="0"/>
              <a:t>Prabhat Swain</a:t>
            </a:r>
          </a:p>
          <a:p>
            <a:r>
              <a:rPr lang="en-US" dirty="0"/>
              <a:t>Solution Architect</a:t>
            </a:r>
          </a:p>
          <a:p>
            <a:r>
              <a:rPr lang="en-US" dirty="0"/>
              <a:t>prabhat.swain@sigmasoft.ai</a:t>
            </a:r>
          </a:p>
          <a:p>
            <a:r>
              <a:rPr lang="en-US" dirty="0"/>
              <a:t>www.sigmasoft.ai​</a:t>
            </a:r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turistic Pitch Deck_TM56488565_Win32_JC_SL_v4" id="{6C16C3F5-3ABD-4B2B-B436-2E1E9CE9969F}" vid="{647D9492-9D63-44AA-8DEA-C98668FC47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1989D7-CF02-4DC5-9433-98B600ACA0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B8A4BC3-D1CE-4BB2-9C42-D67FD92CA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Futuristic pitch deck</Template>
  <TotalTime>61</TotalTime>
  <Words>365</Words>
  <Application>Microsoft Office PowerPoint</Application>
  <PresentationFormat>Widescreen</PresentationFormat>
  <Paragraphs>41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 Bold</vt:lpstr>
      <vt:lpstr>Courier New</vt:lpstr>
      <vt:lpstr>Daytona Pro Light</vt:lpstr>
      <vt:lpstr>Office Theme</vt:lpstr>
      <vt:lpstr>Unified AI Insights Platform </vt:lpstr>
      <vt:lpstr>Problem AROUND THE INSIGHTS </vt:lpstr>
      <vt:lpstr>What the platform delivers </vt:lpstr>
      <vt:lpstr>Architectural  Overview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Swain</dc:creator>
  <cp:lastModifiedBy>Prabhat Swain</cp:lastModifiedBy>
  <cp:revision>3</cp:revision>
  <dcterms:created xsi:type="dcterms:W3CDTF">2026-04-16T11:49:50Z</dcterms:created>
  <dcterms:modified xsi:type="dcterms:W3CDTF">2026-04-16T13:16:54Z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