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69587" y="-574532"/>
            <a:ext cx="4003267" cy="4003268"/>
          </a:xfrm>
          <a:prstGeom prst="roundRect">
            <a:avLst>
              <a:gd name="adj" fmla="val 2281850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475348" y="7618280"/>
            <a:ext cx="3049342" cy="3049342"/>
          </a:xfrm>
          <a:prstGeom prst="roundRect">
            <a:avLst>
              <a:gd name="adj" fmla="val 2995681"/>
            </a:avLst>
          </a:prstGeom>
          <a:solidFill>
            <a:srgbClr val="22C5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24129" y="4319495"/>
            <a:ext cx="2096139" cy="2096138"/>
          </a:xfrm>
          <a:prstGeom prst="roundRect">
            <a:avLst>
              <a:gd name="adj" fmla="val 4357946"/>
            </a:avLst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05200" y="571500"/>
            <a:ext cx="11277600" cy="274320"/>
          </a:xfrm>
          <a:prstGeom prst="roundRect">
            <a:avLst>
              <a:gd name="adj" fmla="val 33300000"/>
            </a:avLst>
          </a:prstGeom>
          <a:solidFill>
            <a:srgbClr val="38BDF8">
              <a:alpha val="14000"/>
            </a:srgbClr>
          </a:solidFill>
          <a:ln w="762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Demo Workflow Pack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505200" y="1452920"/>
            <a:ext cx="11503152" cy="746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75"/>
              </a:lnSpc>
              <a:buNone/>
            </a:pPr>
            <a:r>
              <a:rPr lang="en-US" sz="576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Workflow Diagrams</a:t>
            </a:r>
            <a:endParaRPr lang="en-US" sz="5760" dirty="0"/>
          </a:p>
        </p:txBody>
      </p:sp>
      <p:sp>
        <p:nvSpPr>
          <p:cNvPr id="7" name="Text 5"/>
          <p:cNvSpPr/>
          <p:nvPr/>
        </p:nvSpPr>
        <p:spPr>
          <a:xfrm>
            <a:off x="3505200" y="2958465"/>
            <a:ext cx="1127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and moderate pipeline views for legacy and future-state design, arranged to explain dataflow, workflow, controls, and comparison logic in a cleaner presentation format.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05200" y="3609975"/>
            <a:ext cx="1172539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/ control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7148" y="3609975"/>
            <a:ext cx="1627346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 / modeling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54986" y="3609975"/>
            <a:ext cx="1324708" cy="14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/ reporting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91655" y="-464712"/>
            <a:ext cx="3328430" cy="3328432"/>
          </a:xfrm>
          <a:prstGeom prst="roundRect">
            <a:avLst>
              <a:gd name="adj" fmla="val 2744494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276140" y="7944250"/>
            <a:ext cx="2218396" cy="2218397"/>
          </a:xfrm>
          <a:prstGeom prst="roundRect">
            <a:avLst>
              <a:gd name="adj" fmla="val 4117775"/>
            </a:avLst>
          </a:prstGeom>
          <a:solidFill>
            <a:srgbClr val="22C5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0044" y="554355"/>
            <a:ext cx="1222815" cy="266090"/>
          </a:xfrm>
          <a:prstGeom prst="roundRect">
            <a:avLst>
              <a:gd name="adj" fmla="val 34329949"/>
            </a:avLst>
          </a:prstGeom>
          <a:solidFill>
            <a:srgbClr val="38BDF8">
              <a:alpha val="14000"/>
            </a:srgbClr>
          </a:solidFill>
          <a:ln w="762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Legacy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00044" y="1779711"/>
            <a:ext cx="5884479" cy="7533454"/>
          </a:xfrm>
          <a:prstGeom prst="roundRect">
            <a:avLst>
              <a:gd name="adj" fmla="val 37294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4743" y="1779711"/>
            <a:ext cx="4814573" cy="7533454"/>
          </a:xfrm>
          <a:prstGeom prst="roundRect">
            <a:avLst>
              <a:gd name="adj" fmla="val 45582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72355" y="2568974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772355" y="3308114"/>
            <a:ext cx="4319349" cy="805663"/>
          </a:xfrm>
          <a:prstGeom prst="roundRect">
            <a:avLst>
              <a:gd name="adj" fmla="val 20429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72355" y="4224647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72355" y="4963787"/>
            <a:ext cx="4319349" cy="805662"/>
          </a:xfrm>
          <a:prstGeom prst="roundRect">
            <a:avLst>
              <a:gd name="adj" fmla="val 20429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0044" y="1004422"/>
            <a:ext cx="11158058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View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0044" y="1454489"/>
            <a:ext cx="1115805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Current-state pipeline where extraction and transformation remain concentrated in the legacy processing layer.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72355" y="2181734"/>
            <a:ext cx="4405736" cy="2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explain it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9772355" y="2568974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Source data lands in RAW through the existing extraction job.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72355" y="3308114"/>
            <a:ext cx="4319349" cy="8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Legacy transformation handles mapping, shaping, and output generation in one concentrated layer.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72355" y="4224647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Validation happens after transformation, then the data is used in the demo layer.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72355" y="4963787"/>
            <a:ext cx="4319349" cy="805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 discussion: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Present this as the baseline model for migration comparison and explain where maintainability is limited.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99326" y="-372255"/>
            <a:ext cx="3143519" cy="3143519"/>
          </a:xfrm>
          <a:prstGeom prst="roundRect">
            <a:avLst>
              <a:gd name="adj" fmla="val 2905933"/>
            </a:avLst>
          </a:prstGeom>
          <a:solidFill>
            <a:srgbClr val="22C5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276099" y="7944291"/>
            <a:ext cx="2033530" cy="2033530"/>
          </a:xfrm>
          <a:prstGeom prst="roundRect">
            <a:avLst>
              <a:gd name="adj" fmla="val 4492118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0044" y="554355"/>
            <a:ext cx="1224316" cy="266090"/>
          </a:xfrm>
          <a:prstGeom prst="roundRect">
            <a:avLst>
              <a:gd name="adj" fmla="val 34329949"/>
            </a:avLst>
          </a:prstGeom>
          <a:solidFill>
            <a:srgbClr val="38BDF8">
              <a:alpha val="14000"/>
            </a:srgbClr>
          </a:solidFill>
          <a:ln w="762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Future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00044" y="1779711"/>
            <a:ext cx="5884479" cy="7533454"/>
          </a:xfrm>
          <a:prstGeom prst="roundRect">
            <a:avLst>
              <a:gd name="adj" fmla="val 37294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4743" y="1779711"/>
            <a:ext cx="4814573" cy="7533454"/>
          </a:xfrm>
          <a:prstGeom prst="roundRect">
            <a:avLst>
              <a:gd name="adj" fmla="val 45582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72355" y="2568974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772355" y="3308114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72355" y="4047253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72355" y="4786393"/>
            <a:ext cx="4319349" cy="805663"/>
          </a:xfrm>
          <a:prstGeom prst="roundRect">
            <a:avLst>
              <a:gd name="adj" fmla="val 20429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0044" y="1004422"/>
            <a:ext cx="11158058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View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0044" y="1454489"/>
            <a:ext cx="1115805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Target-state pipeline where EL loads data into RAW and dbt manages the layered transformation path.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72355" y="2181734"/>
            <a:ext cx="4405736" cy="2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explain it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9772355" y="2568974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Ingestion moves data into RAW, keeping extraction separate from transformation.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72355" y="3308114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dbt applies layered modeling through sources, staging, curated logic, and final mart outputs.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72355" y="4047253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Tests, documentation, and lineage are embedded into the operating model.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72355" y="4786393"/>
            <a:ext cx="4319349" cy="8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 discussion: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 this as the cleaner future-state pattern and compare every legacy activity against one of these layers.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14414" y="-557168"/>
            <a:ext cx="3513345" cy="3513345"/>
          </a:xfrm>
          <a:prstGeom prst="roundRect">
            <a:avLst>
              <a:gd name="adj" fmla="val 2600045"/>
            </a:avLst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83788" y="7759424"/>
            <a:ext cx="2403263" cy="2403263"/>
          </a:xfrm>
          <a:prstGeom prst="roundRect">
            <a:avLst>
              <a:gd name="adj" fmla="val 3801022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0044" y="554355"/>
            <a:ext cx="1447560" cy="266090"/>
          </a:xfrm>
          <a:prstGeom prst="roundRect">
            <a:avLst>
              <a:gd name="adj" fmla="val 34329949"/>
            </a:avLst>
          </a:prstGeom>
          <a:solidFill>
            <a:srgbClr val="38BDF8">
              <a:alpha val="14000"/>
            </a:srgbClr>
          </a:solidFill>
          <a:ln w="762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Legacy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00044" y="1779711"/>
            <a:ext cx="5884479" cy="7533454"/>
          </a:xfrm>
          <a:prstGeom prst="roundRect">
            <a:avLst>
              <a:gd name="adj" fmla="val 37294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4743" y="1779711"/>
            <a:ext cx="4814573" cy="7533454"/>
          </a:xfrm>
          <a:prstGeom prst="roundRect">
            <a:avLst>
              <a:gd name="adj" fmla="val 45582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72355" y="2568974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772355" y="3308114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72355" y="4047253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72355" y="4786393"/>
            <a:ext cx="4319349" cy="805663"/>
          </a:xfrm>
          <a:prstGeom prst="roundRect">
            <a:avLst>
              <a:gd name="adj" fmla="val 20429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0044" y="1004422"/>
            <a:ext cx="11158058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View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0044" y="1454489"/>
            <a:ext cx="1115805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Multi-source legacy design where joins, mappings, and business rules are carried inside the old transformation layer.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72355" y="2181734"/>
            <a:ext cx="4405736" cy="2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explain it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9772355" y="2568974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Multiple sources are brought into a common landing area through the same old processing style.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72355" y="3308114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Join logic, mappings, and business rules remain tightly coupled in the legacy transformation chain.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72355" y="4047253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Validation and reporting happen after all logic is bundled together.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72355" y="4786393"/>
            <a:ext cx="4319349" cy="8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 discussion: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slide helps explain why complex pipelines become harder to trace and compare in the current model.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506870" y="-464712"/>
            <a:ext cx="3328430" cy="3328432"/>
          </a:xfrm>
          <a:prstGeom prst="roundRect">
            <a:avLst>
              <a:gd name="adj" fmla="val 2744494"/>
            </a:avLst>
          </a:prstGeom>
          <a:solidFill>
            <a:srgbClr val="22C5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276181" y="7759424"/>
            <a:ext cx="2403263" cy="2403263"/>
          </a:xfrm>
          <a:prstGeom prst="roundRect">
            <a:avLst>
              <a:gd name="adj" fmla="val 3801022"/>
            </a:avLst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0044" y="554355"/>
            <a:ext cx="1449061" cy="266090"/>
          </a:xfrm>
          <a:prstGeom prst="roundRect">
            <a:avLst>
              <a:gd name="adj" fmla="val 34329949"/>
            </a:avLst>
          </a:prstGeom>
          <a:solidFill>
            <a:srgbClr val="38BDF8">
              <a:alpha val="14000"/>
            </a:srgbClr>
          </a:solidFill>
          <a:ln w="762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Future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00044" y="1779711"/>
            <a:ext cx="5884479" cy="7533454"/>
          </a:xfrm>
          <a:prstGeom prst="roundRect">
            <a:avLst>
              <a:gd name="adj" fmla="val 37294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4743" y="1779711"/>
            <a:ext cx="4814573" cy="7533454"/>
          </a:xfrm>
          <a:prstGeom prst="roundRect">
            <a:avLst>
              <a:gd name="adj" fmla="val 45582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772355" y="2568974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772355" y="3308114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772355" y="4047253"/>
            <a:ext cx="4319349" cy="628269"/>
          </a:xfrm>
          <a:prstGeom prst="roundRect">
            <a:avLst>
              <a:gd name="adj" fmla="val 261977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72355" y="4786393"/>
            <a:ext cx="4319349" cy="805663"/>
          </a:xfrm>
          <a:prstGeom prst="roundRect">
            <a:avLst>
              <a:gd name="adj" fmla="val 204294"/>
            </a:avLst>
          </a:prstGeom>
          <a:solidFill>
            <a:srgbClr val="FFFFFF">
              <a:alpha val="5000"/>
            </a:srgbClr>
          </a:solidFill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0044" y="1004422"/>
            <a:ext cx="11158058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View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0044" y="1454489"/>
            <a:ext cx="1115805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Layered target-state design that separates ingestion, standardization, integration, business logic, quality control, and final delivery.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72355" y="2181734"/>
            <a:ext cx="4405736" cy="2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explain it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9772355" y="2568974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Multiple sources enter through ingestion but are standardized only after reaching RAW.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72355" y="3308114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dbt breaks the logic into source, staging, intermediate, and final business layers.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72355" y="4047253"/>
            <a:ext cx="4319349" cy="62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Freshness, tests, lineage, and comparison checks become visible control points.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72355" y="4786393"/>
            <a:ext cx="4319349" cy="80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in discussion: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is the best slide to explain migration capability because it shows where each old activity is redistributed in the new model.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14540" y="-279863"/>
            <a:ext cx="3143519" cy="3143519"/>
          </a:xfrm>
          <a:prstGeom prst="roundRect">
            <a:avLst>
              <a:gd name="adj" fmla="val 2905933"/>
            </a:avLst>
          </a:prstGeom>
          <a:solidFill>
            <a:srgbClr val="38BD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3410" y="7851837"/>
            <a:ext cx="2310830" cy="2310829"/>
          </a:xfrm>
          <a:prstGeom prst="roundRect">
            <a:avLst>
              <a:gd name="adj" fmla="val 3953064"/>
            </a:avLst>
          </a:prstGeom>
          <a:solidFill>
            <a:srgbClr val="F59E0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00044" y="554355"/>
            <a:ext cx="1493063" cy="266090"/>
          </a:xfrm>
          <a:prstGeom prst="roundRect">
            <a:avLst>
              <a:gd name="adj" fmla="val 34329949"/>
            </a:avLst>
          </a:prstGeom>
          <a:solidFill>
            <a:srgbClr val="38BDF8">
              <a:alpha val="14000"/>
            </a:srgbClr>
          </a:solidFill>
          <a:ln w="7620">
            <a:solidFill>
              <a:srgbClr val="38BDF8"/>
            </a:solidFill>
          </a:ln>
        </p:spPr>
        <p:txBody>
          <a:bodyPr wrap="square" lIns="114300" tIns="114300" rIns="114300" bIns="1143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BAE6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Logic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00044" y="1779711"/>
            <a:ext cx="10939273" cy="842851"/>
          </a:xfrm>
          <a:prstGeom prst="roundRect">
            <a:avLst>
              <a:gd name="adj" fmla="val 260373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00044" y="2622561"/>
            <a:ext cx="10939273" cy="842851"/>
          </a:xfrm>
          <a:prstGeom prst="roundRect">
            <a:avLst>
              <a:gd name="adj" fmla="val 260373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00044" y="3465412"/>
            <a:ext cx="10939273" cy="842851"/>
          </a:xfrm>
          <a:prstGeom prst="roundRect">
            <a:avLst>
              <a:gd name="adj" fmla="val 260373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00044" y="4308263"/>
            <a:ext cx="10939273" cy="2455100"/>
          </a:xfrm>
          <a:prstGeom prst="roundRect">
            <a:avLst>
              <a:gd name="adj" fmla="val 89388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FFFFFF"/>
            </a:solidFill>
          </a:ln>
          <a:effectLst>
            <a:outerShdw sx="100000" sy="100000" kx="0" ky="0" algn="bl" rotWithShape="0" blurRad="571500" dist="190500" dir="5400000">
              <a:srgbClr val="000000">
                <a:alpha val="2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00044" y="1004422"/>
            <a:ext cx="11158058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compare later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0044" y="1454489"/>
            <a:ext cx="1115805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common validation structure so all four workflows can be matched by counts, metrics, rules, and business output.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7435" y="1959992"/>
            <a:ext cx="11142980" cy="21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Pair</a:t>
            </a:r>
            <a:endParaRPr lang="en-US" sz="1404" dirty="0"/>
          </a:p>
        </p:txBody>
      </p:sp>
      <p:sp>
        <p:nvSpPr>
          <p:cNvPr id="12" name="Text 10"/>
          <p:cNvSpPr/>
          <p:nvPr/>
        </p:nvSpPr>
        <p:spPr>
          <a:xfrm>
            <a:off x="3407435" y="2347232"/>
            <a:ext cx="11142980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77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simple legacy and simple future outputs by row counts, record completeness, key metrics, and sample-level reconciliation.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407435" y="2802842"/>
            <a:ext cx="11142980" cy="2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Pair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3407435" y="3190082"/>
            <a:ext cx="11142980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77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moderate legacy and moderate future outputs by mapping accuracy, rule execution, aggregation results, and final reporting consistency.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07435" y="3645693"/>
            <a:ext cx="11142980" cy="21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Narrative</a:t>
            </a:r>
            <a:endParaRPr lang="en-US" sz="1404" dirty="0"/>
          </a:p>
        </p:txBody>
      </p:sp>
      <p:sp>
        <p:nvSpPr>
          <p:cNvPr id="16" name="Text 14"/>
          <p:cNvSpPr/>
          <p:nvPr/>
        </p:nvSpPr>
        <p:spPr>
          <a:xfrm>
            <a:off x="3407435" y="4032933"/>
            <a:ext cx="11142980" cy="147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77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that the output remains comparable while the operating model becomes more modular, testable, and migration-ready.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2026-04-30T17:20:47Z</dcterms:created>
  <dcterms:modified xsi:type="dcterms:W3CDTF">2026-04-30T17:20:47Z</dcterms:modified>
</cp:coreProperties>
</file>